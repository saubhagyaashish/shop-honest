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72" r:id="rId28"/>
    <p:sldId id="267" r:id="rId17"/>
    <p:sldId id="273" r:id="rId29"/>
    <p:sldId id="270" r:id="rId20"/>
    <p:sldId id="268" r:id="rId18"/>
    <p:sldId id="269" r:id="rId19"/>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  <Relationship Id="rId28" Type="http://schemas.openxmlformats.org/officeDocument/2006/relationships/slide" Target="slides/slide17.xml"/>
  <Relationship Id="rId29" Type="http://schemas.openxmlformats.org/officeDocument/2006/relationships/slide" Target="slides/slide18.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FF5CA8"/>
              </a:solidFill>
              <a:ln w="12700">
                <a:solidFill>
                  <a:srgbClr val="111111"/>
                </a:solidFill>
              </a:ln>
            </c:spPr>
          </c:dPt>
          <c:dPt>
            <c:idx val="1"/>
            <c:spPr>
              <a:solidFill>
                <a:srgbClr val="E8EAED"/>
              </a:solidFill>
              <a:ln w="12700">
                <a:solidFill>
                  <a:srgbClr val="111111"/>
                </a:solidFill>
              </a:ln>
            </c:spPr>
          </c:dPt>
          <c:dPt>
            <c:idx val="2"/>
            <c:spPr>
              <a:solidFill>
                <a:srgbClr val="E8EAED"/>
              </a:solidFill>
              <a:ln w="12700">
                <a:solidFill>
                  <a:srgbClr val="111111"/>
                </a:solidFill>
              </a:ln>
            </c:spPr>
          </c:dPt>
          <c:dLbls>
            <c:dLbl>
              <c:idx val="0"/>
              <c:tx>
                <c:rich>
                  <a:bodyPr/>
                  <a:lstStyle/>
                  <a:p>
                    <a:r>
                      <a:rPr sz="1000" b="1">
                        <a:solidFill>
                          <a:srgbClr val="111111"/>
                        </a:solidFill>
                        <a:latin typeface="Google Sans Flex"/>
                      </a:rPr>
                      <a:t>0.959</a:t>
                    </a:r>
                  </a:p>
                </c:rich>
              </c:tx>
              <c:dLblPos val="outEnd"/>
              <c:showLegendKey val="0"/>
              <c:showVal val="1"/>
              <c:showCatName val="0"/>
              <c:showSerName val="0"/>
              <c:showPercent val="0"/>
              <c:showBubbleSize val="0"/>
            </c:dLbl>
            <c:dLbl>
              <c:idx val="1"/>
              <c:tx>
                <c:rich>
                  <a:bodyPr/>
                  <a:lstStyle/>
                  <a:p>
                    <a:r>
                      <a:rPr sz="1000" b="1">
                        <a:solidFill>
                          <a:srgbClr val="111111"/>
                        </a:solidFill>
                        <a:latin typeface="Google Sans Flex"/>
                      </a:rPr>
                      <a:t>0.975</a:t>
                    </a:r>
                  </a:p>
                </c:rich>
              </c:tx>
              <c:dLblPos val="outEnd"/>
              <c:showLegendKey val="0"/>
              <c:showVal val="1"/>
              <c:showCatName val="0"/>
              <c:showSerName val="0"/>
              <c:showPercent val="0"/>
              <c:showBubbleSize val="0"/>
            </c:dLbl>
            <c:dLbl>
              <c:idx val="2"/>
              <c:tx>
                <c:rich>
                  <a:bodyPr/>
                  <a:lstStyle/>
                  <a:p>
                    <a:r>
                      <a:rPr sz="1000" b="1">
                        <a:solidFill>
                          <a:srgbClr val="111111"/>
                        </a:solidFill>
                        <a:latin typeface="Google Sans Flex"/>
                      </a:rPr>
                      <a:t>0.960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Shop Honest
(zero-shot)</c:v>
                </c:pt>
                <c:pt idx="1">
                  <c:v>RoBERTa-large
(trained on it)</c:v>
                </c:pt>
                <c:pt idx="2">
                  <c:v>Logistic reg.
(trained on it)</c:v>
                </c:pt>
              </c:strCache>
            </c:strRef>
          </c:cat>
          <c:val>
            <c:numRef>
              <c:f>Sheet1!$B$2:$B$4</c:f>
              <c:numCache>
                <c:formatCode>General</c:formatCode>
                <c:ptCount val="3"/>
                <c:pt idx="0">
                  <c:v>0.959</c:v>
                </c:pt>
                <c:pt idx="1">
                  <c:v>0.975</c:v>
                </c:pt>
                <c:pt idx="2">
                  <c:v>0.96</c:v>
                </c:pt>
              </c:numCache>
            </c:numRef>
          </c:val>
        </c:ser>
        <c:gapWidth val="45"/>
        <c:axId val="-2068027336"/>
        <c:axId val="-2113994440"/>
      </c:barChart>
      <c:catAx>
        <c:axId val="-2068027336"/>
        <c:scaling>
          <c:orientation val="maxMin"/>
        </c:scaling>
        <c:delete val="0"/>
        <c:axPos val="l"/>
        <c:majorTickMark val="out"/>
        <c:minorTickMark val="none"/>
        <c:tickLblPos val="nextTo"/>
        <c:spPr>
          <a:ln>
            <a:solidFill>
              <a:srgbClr val="111111"/>
            </a:solidFill>
          </a:ln>
        </c:spPr>
        <c:txPr>
          <a:bodyPr/>
          <a:lstStyle/>
          <a:p>
            <a:pPr>
              <a:defRPr sz="800">
                <a:latin typeface="Google Sans Flex"/>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E8EAED"/>
              </a:solidFill>
              <a:ln w="12700">
                <a:solidFill>
                  <a:srgbClr val="111111"/>
                </a:solidFill>
              </a:ln>
            </c:spPr>
          </c:dPt>
          <c:dPt>
            <c:idx val="1"/>
            <c:spPr>
              <a:solidFill>
                <a:srgbClr val="C4B5FD"/>
              </a:solidFill>
              <a:ln w="12700">
                <a:solidFill>
                  <a:srgbClr val="111111"/>
                </a:solidFill>
              </a:ln>
            </c:spPr>
          </c:dPt>
          <c:dPt>
            <c:idx val="2"/>
            <c:spPr>
              <a:solidFill>
                <a:srgbClr val="C6F432"/>
              </a:solidFill>
              <a:ln w="12700">
                <a:solidFill>
                  <a:srgbClr val="111111"/>
                </a:solidFill>
              </a:ln>
            </c:spPr>
          </c:dPt>
          <c:dLbls>
            <c:dLbl>
              <c:idx val="0"/>
              <c:tx>
                <c:rich>
                  <a:bodyPr/>
                  <a:lstStyle/>
                  <a:p>
                    <a:r>
                      <a:rPr sz="1000" b="1">
                        <a:solidFill>
                          <a:srgbClr val="111111"/>
                        </a:solidFill>
                        <a:latin typeface="Google Sans Flex"/>
                      </a:rPr>
                      <a:t>6/9</a:t>
                    </a:r>
                  </a:p>
                </c:rich>
              </c:tx>
              <c:dLblPos val="outEnd"/>
              <c:showLegendKey val="0"/>
              <c:showVal val="1"/>
              <c:showCatName val="0"/>
              <c:showSerName val="0"/>
              <c:showPercent val="0"/>
              <c:showBubbleSize val="0"/>
            </c:dLbl>
            <c:dLbl>
              <c:idx val="1"/>
              <c:tx>
                <c:rich>
                  <a:bodyPr/>
                  <a:lstStyle/>
                  <a:p>
                    <a:r>
                      <a:rPr sz="1000" b="1">
                        <a:solidFill>
                          <a:srgbClr val="111111"/>
                        </a:solidFill>
                        <a:latin typeface="Google Sans Flex"/>
                      </a:rPr>
                      <a:t>8/9</a:t>
                    </a:r>
                  </a:p>
                </c:rich>
              </c:tx>
              <c:dLblPos val="outEnd"/>
              <c:showLegendKey val="0"/>
              <c:showVal val="1"/>
              <c:showCatName val="0"/>
              <c:showSerName val="0"/>
              <c:showPercent val="0"/>
              <c:showBubbleSize val="0"/>
            </c:dLbl>
            <c:dLbl>
              <c:idx val="2"/>
              <c:tx>
                <c:rich>
                  <a:bodyPr/>
                  <a:lstStyle/>
                  <a:p>
                    <a:r>
                      <a:rPr sz="1000" b="1">
                        <a:solidFill>
                          <a:srgbClr val="111111"/>
                        </a:solidFill>
                        <a:latin typeface="Google Sans Flex"/>
                      </a:rPr>
                      <a:t>9/9</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Measured
checks only</c:v>
                </c:pt>
                <c:pt idx="1">
                  <c:v>+ Gemma 3 4B
(local)</c:v>
                </c:pt>
                <c:pt idx="2">
                  <c:v>+ Gemini 3.6
Flash</c:v>
                </c:pt>
              </c:strCache>
            </c:strRef>
          </c:cat>
          <c:val>
            <c:numRef>
              <c:f>Sheet1!$B$2:$B$4</c:f>
              <c:numCache>
                <c:formatCode>General</c:formatCode>
                <c:ptCount val="3"/>
                <c:pt idx="0">
                  <c:v>6</c:v>
                </c:pt>
                <c:pt idx="1">
                  <c:v>8</c:v>
                </c:pt>
                <c:pt idx="2">
                  <c:v>9</c:v>
                </c:pt>
              </c:numCache>
            </c:numRef>
          </c:val>
        </c:ser>
        <c:gapWidth val="45"/>
        <c:axId val="-2068027336"/>
        <c:axId val="-2113994440"/>
      </c:barChart>
      <c:catAx>
        <c:axId val="-2068027336"/>
        <c:scaling>
          <c:orientation val="maxMin"/>
        </c:scaling>
        <c:delete val="0"/>
        <c:axPos val="l"/>
        <c:majorTickMark val="out"/>
        <c:minorTickMark val="none"/>
        <c:tickLblPos val="nextTo"/>
        <c:spPr>
          <a:ln>
            <a:solidFill>
              <a:srgbClr val="111111"/>
            </a:solidFill>
          </a:ln>
        </c:spPr>
        <c:txPr>
          <a:bodyPr/>
          <a:lstStyle/>
          <a:p>
            <a:pPr>
              <a:defRPr sz="800">
                <a:latin typeface="Google Sans Flex"/>
              </a:defRPr>
            </a:pPr>
          </a:p>
        </c:txPr>
        <c:crossAx val="-2113994440"/>
        <c:crosses val="autoZero"/>
        <c:auto val="1"/>
        <c:lblAlgn val="ctr"/>
        <c:lblOffset val="100"/>
        <c:noMultiLvlLbl val="0"/>
      </c:catAx>
      <c:valAx>
        <c:axId val="-2113994440"/>
        <c:scaling>
          <c:max val="10.5"/>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Team Zero Context: Saubhagya Ashish (leader) and Suvojit Konar. Shop Honest helps platform teams find dark patterns before release. The working prototype audits logged-out journeys, links observations to evidence and relevant rules, and verifies supported fixes on demo copies. Automated observations are not legal determinations.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₹1,499 to ₹1,894 example comes from our deliberately rigged demo store, not a claim about a retailer. The opportunity is repeatable evidence for platform teams, with human review where a claim cannot be established. Supported demo settings can be verified on a copy; third-party sites receive a developer fix list and can be re-audited after their team ships a change.</a:t>
            </a:r>
          </a:p>
          <a:p>
            <a:r>
              <a:t>Sources: ASCI and Parallel, Conscious Patterns (2024), 52 of 53 studied apps: https://www.ascionline.in/wp-content/uploads/2024/07/Press-Release.-Conscious-Patterns-25.07.24.docx.pdf</a:t>
            </a:r>
          </a:p>
          <a:p>
            <a:r>
              <a:t>CCPA, 26 self-audit declarations, 20 November 2025, and the 13 prohibited patterns: https://www.pib.gov.in/PressReleaseIframePage.aspx?PRID=2191948&amp;lang=2&amp;reg=48</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Our differentiation combines a browser journey, measured checks, evidence review and verification of fixes. This is a prototype, not a claim of market uniqueness. Automatic settings changes currently work on the demo stores only. The per-monitored-product business model and free public-interest access are proposed, not existing revenue or contracts. Zero false alarms refers to the honest demo control across three recorded runs, not all real websites.</a:t>
            </a:r>
          </a:p>
          <a:p>
            <a:r>
              <a:t>Evidence: https://github.com/saubhagyaashish/shop-honest/blob/main/docs/evidence/README.md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Eight working capabilities: live walkthrough, measured checks, BigQuery price history, ADK screen review, fix planning, price changes, relevant consumer rules and PDF reporting. The 13-pattern self-audit maps checked evidence and limitations. It does not certify legal compliance. Fix verification currently applies supported settings to isolated demo copies.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navigator walks five steps like a logged-out shopper and stops honestly at sign-in walls or bot protection. On every screen: capture a screenshot and measure every element, run measured checks, let Gemini (Pattern Analyst) judge wording and design, apply evidence rules, re-check with the Adjudicator, then confirm, send to human review, or drop. The Reporter turns findings into the trust score, money, law and fixes.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Three screens: start an audit, watch the agents shop live, and read the report. These are screenshots of the deployed product, not mock-ups.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Firebase Hosting serves the React app and demo stores. /api routes to FastAPI on Cloud Run; SSE streams directly from Cloud Run because Hosting buffers streams. ADK graphs coordinate navigation, screen review and reporting. The Pattern Analyst and Adjudicator use measured evidence and tools. The Fixer is a separate on-demand proposal call after an audit, rather than another per-screen graph node. Firestore stores resumable audit events, Cloud Storage stores frames, BigQuery supplies price history.</a:t>
            </a:r>
          </a:p>
          <a:p>
            <a:r>
              <a:t>Implementation: https://github.com/saubhagyaashish/shop-honest/blob/main/backend/app/runner/audit_graph.py and https://github.com/saubhagyaashish/shop-honest/blob/main/backend/app/api/audits.py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prototype uses Gemini 3.6 Flash through Vertex AI and Google ADK, with Gemma 3 4B available through Ollama for development. Python implements the backend and Pydantic contracts; TypeScript implements the web app and shared frontend contract. Cloud services shown are wired into the project, not a future architecture wish list.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₹2 per audit is a planning assumption retained from an earlier prototype measurement on a different model, not a verified current Gemini 3.6 Flash tariff. The recorded 16 October Store A run used 20,990 input and 5,150 output tokens and took 27.3 seconds. Across the three recorded Store A runs, latency ranged from 27.3 to 69.1 seconds. Actual billed cost varies by model pricing, retries, runtime, storage, region and workload. The monthly scenarios multiply volume by the ₹2 assumption and exclude support, retained storage, taxes and production operations. 10,000 and 100,000 monthly audits would require increasing the public demo's 100-per-day cap.</a:t>
            </a:r>
          </a:p>
          <a:p>
            <a:r>
              <a:t>Recorded demo replays and their bundled fix plans incur no new model call. New live proposals may call the model; verification starts another live audit. Serving and retaining artifacts can still incur infrastructure costs. Cloud Run compute scales to zero when idle; stored data does not disappear.</a:t>
            </a:r>
          </a:p>
          <a:p>
            <a:r>
              <a:t>Token/runtime evidence: https://github.com/saubhagyaashish/shop-honest/blob/main/docs/evidence/answer-key-2026-10-16.json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first three screenshots show the prototype's demo-store verdict, bill and captured evidence. The Tata 1mg panel renders an existing production audit (aud_143d37231570, 16 October 2026) in the deployed frontend with the corrected NEEDS A HUMAN label. It reached product, variant and cart and stopped at checkout sign-in. Two observations await human review. The displayed cart price is not a completed payment or a legal finding. Captured from https://shop-honest-ai.web.app/audit/aud_143d37231570 after the frontend deployment on 16 October 2026. The live report shows NEEDS A HUMAN and 3 of 5 steps checked.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Demo evaluation: three Gemini 3.6 Flash live runs per store across 15–16 October 2026. All runs matched 9 of 9 planted Store A patterns and 6 of 6 before Store C's sign-in wall. Store B had no false alarms. Expected human-review cases count as matched answer-key outcomes, not confirmed violations. Extra findings are recorded separately. Store A latency was 53.7, 69.1 and 27.3 seconds.</a:t>
            </a:r>
          </a:p>
          <a:p>
            <a:r>
              <a:t>Text evaluation: 2,356 texts, F1 0.959471, precision 0.997253, recall 0.924448, 3 false positives and 89 false negatives. Zero-shot means no task-specific fine-tuning or in-context examples; pretraining exposure is unknown. Published baselines use supervised cross-validation, so the comparison is contextual rather than a controlled head-to-head. This evaluates text classification, not end-to-end real-site accuracy.</a:t>
            </a:r>
          </a:p>
          <a:p>
            <a:r>
              <a:t>The ablation describes results on the demo answer key, not general-world recall.</a:t>
            </a:r>
          </a:p>
          <a:p>
            <a:r>
              <a:t>Validation on 16 October: 214 backend tests passed, 8 environment-gated tests skipped; 49 web tests passed. The existing production preflight log reports 6/6 for backend revision 105f85e.</a:t>
            </a:r>
          </a:p>
          <a:p>
            <a:r>
              <a:t>Sources: https://github.com/saubhagyaashish/shop-honest/blob/main/docs/evidence/answer-key-2026-10-15.json ; https://github.com/saubhagyaashish/shop-honest/blob/main/docs/evidence/answer-key-2026-10-16.json ; https://github.com/saubhagyaashish/shop-honest/blob/main/docs/evidence/dataset-2026-10-15.json</a:t>
            </a:r>
          </a:p>
          <a:p>
            <a:r>
              <a:t>Published dataset and baseline scores: https://github.com/yamanalab/ec-darkpattern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next milestone is a pilot with a platform team, using selected staging journeys and authorized test accounts. Success criteria: human-confirmed findings, repeatable fixes and a CI regression check. Logged-in journeys, scheduled monitoring, shopper extension, regulator dashboard and mobile/language coverage are future development, not shipped capabilities. The six-site scout included one out-of-stock case as well as blocked access.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Code and evidence: https://github.com/saubhagyaashish/shop-honest</a:t>
            </a:r>
          </a:p>
          <a:p>
            <a:r>
              <a:t>Live product: https://shop-honest-ai.web.app</a:t>
            </a:r>
          </a:p>
          <a:p>
            <a:r>
              <a:t>The 3-minute video URL is pending from the team. Demo route: show the planted-store report, select fixes, show the verified comparison, then show how a partial real-store audit preserves its limits.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Responsible by design: the agent never pays, signs in, types, accepts terms or bypasses bot protection, and never presses another product's button. Findings must cite measured elements, are double-checked by an agent with tools, and go to human review when unsure. On real stores, layout-based findings go to review and reports carry a not-a-legal-finding note; a page it couldn't check is 'not checked', never 'clean'. Fix it never touches a real site: fixes run on a copy of our own demo store, in the auditor's browser only.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Close: Find dark patterns before your next release. Invite judges to try the demo and inspect the linked evidence. Team Zero Context: Saubhagya Ashish and Suvojit Konar.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On the completed report, Fix it proposes supported settings changes and projects their impact. Verification applies selected changes only in an isolated demo-store browser, then re-runs the audit. In the captured run, all nine selected fixes were verified, trust moved from 16 to 100 and payable moved from ₹1,894 to ₹1,596. The screenshot also shows one remaining finding requiring review: nine selected fixes resolved does not mean every possible issue disappeared. Real sites are never modified by this flow. Their developers receive the fix list, then re-audit after changes.</a:t>
            </a:r>
          </a:p>
          <a:p>
            <a:r>
              <a:t>Evidence: https://github.com/saubhagyaashish/shop-honest/blob/main/docs/evidence/README.md and https://github.com/saubhagyaashish/shop-honest/blob/main/backend/tests/test_live.py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Scope: one selected product page on each of six platforms, logged out, on 16 October 2026 using Gemma 3 4B locally. This is an exploratory check, not representative site-wide or legal testing. Flipkart and Tata 1mg reached the cart and fee observations went to human review. Blinkit was out of stock; Zepto returned an empty page; Myntra refused the connection; Meesho presented bot protection. Early scout failures exposed false clean verdicts, which led to navigator regression tests and the current report-label correction. Avoid the claim that the system never made that mistake.</a:t>
            </a:r>
          </a:p>
          <a:p>
            <a:r>
              <a:t>Our inference: a platform-authorized staging pilot could improve access to checkout and enable repeatable regression testing. That integration remains future work.</a:t>
            </a:r>
          </a:p>
          <a:p>
            <a:r>
              <a:t>Evidence: https://github.com/saubhagyaashish/shop-honest/blob/main/docs/evidence/real-sites-2026-10-16.md</a:t>
            </a:r>
          </a:p>
          <a:p>
            <a:r>
              <a:t>Self-declaration list: https://www.pib.gov.in/PressReleaseIframePage.aspx?PRID=2191948&amp;lang=2&amp;reg=48</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hyperlink" Target="https://shop-honest-ai.web.app"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2.png"/><Relationship Id="rId9" Type="http://schemas.openxmlformats.org/officeDocument/2006/relationships/image" Target="../media/image75.png"/><Relationship Id="rId10" Type="http://schemas.openxmlformats.org/officeDocument/2006/relationships/image" Target="../media/image14.png"/><Relationship Id="rId11" Type="http://schemas.openxmlformats.org/officeDocument/2006/relationships/image" Target="../media/image19.png"/><Relationship Id="rId12"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21.png"/><Relationship Id="rId11" Type="http://schemas.openxmlformats.org/officeDocument/2006/relationships/image" Target="../media/image12.png"/><Relationship Id="rId12" Type="http://schemas.openxmlformats.org/officeDocument/2006/relationships/image" Target="../media/image17.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13.png"/><Relationship Id="rId16" Type="http://schemas.openxmlformats.org/officeDocument/2006/relationships/image" Target="../media/image24.png"/><Relationship Id="rId17"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7.png"/><Relationship Id="rId6" Type="http://schemas.openxmlformats.org/officeDocument/2006/relationships/image" Target="../media/image27.png"/><Relationship Id="rId7" Type="http://schemas.openxmlformats.org/officeDocument/2006/relationships/image" Target="../media/image78.png"/><Relationship Id="rId8" Type="http://schemas.openxmlformats.org/officeDocument/2006/relationships/image" Target="../media/image16.png"/><Relationship Id="rId9" Type="http://schemas.openxmlformats.org/officeDocument/2006/relationships/hyperlink" Target="https://shop-honest-ai.web.ap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22.png"/><Relationship Id="rId10" Type="http://schemas.openxmlformats.org/officeDocument/2006/relationships/image" Target="../media/image17.png"/><Relationship Id="rId11" Type="http://schemas.openxmlformats.org/officeDocument/2006/relationships/image" Target="../media/image33.png"/><Relationship Id="rId12" Type="http://schemas.openxmlformats.org/officeDocument/2006/relationships/image" Target="../media/image20.png"/><Relationship Id="rId13" Type="http://schemas.openxmlformats.org/officeDocument/2006/relationships/image" Target="../media/image34.png"/><Relationship Id="rId14" Type="http://schemas.openxmlformats.org/officeDocument/2006/relationships/image" Target="../media/image35.png"/><Relationship Id="rId15" Type="http://schemas.openxmlformats.org/officeDocument/2006/relationships/image" Target="../media/image36.png"/><Relationship Id="rId16" Type="http://schemas.openxmlformats.org/officeDocument/2006/relationships/image" Target="../media/image37.png"/><Relationship Id="rId17" Type="http://schemas.openxmlformats.org/officeDocument/2006/relationships/image" Target="../media/image38.png"/><Relationship Id="rId18" Type="http://schemas.openxmlformats.org/officeDocument/2006/relationships/image" Target="../media/image39.png"/><Relationship Id="rId19"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41.png"/><Relationship Id="rId8" Type="http://schemas.openxmlformats.org/officeDocument/2006/relationships/image" Target="../media/image31.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40.png"/><Relationship Id="rId12" Type="http://schemas.openxmlformats.org/officeDocument/2006/relationships/image" Target="../media/image34.png"/><Relationship Id="rId13" Type="http://schemas.openxmlformats.org/officeDocument/2006/relationships/image" Target="../media/image35.png"/><Relationship Id="rId14" Type="http://schemas.openxmlformats.org/officeDocument/2006/relationships/image" Target="../media/image36.png"/><Relationship Id="rId15" Type="http://schemas.openxmlformats.org/officeDocument/2006/relationships/image" Target="../media/image37.png"/><Relationship Id="rId16" Type="http://schemas.openxmlformats.org/officeDocument/2006/relationships/image" Target="../media/image30.png"/><Relationship Id="rId17" Type="http://schemas.openxmlformats.org/officeDocument/2006/relationships/image" Target="../media/image42.png"/><Relationship Id="rId18" Type="http://schemas.openxmlformats.org/officeDocument/2006/relationships/image" Target="../media/image43.png"/><Relationship Id="rId19" Type="http://schemas.openxmlformats.org/officeDocument/2006/relationships/image" Target="../media/image44.png"/><Relationship Id="rId20" Type="http://schemas.openxmlformats.org/officeDocument/2006/relationships/image" Target="../media/image45.png"/><Relationship Id="rId21" Type="http://schemas.openxmlformats.org/officeDocument/2006/relationships/image" Target="../media/image46.png"/><Relationship Id="rId22" Type="http://schemas.openxmlformats.org/officeDocument/2006/relationships/image" Target="../media/image47.png"/><Relationship Id="rId23" Type="http://schemas.openxmlformats.org/officeDocument/2006/relationships/image" Target="../media/image48.png"/><Relationship Id="rId24" Type="http://schemas.openxmlformats.org/officeDocument/2006/relationships/image" Target="../media/image49.png"/><Relationship Id="rId25" Type="http://schemas.openxmlformats.org/officeDocument/2006/relationships/image" Target="../media/image5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5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9.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8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chart" Target="../charts/chart1.xml"/><Relationship Id="rId6"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6.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hyperlink" Target="https://github.com/saubhagyaashish/shop-honest" TargetMode="External"/><Relationship Id="rId8" Type="http://schemas.openxmlformats.org/officeDocument/2006/relationships/image" Target="../media/image69.png"/><Relationship Id="rId9" Type="http://schemas.openxmlformats.org/officeDocument/2006/relationships/image" Target="../media/image16.png"/><Relationship Id="rId10" Type="http://schemas.openxmlformats.org/officeDocument/2006/relationships/image" Target="../media/image20.png"/><Relationship Id="rId11" Type="http://schemas.openxmlformats.org/officeDocument/2006/relationships/image" Target="../media/image70.png"/><Relationship Id="rId12" Type="http://schemas.openxmlformats.org/officeDocument/2006/relationships/hyperlink" Target="https://shop-honest-ai.web.ap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1.png"/><Relationship Id="rId6" Type="http://schemas.openxmlformats.org/officeDocument/2006/relationships/image" Target="../media/image7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3.png"/><Relationship Id="rId6" Type="http://schemas.openxmlformats.org/officeDocument/2006/relationships/image" Target="../media/image74.png"/><Relationship Id="rId9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51.png"/><Relationship Id="rId9" Type="http://schemas.openxmlformats.org/officeDocument/2006/relationships/image" Target="../media/image51.png"/><Relationship Id="rId10" Type="http://schemas.openxmlformats.org/officeDocument/2006/relationships/image" Target="../media/image21.png"/><Relationship Id="rId90"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20040" y="2907792"/>
            <a:ext cx="5532120" cy="20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700"/>
              </a:spcAft>
              <a:buNone/>
            </a:pPr>
            <a:r>
              <a:rPr sz="1800">
                <a:solidFill>
                  <a:srgbClr val="111111"/>
                </a:solidFill>
                <a:latin typeface="Google Sans Flex SemiBold"/>
              </a:rPr>
              <a:t>Team Details</a:t>
            </a:r>
            <a:endParaRPr sz="2100">
              <a:latin typeface="Google Sans Flex SemiBold"/>
              <a:ea typeface="Google Sans Flex SemiBold"/>
              <a:cs typeface="Google Sans Flex SemiBold"/>
              <a:sym typeface="Google Sans Flex SemiBold"/>
            </a:endParaRPr>
          </a:p>
          <a:p>
            <a:pPr>
              <a:spcAft>
                <a:spcPts val="500"/>
              </a:spcAft>
            </a:pPr>
            <a:r>
              <a:rPr sz="1300">
                <a:solidFill>
                  <a:srgbClr val="111111"/>
                </a:solidFill>
                <a:latin typeface="Google Sans Flex SemiBold"/>
              </a:rPr>
              <a:t>Team name: </a:t>
            </a:r>
            <a:r>
              <a:rPr sz="1300">
                <a:solidFill>
                  <a:srgbClr val="111111"/>
                </a:solidFill>
                <a:latin typeface="Google Sans Flex"/>
              </a:rPr>
              <a:t>Zero Context</a:t>
            </a:r>
          </a:p>
          <a:p>
            <a:pPr>
              <a:spcAft>
                <a:spcPts val="500"/>
              </a:spcAft>
            </a:pPr>
            <a:r>
              <a:rPr sz="1300">
                <a:solidFill>
                  <a:srgbClr val="111111"/>
                </a:solidFill>
                <a:latin typeface="Google Sans Flex SemiBold"/>
              </a:rPr>
              <a:t>Team leader name: </a:t>
            </a:r>
            <a:r>
              <a:rPr sz="1300">
                <a:solidFill>
                  <a:srgbClr val="111111"/>
                </a:solidFill>
                <a:latin typeface="Google Sans Flex"/>
              </a:rPr>
              <a:t>Saubhagya Ashish</a:t>
            </a:r>
          </a:p>
          <a:p>
            <a:pPr>
              <a:spcAft>
                <a:spcPts val="500"/>
              </a:spcAft>
            </a:pPr>
            <a:r>
              <a:rPr sz="1300">
                <a:solidFill>
                  <a:srgbClr val="111111"/>
                </a:solidFill>
                <a:latin typeface="Google Sans Flex SemiBold"/>
              </a:rPr>
              <a:t>Team member: </a:t>
            </a:r>
            <a:r>
              <a:rPr sz="1300">
                <a:solidFill>
                  <a:srgbClr val="111111"/>
                </a:solidFill>
                <a:latin typeface="Google Sans Flex"/>
              </a:rPr>
              <a:t>Suvojit Konar</a:t>
            </a:r>
          </a:p>
          <a:p>
            <a:pPr>
              <a:spcAft>
                <a:spcPts val="500"/>
              </a:spcAft>
            </a:pPr>
            <a:r>
              <a:rPr sz="1300">
                <a:solidFill>
                  <a:srgbClr val="111111"/>
                </a:solidFill>
                <a:latin typeface="Google Sans Flex SemiBold"/>
              </a:rPr>
              <a:t>Problem Statement: </a:t>
            </a:r>
            <a:r>
              <a:rPr sz="1100">
                <a:solidFill>
                  <a:srgbClr val="111111"/>
                </a:solidFill>
                <a:latin typeface="Google Sans Flex"/>
              </a:rPr>
              <a:t>Retail &amp; Commerce. Hidden fees, pre-ticked extras and fake urgency put stores at risk. India's CCPA prohibits 13 dark patterns. Shop Honest helps platform teams find them across the shopping journey and verify fixes before release.</a:t>
            </a: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
        <p:nvSpPr>
          <p:cNvPr id="57" name="Rounded Rectangle 56"/>
          <p:cNvSpPr/>
          <p:nvPr/>
        </p:nvSpPr>
        <p:spPr>
          <a:xfrm>
            <a:off x="6172200" y="3063239"/>
            <a:ext cx="2697480" cy="1810512"/>
          </a:xfrm>
          <a:prstGeom prst="roundRect">
            <a:avLst>
              <a:gd name="adj" fmla="val 707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6126480" y="3017520"/>
            <a:ext cx="2697480" cy="1810512"/>
          </a:xfrm>
          <a:prstGeom prst="roundRect">
            <a:avLst>
              <a:gd name="adj" fmla="val 7070"/>
            </a:avLst>
          </a:prstGeom>
          <a:solidFill>
            <a:srgbClr val="FFF8EC"/>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9" name="Picture 58" descr="Shop Honest logo"/>
          <p:cNvPicPr>
            <a:picLocks noChangeAspect="1"/>
          </p:cNvPicPr>
          <p:nvPr/>
        </p:nvPicPr>
        <p:blipFill>
          <a:blip r:embed="rId5"/>
          <a:stretch>
            <a:fillRect/>
          </a:stretch>
        </p:blipFill>
        <p:spPr>
          <a:xfrm>
            <a:off x="6327648" y="3182112"/>
            <a:ext cx="2286000" cy="422573"/>
          </a:xfrm>
          <a:prstGeom prst="rect">
            <a:avLst/>
          </a:prstGeom>
        </p:spPr>
      </p:pic>
      <p:sp>
        <p:nvSpPr>
          <p:cNvPr id="60" name="TextBox 59"/>
          <p:cNvSpPr txBox="1"/>
          <p:nvPr/>
        </p:nvSpPr>
        <p:spPr>
          <a:xfrm>
            <a:off x="6327648" y="3730752"/>
            <a:ext cx="2377440" cy="566928"/>
          </a:xfrm>
          <a:prstGeom prst="rect">
            <a:avLst/>
          </a:prstGeom>
          <a:noFill/>
        </p:spPr>
        <p:txBody>
          <a:bodyPr wrap="square" lIns="0" rIns="0" tIns="0" bIns="0" anchor="t">
            <a:noAutofit/>
          </a:bodyPr>
          <a:lstStyle/>
          <a:p>
            <a:pPr algn="l">
              <a:lnSpc>
                <a:spcPct val="100000"/>
              </a:lnSpc>
              <a:spcAft>
                <a:spcPts val="0"/>
              </a:spcAft>
            </a:pPr>
            <a:r>
              <a:rPr sz="1700" b="1">
                <a:solidFill>
                  <a:srgbClr val="111111"/>
                </a:solidFill>
                <a:latin typeface="Google Sans Flex"/>
              </a:rPr>
              <a:t>Dark patterns? </a:t>
            </a:r>
            <a:r>
              <a:rPr sz="1700" b="1">
                <a:solidFill>
                  <a:srgbClr val="111111"/>
                </a:solidFill>
                <a:latin typeface="Google Sans Flex"/>
              </a:rPr>
              <a:t>Caught in 4K.</a:t>
            </a:r>
          </a:p>
        </p:txBody>
      </p:sp>
      <p:sp>
        <p:nvSpPr>
          <p:cNvPr id="61" name="Rounded Rectangle 60"/>
          <p:cNvSpPr/>
          <p:nvPr/>
        </p:nvSpPr>
        <p:spPr>
          <a:xfrm>
            <a:off x="6327648" y="4297680"/>
            <a:ext cx="1965960" cy="228600"/>
          </a:xfrm>
          <a:prstGeom prst="roundRect">
            <a:avLst>
              <a:gd name="adj" fmla="val 50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00" b="1">
                <a:solidFill>
                  <a:srgbClr val="111111"/>
                </a:solidFill>
                <a:latin typeface="Google Sans Flex"/>
              </a:rPr>
              <a:t>Found, fixed and proven</a:t>
            </a:r>
          </a:p>
        </p:txBody>
      </p:sp>
      <p:sp>
        <p:nvSpPr>
          <p:cNvPr id="62" name="TextBox 61"/>
          <p:cNvSpPr txBox="1"/>
          <p:nvPr/>
        </p:nvSpPr>
        <p:spPr>
          <a:xfrm>
            <a:off x="6327648" y="4572000"/>
            <a:ext cx="2377440" cy="182880"/>
          </a:xfrm>
          <a:prstGeom prst="rect">
            <a:avLst/>
          </a:prstGeom>
          <a:noFill/>
        </p:spPr>
        <p:txBody>
          <a:bodyPr wrap="square" lIns="0" rIns="0" tIns="0" bIns="0" anchor="t">
            <a:noAutofit/>
          </a:bodyPr>
          <a:lstStyle/>
          <a:p>
            <a:pPr algn="l">
              <a:lnSpc>
                <a:spcPct val="100000"/>
              </a:lnSpc>
              <a:spcAft>
                <a:spcPts val="0"/>
              </a:spcAft>
            </a:pPr>
            <a:r>
              <a:rPr sz="900" b="0">
                <a:solidFill>
                  <a:srgbClr val="5F6368"/>
                </a:solidFill>
                <a:latin typeface="Google Sans Flex Medium"/>
                <a:hlinkClick r:id="rId6"/>
              </a:rPr>
              <a:t>shop-honest-ai.web.app</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The problem and our approach</a:t>
            </a:r>
            <a:endParaRPr sz="1600">
              <a:latin typeface="Google Sans Flex Medium"/>
              <a:ea typeface="Google Sans Flex Medium"/>
              <a:cs typeface="Google Sans Flex Medium"/>
              <a:sym typeface="Google Sans Flex Medium"/>
            </a:endParaRPr>
          </a:p>
        </p:txBody>
      </p:sp>
      <p:sp>
        <p:nvSpPr>
          <p:cNvPr id="72" name="Rounded Rectangle 71"/>
          <p:cNvSpPr/>
          <p:nvPr/>
        </p:nvSpPr>
        <p:spPr>
          <a:xfrm>
            <a:off x="320040" y="1234440"/>
            <a:ext cx="4023360" cy="3584448"/>
          </a:xfrm>
          <a:prstGeom prst="roundRect">
            <a:avLst>
              <a:gd name="adj" fmla="val 4081"/>
            </a:avLst>
          </a:prstGeom>
          <a:solidFill>
            <a:srgbClr val="111111"/>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548640" y="1417320"/>
            <a:ext cx="1051560" cy="237744"/>
          </a:xfrm>
          <a:prstGeom prst="roundRect">
            <a:avLst>
              <a:gd name="adj" fmla="val 50000"/>
            </a:avLst>
          </a:prstGeom>
          <a:solidFill>
            <a:srgbClr val="FF5CA8"/>
          </a:solidFill>
          <a:ln w="15875">
            <a:solidFill>
              <a:srgbClr val="FF5CA8"/>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00" b="1">
                <a:solidFill>
                  <a:srgbClr val="111111"/>
                </a:solidFill>
                <a:latin typeface="Google Sans Flex"/>
              </a:rPr>
              <a:t>THE PROBLEM</a:t>
            </a:r>
          </a:p>
        </p:txBody>
      </p:sp>
      <p:sp>
        <p:nvSpPr>
          <p:cNvPr id="74" name="TextBox 73"/>
          <p:cNvSpPr txBox="1"/>
          <p:nvPr/>
        </p:nvSpPr>
        <p:spPr>
          <a:xfrm>
            <a:off x="548640" y="1737360"/>
            <a:ext cx="3657600" cy="566928"/>
          </a:xfrm>
          <a:prstGeom prst="rect">
            <a:avLst/>
          </a:prstGeom>
          <a:noFill/>
        </p:spPr>
        <p:txBody>
          <a:bodyPr wrap="square" lIns="0" rIns="0" tIns="0" bIns="0" anchor="t">
            <a:noAutofit/>
          </a:bodyPr>
          <a:lstStyle/>
          <a:p>
            <a:pPr algn="l">
              <a:lnSpc>
                <a:spcPct val="100000"/>
              </a:lnSpc>
              <a:spcAft>
                <a:spcPts val="0"/>
              </a:spcAft>
            </a:pPr>
            <a:r>
              <a:rPr sz="3200" b="1">
                <a:solidFill>
                  <a:srgbClr val="FFFFFF"/>
                </a:solidFill>
                <a:latin typeface="Google Sans Flex"/>
              </a:rPr>
              <a:t>₹1,499</a:t>
            </a:r>
            <a:r>
              <a:rPr sz="3200" b="1">
                <a:solidFill>
                  <a:srgbClr val="9AA0A6"/>
                </a:solidFill>
                <a:latin typeface="Google Sans Flex"/>
              </a:rPr>
              <a:t>  →  </a:t>
            </a:r>
            <a:r>
              <a:rPr sz="3200" b="1">
                <a:solidFill>
                  <a:srgbClr val="FF5CA8"/>
                </a:solidFill>
                <a:latin typeface="Google Sans Flex"/>
              </a:rPr>
              <a:t>₹1,894</a:t>
            </a:r>
          </a:p>
        </p:txBody>
      </p:sp>
      <p:sp>
        <p:nvSpPr>
          <p:cNvPr id="75" name="TextBox 74"/>
          <p:cNvSpPr txBox="1"/>
          <p:nvPr/>
        </p:nvSpPr>
        <p:spPr>
          <a:xfrm>
            <a:off x="548640" y="2331720"/>
            <a:ext cx="3611880" cy="566928"/>
          </a:xfrm>
          <a:prstGeom prst="rect">
            <a:avLst/>
          </a:prstGeom>
          <a:noFill/>
        </p:spPr>
        <p:txBody>
          <a:bodyPr wrap="square" lIns="0" rIns="0" tIns="0" bIns="0" anchor="t">
            <a:noAutofit/>
          </a:bodyPr>
          <a:lstStyle/>
          <a:p>
            <a:pPr algn="l">
              <a:lnSpc>
                <a:spcPct val="108000"/>
              </a:lnSpc>
              <a:spcAft>
                <a:spcPts val="0"/>
              </a:spcAft>
            </a:pPr>
            <a:r>
              <a:rPr sz="1050" b="0">
                <a:solidFill>
                  <a:srgbClr val="E8EAED"/>
                </a:solidFill>
                <a:latin typeface="Google Sans Flex"/>
              </a:rPr>
              <a:t>Our rigged test store, same earbuds: insurance sneaked into the cart, a pre-ticked membership and fees shown only at payment. The price you see isn't the price you pay.</a:t>
            </a:r>
          </a:p>
        </p:txBody>
      </p:sp>
      <p:sp>
        <p:nvSpPr>
          <p:cNvPr id="76" name="Rectangle 75"/>
          <p:cNvSpPr/>
          <p:nvPr/>
        </p:nvSpPr>
        <p:spPr>
          <a:xfrm>
            <a:off x="548640" y="3081528"/>
            <a:ext cx="45720" cy="402336"/>
          </a:xfrm>
          <a:prstGeom prst="rect">
            <a:avLst/>
          </a:prstGeom>
          <a:solidFill>
            <a:srgbClr val="C6F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704088" y="3044952"/>
            <a:ext cx="1143000" cy="457200"/>
          </a:xfrm>
          <a:prstGeom prst="rect">
            <a:avLst/>
          </a:prstGeom>
          <a:noFill/>
        </p:spPr>
        <p:txBody>
          <a:bodyPr wrap="square" lIns="0" rIns="0" tIns="0" bIns="0" anchor="ctr">
            <a:noAutofit/>
          </a:bodyPr>
          <a:lstStyle/>
          <a:p>
            <a:pPr algn="l">
              <a:lnSpc>
                <a:spcPct val="100000"/>
              </a:lnSpc>
              <a:spcAft>
                <a:spcPts val="0"/>
              </a:spcAft>
            </a:pPr>
            <a:r>
              <a:rPr sz="1700" b="1">
                <a:solidFill>
                  <a:srgbClr val="C6F432"/>
                </a:solidFill>
                <a:latin typeface="Google Sans Flex"/>
              </a:rPr>
              <a:t>52 of 53</a:t>
            </a:r>
          </a:p>
        </p:txBody>
      </p:sp>
      <p:sp>
        <p:nvSpPr>
          <p:cNvPr id="78" name="TextBox 77"/>
          <p:cNvSpPr txBox="1"/>
          <p:nvPr/>
        </p:nvSpPr>
        <p:spPr>
          <a:xfrm>
            <a:off x="1856231" y="3063240"/>
            <a:ext cx="2331720" cy="457200"/>
          </a:xfrm>
          <a:prstGeom prst="rect">
            <a:avLst/>
          </a:prstGeom>
          <a:noFill/>
        </p:spPr>
        <p:txBody>
          <a:bodyPr wrap="square" lIns="0" rIns="0" tIns="0" bIns="0" anchor="ctr">
            <a:noAutofit/>
          </a:bodyPr>
          <a:lstStyle/>
          <a:p>
            <a:pPr algn="l">
              <a:lnSpc>
                <a:spcPct val="100000"/>
              </a:lnSpc>
              <a:spcAft>
                <a:spcPts val="0"/>
              </a:spcAft>
            </a:pPr>
            <a:r>
              <a:rPr sz="1000" b="0">
                <a:solidFill>
                  <a:srgbClr val="FFFFFF"/>
                </a:solidFill>
                <a:latin typeface="Google Sans Flex"/>
              </a:rPr>
              <a:t>Indian apps studied used deceptive design</a:t>
            </a:r>
          </a:p>
          <a:p>
            <a:pPr algn="l">
              <a:lnSpc>
                <a:spcPct val="100000"/>
              </a:lnSpc>
              <a:spcAft>
                <a:spcPts val="0"/>
              </a:spcAft>
            </a:pPr>
            <a:r>
              <a:rPr sz="800" b="0">
                <a:solidFill>
                  <a:srgbClr val="9AA0A6"/>
                </a:solidFill>
                <a:latin typeface="Google Sans Flex"/>
              </a:rPr>
              <a:t>ASCI, 2024</a:t>
            </a:r>
          </a:p>
        </p:txBody>
      </p:sp>
      <p:sp>
        <p:nvSpPr>
          <p:cNvPr id="79" name="Rectangle 78"/>
          <p:cNvSpPr/>
          <p:nvPr/>
        </p:nvSpPr>
        <p:spPr>
          <a:xfrm>
            <a:off x="548640" y="3630168"/>
            <a:ext cx="45720" cy="402336"/>
          </a:xfrm>
          <a:prstGeom prst="rect">
            <a:avLst/>
          </a:prstGeom>
          <a:solidFill>
            <a:srgbClr val="C6F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704088" y="3593592"/>
            <a:ext cx="1143000" cy="457200"/>
          </a:xfrm>
          <a:prstGeom prst="rect">
            <a:avLst/>
          </a:prstGeom>
          <a:noFill/>
        </p:spPr>
        <p:txBody>
          <a:bodyPr wrap="square" lIns="0" rIns="0" tIns="0" bIns="0" anchor="ctr">
            <a:noAutofit/>
          </a:bodyPr>
          <a:lstStyle/>
          <a:p>
            <a:pPr algn="l">
              <a:lnSpc>
                <a:spcPct val="100000"/>
              </a:lnSpc>
              <a:spcAft>
                <a:spcPts val="0"/>
              </a:spcAft>
            </a:pPr>
            <a:r>
              <a:rPr sz="1700" b="1">
                <a:solidFill>
                  <a:srgbClr val="C6F432"/>
                </a:solidFill>
                <a:latin typeface="Google Sans Flex"/>
              </a:rPr>
              <a:t>13</a:t>
            </a:r>
          </a:p>
        </p:txBody>
      </p:sp>
      <p:sp>
        <p:nvSpPr>
          <p:cNvPr id="81" name="TextBox 80"/>
          <p:cNvSpPr txBox="1"/>
          <p:nvPr/>
        </p:nvSpPr>
        <p:spPr>
          <a:xfrm>
            <a:off x="1856231" y="3611880"/>
            <a:ext cx="2331720" cy="457200"/>
          </a:xfrm>
          <a:prstGeom prst="rect">
            <a:avLst/>
          </a:prstGeom>
          <a:noFill/>
        </p:spPr>
        <p:txBody>
          <a:bodyPr wrap="square" lIns="0" rIns="0" tIns="0" bIns="0" anchor="ctr">
            <a:noAutofit/>
          </a:bodyPr>
          <a:lstStyle/>
          <a:p>
            <a:pPr algn="l">
              <a:lnSpc>
                <a:spcPct val="100000"/>
              </a:lnSpc>
              <a:spcAft>
                <a:spcPts val="0"/>
              </a:spcAft>
            </a:pPr>
            <a:r>
              <a:rPr sz="1000" b="0">
                <a:solidFill>
                  <a:srgbClr val="FFFFFF"/>
                </a:solidFill>
                <a:latin typeface="Google Sans Flex"/>
              </a:rPr>
              <a:t>dark patterns banned by India's CCPA</a:t>
            </a:r>
          </a:p>
          <a:p>
            <a:pPr algn="l">
              <a:lnSpc>
                <a:spcPct val="100000"/>
              </a:lnSpc>
              <a:spcAft>
                <a:spcPts val="0"/>
              </a:spcAft>
            </a:pPr>
            <a:r>
              <a:rPr sz="800" b="0">
                <a:solidFill>
                  <a:srgbClr val="9AA0A6"/>
                </a:solidFill>
                <a:latin typeface="Google Sans Flex"/>
              </a:rPr>
              <a:t>Guidelines, 2023</a:t>
            </a:r>
          </a:p>
        </p:txBody>
      </p:sp>
      <p:sp>
        <p:nvSpPr>
          <p:cNvPr id="82" name="Rectangle 81"/>
          <p:cNvSpPr/>
          <p:nvPr/>
        </p:nvSpPr>
        <p:spPr>
          <a:xfrm>
            <a:off x="548640" y="4178808"/>
            <a:ext cx="45720" cy="402336"/>
          </a:xfrm>
          <a:prstGeom prst="rect">
            <a:avLst/>
          </a:prstGeom>
          <a:solidFill>
            <a:srgbClr val="C6F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704088" y="4142232"/>
            <a:ext cx="1143000" cy="457200"/>
          </a:xfrm>
          <a:prstGeom prst="rect">
            <a:avLst/>
          </a:prstGeom>
          <a:noFill/>
        </p:spPr>
        <p:txBody>
          <a:bodyPr wrap="square" lIns="0" rIns="0" tIns="0" bIns="0" anchor="ctr">
            <a:noAutofit/>
          </a:bodyPr>
          <a:lstStyle/>
          <a:p>
            <a:pPr algn="l">
              <a:lnSpc>
                <a:spcPct val="100000"/>
              </a:lnSpc>
              <a:spcAft>
                <a:spcPts val="0"/>
              </a:spcAft>
            </a:pPr>
            <a:r>
              <a:rPr sz="1700" b="1">
                <a:solidFill>
                  <a:srgbClr val="C6F432"/>
                </a:solidFill>
                <a:latin typeface="Google Sans Flex"/>
              </a:rPr>
              <a:t>26</a:t>
            </a:r>
          </a:p>
        </p:txBody>
      </p:sp>
      <p:sp>
        <p:nvSpPr>
          <p:cNvPr id="84" name="TextBox 83"/>
          <p:cNvSpPr txBox="1"/>
          <p:nvPr/>
        </p:nvSpPr>
        <p:spPr>
          <a:xfrm>
            <a:off x="1856231" y="4160520"/>
            <a:ext cx="2331720" cy="457200"/>
          </a:xfrm>
          <a:prstGeom prst="rect">
            <a:avLst/>
          </a:prstGeom>
          <a:noFill/>
        </p:spPr>
        <p:txBody>
          <a:bodyPr wrap="square" lIns="0" rIns="0" tIns="0" bIns="0" anchor="ctr">
            <a:noAutofit/>
          </a:bodyPr>
          <a:lstStyle/>
          <a:p>
            <a:pPr algn="l">
              <a:lnSpc>
                <a:spcPct val="100000"/>
              </a:lnSpc>
              <a:spcAft>
                <a:spcPts val="0"/>
              </a:spcAft>
            </a:pPr>
            <a:r>
              <a:rPr sz="1000" b="0">
                <a:solidFill>
                  <a:srgbClr val="FFFFFF"/>
                </a:solidFill>
                <a:latin typeface="Google Sans Flex"/>
              </a:rPr>
              <a:t>platforms self-declared no dark patterns</a:t>
            </a:r>
          </a:p>
          <a:p>
            <a:pPr algn="l">
              <a:lnSpc>
                <a:spcPct val="100000"/>
              </a:lnSpc>
              <a:spcAft>
                <a:spcPts val="0"/>
              </a:spcAft>
            </a:pPr>
            <a:r>
              <a:rPr sz="800" b="0">
                <a:solidFill>
                  <a:srgbClr val="9AA0A6"/>
                </a:solidFill>
                <a:latin typeface="Google Sans Flex"/>
              </a:rPr>
              <a:t>Self-audit declarations, Nov 2025</a:t>
            </a:r>
          </a:p>
        </p:txBody>
      </p:sp>
      <p:sp>
        <p:nvSpPr>
          <p:cNvPr id="85" name="Rounded Rectangle 84"/>
          <p:cNvSpPr/>
          <p:nvPr/>
        </p:nvSpPr>
        <p:spPr>
          <a:xfrm>
            <a:off x="4572000" y="1280160"/>
            <a:ext cx="868680" cy="237744"/>
          </a:xfrm>
          <a:prstGeom prst="roundRect">
            <a:avLst>
              <a:gd name="adj" fmla="val 50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00" b="1">
                <a:solidFill>
                  <a:srgbClr val="111111"/>
                </a:solidFill>
                <a:latin typeface="Google Sans Flex"/>
              </a:rPr>
              <a:t>THE IDEA</a:t>
            </a:r>
          </a:p>
        </p:txBody>
      </p:sp>
      <p:sp>
        <p:nvSpPr>
          <p:cNvPr id="86" name="TextBox 85"/>
          <p:cNvSpPr txBox="1"/>
          <p:nvPr/>
        </p:nvSpPr>
        <p:spPr>
          <a:xfrm>
            <a:off x="4572000" y="1591056"/>
            <a:ext cx="4251960" cy="713232"/>
          </a:xfrm>
          <a:prstGeom prst="rect">
            <a:avLst/>
          </a:prstGeom>
          <a:noFill/>
        </p:spPr>
        <p:txBody>
          <a:bodyPr wrap="square" lIns="0" rIns="0" tIns="0" bIns="0" anchor="t">
            <a:noAutofit/>
          </a:bodyPr>
          <a:lstStyle/>
          <a:p>
            <a:pPr algn="l">
              <a:lnSpc>
                <a:spcPct val="95000"/>
              </a:lnSpc>
              <a:spcAft>
                <a:spcPts val="0"/>
              </a:spcAft>
            </a:pPr>
            <a:r>
              <a:rPr sz="1900" b="1">
                <a:solidFill>
                  <a:srgbClr val="111111"/>
                </a:solidFill>
                <a:latin typeface="Google Sans Flex"/>
              </a:rPr>
              <a:t>AI agents audit your store, then help you fix what they find.</a:t>
            </a:r>
          </a:p>
        </p:txBody>
      </p:sp>
      <p:sp>
        <p:nvSpPr>
          <p:cNvPr id="87" name="Rounded Rectangle 86"/>
          <p:cNvSpPr/>
          <p:nvPr/>
        </p:nvSpPr>
        <p:spPr>
          <a:xfrm>
            <a:off x="4645152" y="2423160"/>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ounded Rectangle 87"/>
          <p:cNvSpPr/>
          <p:nvPr/>
        </p:nvSpPr>
        <p:spPr>
          <a:xfrm>
            <a:off x="4617720" y="2395728"/>
            <a:ext cx="475488" cy="475488"/>
          </a:xfrm>
          <a:prstGeom prst="roundRect">
            <a:avLst>
              <a:gd name="adj" fmla="val 24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9" name="Picture 88" descr="l-package-ink.png"/>
          <p:cNvPicPr>
            <a:picLocks noChangeAspect="1"/>
          </p:cNvPicPr>
          <p:nvPr/>
        </p:nvPicPr>
        <p:blipFill>
          <a:blip r:embed="rId4"/>
          <a:stretch>
            <a:fillRect/>
          </a:stretch>
        </p:blipFill>
        <p:spPr>
          <a:xfrm>
            <a:off x="4712817" y="2490825"/>
            <a:ext cx="285292" cy="285292"/>
          </a:xfrm>
          <a:prstGeom prst="rect">
            <a:avLst/>
          </a:prstGeom>
        </p:spPr>
      </p:pic>
      <p:sp>
        <p:nvSpPr>
          <p:cNvPr id="90" name="TextBox 89"/>
          <p:cNvSpPr txBox="1"/>
          <p:nvPr/>
        </p:nvSpPr>
        <p:spPr>
          <a:xfrm>
            <a:off x="4434840" y="2907792"/>
            <a:ext cx="841248" cy="182880"/>
          </a:xfrm>
          <a:prstGeom prst="rect">
            <a:avLst/>
          </a:prstGeom>
          <a:noFill/>
        </p:spPr>
        <p:txBody>
          <a:bodyPr wrap="square" lIns="0" rIns="0" tIns="0" bIns="0" anchor="t">
            <a:noAutofit/>
          </a:bodyPr>
          <a:lstStyle/>
          <a:p>
            <a:pPr algn="ctr">
              <a:lnSpc>
                <a:spcPct val="100000"/>
              </a:lnSpc>
              <a:spcAft>
                <a:spcPts val="0"/>
              </a:spcAft>
            </a:pPr>
            <a:r>
              <a:rPr sz="850" b="0">
                <a:solidFill>
                  <a:srgbClr val="111111"/>
                </a:solidFill>
                <a:latin typeface="Google Sans Flex SemiBold"/>
              </a:rPr>
              <a:t>Product</a:t>
            </a:r>
          </a:p>
        </p:txBody>
      </p:sp>
      <p:cxnSp>
        <p:nvCxnSpPr>
          <p:cNvPr id="91" name="Connector 90"/>
          <p:cNvCxnSpPr/>
          <p:nvPr/>
        </p:nvCxnSpPr>
        <p:spPr>
          <a:xfrm>
            <a:off x="5148072" y="2633472"/>
            <a:ext cx="292608"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Rounded Rectangle 91"/>
          <p:cNvSpPr/>
          <p:nvPr/>
        </p:nvSpPr>
        <p:spPr>
          <a:xfrm>
            <a:off x="5522976" y="2423160"/>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ounded Rectangle 92"/>
          <p:cNvSpPr/>
          <p:nvPr/>
        </p:nvSpPr>
        <p:spPr>
          <a:xfrm>
            <a:off x="5495544" y="2395728"/>
            <a:ext cx="475488" cy="475488"/>
          </a:xfrm>
          <a:prstGeom prst="roundRect">
            <a:avLst>
              <a:gd name="adj" fmla="val 24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4" name="Picture 93" descr="l-palette-ink.png"/>
          <p:cNvPicPr>
            <a:picLocks noChangeAspect="1"/>
          </p:cNvPicPr>
          <p:nvPr/>
        </p:nvPicPr>
        <p:blipFill>
          <a:blip r:embed="rId5"/>
          <a:stretch>
            <a:fillRect/>
          </a:stretch>
        </p:blipFill>
        <p:spPr>
          <a:xfrm>
            <a:off x="5590641" y="2490825"/>
            <a:ext cx="285292" cy="285292"/>
          </a:xfrm>
          <a:prstGeom prst="rect">
            <a:avLst/>
          </a:prstGeom>
        </p:spPr>
      </p:pic>
      <p:sp>
        <p:nvSpPr>
          <p:cNvPr id="95" name="TextBox 94"/>
          <p:cNvSpPr txBox="1"/>
          <p:nvPr/>
        </p:nvSpPr>
        <p:spPr>
          <a:xfrm>
            <a:off x="5312664" y="2907792"/>
            <a:ext cx="841248" cy="182880"/>
          </a:xfrm>
          <a:prstGeom prst="rect">
            <a:avLst/>
          </a:prstGeom>
          <a:noFill/>
        </p:spPr>
        <p:txBody>
          <a:bodyPr wrap="square" lIns="0" rIns="0" tIns="0" bIns="0" anchor="t">
            <a:noAutofit/>
          </a:bodyPr>
          <a:lstStyle/>
          <a:p>
            <a:pPr algn="ctr">
              <a:lnSpc>
                <a:spcPct val="100000"/>
              </a:lnSpc>
              <a:spcAft>
                <a:spcPts val="0"/>
              </a:spcAft>
            </a:pPr>
            <a:r>
              <a:rPr sz="850" b="0">
                <a:solidFill>
                  <a:srgbClr val="111111"/>
                </a:solidFill>
                <a:latin typeface="Google Sans Flex SemiBold"/>
              </a:rPr>
              <a:t>Variant</a:t>
            </a:r>
          </a:p>
        </p:txBody>
      </p:sp>
      <p:cxnSp>
        <p:nvCxnSpPr>
          <p:cNvPr id="96" name="Connector 95"/>
          <p:cNvCxnSpPr/>
          <p:nvPr/>
        </p:nvCxnSpPr>
        <p:spPr>
          <a:xfrm>
            <a:off x="6025896" y="2633472"/>
            <a:ext cx="292608"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Rounded Rectangle 96"/>
          <p:cNvSpPr/>
          <p:nvPr/>
        </p:nvSpPr>
        <p:spPr>
          <a:xfrm>
            <a:off x="6400800" y="2423160"/>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6373368" y="2395728"/>
            <a:ext cx="475488" cy="475488"/>
          </a:xfrm>
          <a:prstGeom prst="roundRect">
            <a:avLst>
              <a:gd name="adj" fmla="val 24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9" name="Picture 98" descr="l-shopping-cart-ink.png"/>
          <p:cNvPicPr>
            <a:picLocks noChangeAspect="1"/>
          </p:cNvPicPr>
          <p:nvPr/>
        </p:nvPicPr>
        <p:blipFill>
          <a:blip r:embed="rId6"/>
          <a:stretch>
            <a:fillRect/>
          </a:stretch>
        </p:blipFill>
        <p:spPr>
          <a:xfrm>
            <a:off x="6468465" y="2490825"/>
            <a:ext cx="285292" cy="285292"/>
          </a:xfrm>
          <a:prstGeom prst="rect">
            <a:avLst/>
          </a:prstGeom>
        </p:spPr>
      </p:pic>
      <p:sp>
        <p:nvSpPr>
          <p:cNvPr id="100" name="TextBox 99"/>
          <p:cNvSpPr txBox="1"/>
          <p:nvPr/>
        </p:nvSpPr>
        <p:spPr>
          <a:xfrm>
            <a:off x="6190488" y="2907792"/>
            <a:ext cx="841248" cy="182880"/>
          </a:xfrm>
          <a:prstGeom prst="rect">
            <a:avLst/>
          </a:prstGeom>
          <a:noFill/>
        </p:spPr>
        <p:txBody>
          <a:bodyPr wrap="square" lIns="0" rIns="0" tIns="0" bIns="0" anchor="t">
            <a:noAutofit/>
          </a:bodyPr>
          <a:lstStyle/>
          <a:p>
            <a:pPr algn="ctr">
              <a:lnSpc>
                <a:spcPct val="100000"/>
              </a:lnSpc>
              <a:spcAft>
                <a:spcPts val="0"/>
              </a:spcAft>
            </a:pPr>
            <a:r>
              <a:rPr sz="850" b="0">
                <a:solidFill>
                  <a:srgbClr val="111111"/>
                </a:solidFill>
                <a:latin typeface="Google Sans Flex SemiBold"/>
              </a:rPr>
              <a:t>Cart</a:t>
            </a:r>
          </a:p>
        </p:txBody>
      </p:sp>
      <p:cxnSp>
        <p:nvCxnSpPr>
          <p:cNvPr id="101" name="Connector 100"/>
          <p:cNvCxnSpPr/>
          <p:nvPr/>
        </p:nvCxnSpPr>
        <p:spPr>
          <a:xfrm>
            <a:off x="6903720" y="2633472"/>
            <a:ext cx="292608"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2" name="Rounded Rectangle 101"/>
          <p:cNvSpPr/>
          <p:nvPr/>
        </p:nvSpPr>
        <p:spPr>
          <a:xfrm>
            <a:off x="7278624" y="2423160"/>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ounded Rectangle 102"/>
          <p:cNvSpPr/>
          <p:nvPr/>
        </p:nvSpPr>
        <p:spPr>
          <a:xfrm>
            <a:off x="7251192" y="2395728"/>
            <a:ext cx="475488" cy="475488"/>
          </a:xfrm>
          <a:prstGeom prst="roundRect">
            <a:avLst>
              <a:gd name="adj" fmla="val 24000"/>
            </a:avLst>
          </a:prstGeom>
          <a:solidFill>
            <a:srgbClr val="FFB38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4" name="Picture 103" descr="l-clipboard-list-ink.png"/>
          <p:cNvPicPr>
            <a:picLocks noChangeAspect="1"/>
          </p:cNvPicPr>
          <p:nvPr/>
        </p:nvPicPr>
        <p:blipFill>
          <a:blip r:embed="rId7"/>
          <a:stretch>
            <a:fillRect/>
          </a:stretch>
        </p:blipFill>
        <p:spPr>
          <a:xfrm>
            <a:off x="7346289" y="2490825"/>
            <a:ext cx="285292" cy="285292"/>
          </a:xfrm>
          <a:prstGeom prst="rect">
            <a:avLst/>
          </a:prstGeom>
        </p:spPr>
      </p:pic>
      <p:sp>
        <p:nvSpPr>
          <p:cNvPr id="105" name="TextBox 104"/>
          <p:cNvSpPr txBox="1"/>
          <p:nvPr/>
        </p:nvSpPr>
        <p:spPr>
          <a:xfrm>
            <a:off x="7068312" y="2907792"/>
            <a:ext cx="841248" cy="182880"/>
          </a:xfrm>
          <a:prstGeom prst="rect">
            <a:avLst/>
          </a:prstGeom>
          <a:noFill/>
        </p:spPr>
        <p:txBody>
          <a:bodyPr wrap="square" lIns="0" rIns="0" tIns="0" bIns="0" anchor="t">
            <a:noAutofit/>
          </a:bodyPr>
          <a:lstStyle/>
          <a:p>
            <a:pPr algn="ctr">
              <a:lnSpc>
                <a:spcPct val="100000"/>
              </a:lnSpc>
              <a:spcAft>
                <a:spcPts val="0"/>
              </a:spcAft>
            </a:pPr>
            <a:r>
              <a:rPr sz="850" b="0">
                <a:solidFill>
                  <a:srgbClr val="111111"/>
                </a:solidFill>
                <a:latin typeface="Google Sans Flex SemiBold"/>
              </a:rPr>
              <a:t>Checkout</a:t>
            </a:r>
          </a:p>
        </p:txBody>
      </p:sp>
      <p:cxnSp>
        <p:nvCxnSpPr>
          <p:cNvPr id="106" name="Connector 105"/>
          <p:cNvCxnSpPr/>
          <p:nvPr/>
        </p:nvCxnSpPr>
        <p:spPr>
          <a:xfrm>
            <a:off x="7781544" y="2633472"/>
            <a:ext cx="292608"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8156448" y="2423160"/>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8129016" y="2395728"/>
            <a:ext cx="475488" cy="475488"/>
          </a:xfrm>
          <a:prstGeom prst="roundRect">
            <a:avLst>
              <a:gd name="adj" fmla="val 24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9" name="Picture 108" descr="l-credit-card-ink.png"/>
          <p:cNvPicPr>
            <a:picLocks noChangeAspect="1"/>
          </p:cNvPicPr>
          <p:nvPr/>
        </p:nvPicPr>
        <p:blipFill>
          <a:blip r:embed="rId8"/>
          <a:stretch>
            <a:fillRect/>
          </a:stretch>
        </p:blipFill>
        <p:spPr>
          <a:xfrm>
            <a:off x="8224113" y="2490825"/>
            <a:ext cx="285292" cy="285292"/>
          </a:xfrm>
          <a:prstGeom prst="rect">
            <a:avLst/>
          </a:prstGeom>
        </p:spPr>
      </p:pic>
      <p:sp>
        <p:nvSpPr>
          <p:cNvPr id="110" name="TextBox 109"/>
          <p:cNvSpPr txBox="1"/>
          <p:nvPr/>
        </p:nvSpPr>
        <p:spPr>
          <a:xfrm>
            <a:off x="7946136" y="2907792"/>
            <a:ext cx="841248" cy="182880"/>
          </a:xfrm>
          <a:prstGeom prst="rect">
            <a:avLst/>
          </a:prstGeom>
          <a:noFill/>
        </p:spPr>
        <p:txBody>
          <a:bodyPr wrap="square" lIns="0" rIns="0" tIns="0" bIns="0" anchor="t">
            <a:noAutofit/>
          </a:bodyPr>
          <a:lstStyle/>
          <a:p>
            <a:pPr algn="ctr">
              <a:lnSpc>
                <a:spcPct val="100000"/>
              </a:lnSpc>
              <a:spcAft>
                <a:spcPts val="0"/>
              </a:spcAft>
            </a:pPr>
            <a:r>
              <a:rPr sz="850" b="0">
                <a:solidFill>
                  <a:srgbClr val="111111"/>
                </a:solidFill>
                <a:latin typeface="Google Sans Flex SemiBold"/>
              </a:rPr>
              <a:t>Payment</a:t>
            </a:r>
          </a:p>
        </p:txBody>
      </p:sp>
      <p:sp>
        <p:nvSpPr>
          <p:cNvPr id="111" name="TextBox 110"/>
          <p:cNvSpPr txBox="1"/>
          <p:nvPr/>
        </p:nvSpPr>
        <p:spPr>
          <a:xfrm>
            <a:off x="4572000" y="3218688"/>
            <a:ext cx="4206240" cy="201168"/>
          </a:xfrm>
          <a:prstGeom prst="rect">
            <a:avLst/>
          </a:prstGeom>
          <a:noFill/>
        </p:spPr>
        <p:txBody>
          <a:bodyPr wrap="square" lIns="0" rIns="0" tIns="0" bIns="0" anchor="t">
            <a:noAutofit/>
          </a:bodyPr>
          <a:lstStyle/>
          <a:p>
            <a:pPr algn="l">
              <a:lnSpc>
                <a:spcPct val="100000"/>
              </a:lnSpc>
              <a:spcAft>
                <a:spcPts val="0"/>
              </a:spcAft>
            </a:pPr>
            <a:r>
              <a:rPr sz="950" b="0">
                <a:solidFill>
                  <a:srgbClr val="5F6368"/>
                </a:solidFill>
                <a:latin typeface="Google Sans Flex Medium"/>
              </a:rPr>
              <a:t>Every finding comes with</a:t>
            </a:r>
          </a:p>
        </p:txBody>
      </p:sp>
      <p:sp>
        <p:nvSpPr>
          <p:cNvPr id="112" name="Rounded Rectangle 111"/>
          <p:cNvSpPr/>
          <p:nvPr/>
        </p:nvSpPr>
        <p:spPr>
          <a:xfrm>
            <a:off x="4604004" y="3506724"/>
            <a:ext cx="2029968" cy="4572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ounded Rectangle 112"/>
          <p:cNvSpPr/>
          <p:nvPr/>
        </p:nvSpPr>
        <p:spPr>
          <a:xfrm>
            <a:off x="4572000" y="3474720"/>
            <a:ext cx="2029968" cy="457200"/>
          </a:xfrm>
          <a:prstGeom prst="roundRect">
            <a:avLst>
              <a:gd name="adj" fmla="val 20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4" name="Picture 113" descr="l-scan-eye-ink.png"/>
          <p:cNvPicPr>
            <a:picLocks noChangeAspect="1"/>
          </p:cNvPicPr>
          <p:nvPr/>
        </p:nvPicPr>
        <p:blipFill>
          <a:blip r:embed="rId9"/>
          <a:stretch>
            <a:fillRect/>
          </a:stretch>
        </p:blipFill>
        <p:spPr>
          <a:xfrm>
            <a:off x="4681728" y="3575303"/>
            <a:ext cx="256032" cy="256032"/>
          </a:xfrm>
          <a:prstGeom prst="rect">
            <a:avLst/>
          </a:prstGeom>
        </p:spPr>
      </p:pic>
      <p:sp>
        <p:nvSpPr>
          <p:cNvPr id="115" name="TextBox 114"/>
          <p:cNvSpPr txBox="1"/>
          <p:nvPr/>
        </p:nvSpPr>
        <p:spPr>
          <a:xfrm>
            <a:off x="5029200" y="3474720"/>
            <a:ext cx="1536192" cy="457200"/>
          </a:xfrm>
          <a:prstGeom prst="rect">
            <a:avLst/>
          </a:prstGeom>
          <a:noFill/>
        </p:spPr>
        <p:txBody>
          <a:bodyPr wrap="square" lIns="0" rIns="0" tIns="0" bIns="0" anchor="ctr">
            <a:noAutofit/>
          </a:bodyPr>
          <a:lstStyle/>
          <a:p>
            <a:pPr algn="l">
              <a:lnSpc>
                <a:spcPct val="100000"/>
              </a:lnSpc>
              <a:spcAft>
                <a:spcPts val="0"/>
              </a:spcAft>
            </a:pPr>
            <a:r>
              <a:rPr sz="1050" b="0">
                <a:solidFill>
                  <a:srgbClr val="111111"/>
                </a:solidFill>
                <a:latin typeface="Google Sans Flex SemiBold"/>
              </a:rPr>
              <a:t>Screenshot evidence</a:t>
            </a:r>
          </a:p>
        </p:txBody>
      </p:sp>
      <p:sp>
        <p:nvSpPr>
          <p:cNvPr id="116" name="Rounded Rectangle 115"/>
          <p:cNvSpPr/>
          <p:nvPr/>
        </p:nvSpPr>
        <p:spPr>
          <a:xfrm>
            <a:off x="6752844" y="3506724"/>
            <a:ext cx="2029968" cy="4572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ounded Rectangle 116"/>
          <p:cNvSpPr/>
          <p:nvPr/>
        </p:nvSpPr>
        <p:spPr>
          <a:xfrm>
            <a:off x="6720840" y="3474720"/>
            <a:ext cx="2029968" cy="457200"/>
          </a:xfrm>
          <a:prstGeom prst="roundRect">
            <a:avLst>
              <a:gd name="adj" fmla="val 20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8" name="Picture 117" descr="l-scale-ink.png"/>
          <p:cNvPicPr>
            <a:picLocks noChangeAspect="1"/>
          </p:cNvPicPr>
          <p:nvPr/>
        </p:nvPicPr>
        <p:blipFill>
          <a:blip r:embed="rId10"/>
          <a:stretch>
            <a:fillRect/>
          </a:stretch>
        </p:blipFill>
        <p:spPr>
          <a:xfrm>
            <a:off x="6830568" y="3575303"/>
            <a:ext cx="256032" cy="256032"/>
          </a:xfrm>
          <a:prstGeom prst="rect">
            <a:avLst/>
          </a:prstGeom>
        </p:spPr>
      </p:pic>
      <p:sp>
        <p:nvSpPr>
          <p:cNvPr id="119" name="TextBox 118"/>
          <p:cNvSpPr txBox="1"/>
          <p:nvPr/>
        </p:nvSpPr>
        <p:spPr>
          <a:xfrm>
            <a:off x="7178040" y="3474720"/>
            <a:ext cx="1536192" cy="457200"/>
          </a:xfrm>
          <a:prstGeom prst="rect">
            <a:avLst/>
          </a:prstGeom>
          <a:noFill/>
        </p:spPr>
        <p:txBody>
          <a:bodyPr wrap="square" lIns="0" rIns="0" tIns="0" bIns="0" anchor="ctr">
            <a:noAutofit/>
          </a:bodyPr>
          <a:lstStyle/>
          <a:p>
            <a:pPr algn="l">
              <a:lnSpc>
                <a:spcPct val="100000"/>
              </a:lnSpc>
              <a:spcAft>
                <a:spcPts val="0"/>
              </a:spcAft>
            </a:pPr>
            <a:r>
              <a:rPr sz="1050" b="0">
                <a:solidFill>
                  <a:srgbClr val="111111"/>
                </a:solidFill>
                <a:latin typeface="Google Sans Flex SemiBold"/>
              </a:rPr>
              <a:t>Relevant consumer rules</a:t>
            </a:r>
          </a:p>
        </p:txBody>
      </p:sp>
      <p:sp>
        <p:nvSpPr>
          <p:cNvPr id="120" name="Rounded Rectangle 119"/>
          <p:cNvSpPr/>
          <p:nvPr/>
        </p:nvSpPr>
        <p:spPr>
          <a:xfrm>
            <a:off x="4604004" y="4073652"/>
            <a:ext cx="2029968" cy="4572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ounded Rectangle 120"/>
          <p:cNvSpPr/>
          <p:nvPr/>
        </p:nvSpPr>
        <p:spPr>
          <a:xfrm>
            <a:off x="4572000" y="4041648"/>
            <a:ext cx="2029968" cy="457200"/>
          </a:xfrm>
          <a:prstGeom prst="roundRect">
            <a:avLst>
              <a:gd name="adj" fmla="val 20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2" name="Picture 121" descr="l-indian-rupee-ink.png"/>
          <p:cNvPicPr>
            <a:picLocks noChangeAspect="1"/>
          </p:cNvPicPr>
          <p:nvPr/>
        </p:nvPicPr>
        <p:blipFill>
          <a:blip r:embed="rId11"/>
          <a:stretch>
            <a:fillRect/>
          </a:stretch>
        </p:blipFill>
        <p:spPr>
          <a:xfrm>
            <a:off x="4681728" y="4142232"/>
            <a:ext cx="256032" cy="256032"/>
          </a:xfrm>
          <a:prstGeom prst="rect">
            <a:avLst/>
          </a:prstGeom>
        </p:spPr>
      </p:pic>
      <p:sp>
        <p:nvSpPr>
          <p:cNvPr id="123" name="TextBox 122"/>
          <p:cNvSpPr txBox="1"/>
          <p:nvPr/>
        </p:nvSpPr>
        <p:spPr>
          <a:xfrm>
            <a:off x="5029200" y="4041648"/>
            <a:ext cx="1536192" cy="457200"/>
          </a:xfrm>
          <a:prstGeom prst="rect">
            <a:avLst/>
          </a:prstGeom>
          <a:noFill/>
        </p:spPr>
        <p:txBody>
          <a:bodyPr wrap="square" lIns="0" rIns="0" tIns="0" bIns="0" anchor="ctr">
            <a:noAutofit/>
          </a:bodyPr>
          <a:lstStyle/>
          <a:p>
            <a:pPr algn="l">
              <a:lnSpc>
                <a:spcPct val="100000"/>
              </a:lnSpc>
              <a:spcAft>
                <a:spcPts val="0"/>
              </a:spcAft>
            </a:pPr>
            <a:r>
              <a:rPr sz="1050" b="0">
                <a:solidFill>
                  <a:srgbClr val="111111"/>
                </a:solidFill>
                <a:latin typeface="Google Sans Flex SemiBold"/>
              </a:rPr>
              <a:t>What it really costs</a:t>
            </a:r>
          </a:p>
        </p:txBody>
      </p:sp>
      <p:sp>
        <p:nvSpPr>
          <p:cNvPr id="124" name="Rounded Rectangle 123"/>
          <p:cNvSpPr/>
          <p:nvPr/>
        </p:nvSpPr>
        <p:spPr>
          <a:xfrm>
            <a:off x="6752844" y="4073652"/>
            <a:ext cx="2029968" cy="4572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ounded Rectangle 124"/>
          <p:cNvSpPr/>
          <p:nvPr/>
        </p:nvSpPr>
        <p:spPr>
          <a:xfrm>
            <a:off x="6720840" y="4041648"/>
            <a:ext cx="2029968" cy="457200"/>
          </a:xfrm>
          <a:prstGeom prst="roundRect">
            <a:avLst>
              <a:gd name="adj" fmla="val 20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6" name="Picture 125" descr="l-sparkles-ink.png"/>
          <p:cNvPicPr>
            <a:picLocks noChangeAspect="1"/>
          </p:cNvPicPr>
          <p:nvPr/>
        </p:nvPicPr>
        <p:blipFill>
          <a:blip r:embed="rId12"/>
          <a:stretch>
            <a:fillRect/>
          </a:stretch>
        </p:blipFill>
        <p:spPr>
          <a:xfrm>
            <a:off x="6830568" y="4142232"/>
            <a:ext cx="256032" cy="256032"/>
          </a:xfrm>
          <a:prstGeom prst="rect">
            <a:avLst/>
          </a:prstGeom>
        </p:spPr>
      </p:pic>
      <p:sp>
        <p:nvSpPr>
          <p:cNvPr id="127" name="TextBox 126"/>
          <p:cNvSpPr txBox="1"/>
          <p:nvPr/>
        </p:nvSpPr>
        <p:spPr>
          <a:xfrm>
            <a:off x="7178040" y="4041648"/>
            <a:ext cx="1536192" cy="457200"/>
          </a:xfrm>
          <a:prstGeom prst="rect">
            <a:avLst/>
          </a:prstGeom>
          <a:noFill/>
        </p:spPr>
        <p:txBody>
          <a:bodyPr wrap="square" lIns="0" rIns="0" tIns="0" bIns="0" anchor="ctr">
            <a:noAutofit/>
          </a:bodyPr>
          <a:lstStyle/>
          <a:p>
            <a:pPr algn="l">
              <a:lnSpc>
                <a:spcPct val="100000"/>
              </a:lnSpc>
              <a:spcAft>
                <a:spcPts val="0"/>
              </a:spcAft>
            </a:pPr>
            <a:r>
              <a:rPr sz="1050" b="0">
                <a:solidFill>
                  <a:srgbClr val="111111"/>
                </a:solidFill>
                <a:latin typeface="Google Sans Flex SemiBold"/>
              </a:rPr>
              <a:t>A fix, then proof</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sp>
        <p:nvSpPr>
          <p:cNvPr id="80" name="Rounded Rectangle 79"/>
          <p:cNvSpPr/>
          <p:nvPr/>
        </p:nvSpPr>
        <p:spPr>
          <a:xfrm>
            <a:off x="365759" y="1307592"/>
            <a:ext cx="2743200" cy="3017520"/>
          </a:xfrm>
          <a:prstGeom prst="roundRect">
            <a:avLst>
              <a:gd name="adj" fmla="val 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ounded Rectangle 80"/>
          <p:cNvSpPr/>
          <p:nvPr/>
        </p:nvSpPr>
        <p:spPr>
          <a:xfrm>
            <a:off x="320040" y="1261872"/>
            <a:ext cx="2743200" cy="3017520"/>
          </a:xfrm>
          <a:prstGeom prst="roundRect">
            <a:avLst>
              <a:gd name="adj" fmla="val 4000"/>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ounded Rectangle 81"/>
          <p:cNvSpPr/>
          <p:nvPr/>
        </p:nvSpPr>
        <p:spPr>
          <a:xfrm>
            <a:off x="320040" y="1261872"/>
            <a:ext cx="2743200" cy="566928"/>
          </a:xfrm>
          <a:prstGeom prst="roundRect">
            <a:avLst>
              <a:gd name="adj" fmla="val 19354"/>
            </a:avLst>
          </a:prstGeom>
          <a:solidFill>
            <a:srgbClr val="C4B5FD"/>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329184" y="1645920"/>
            <a:ext cx="2724912" cy="182880"/>
          </a:xfrm>
          <a:prstGeom prst="rect">
            <a:avLst/>
          </a:prstGeom>
          <a:solidFill>
            <a:srgbClr val="C4B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4" name="Connector 83"/>
          <p:cNvCxnSpPr/>
          <p:nvPr/>
        </p:nvCxnSpPr>
        <p:spPr>
          <a:xfrm>
            <a:off x="320040" y="1828800"/>
            <a:ext cx="274320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448056" y="1399032"/>
            <a:ext cx="292608" cy="292608"/>
          </a:xfrm>
          <a:prstGeom prst="ellipse">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448056" y="1399032"/>
            <a:ext cx="292608" cy="292608"/>
          </a:xfrm>
          <a:prstGeom prst="rect">
            <a:avLst/>
          </a:prstGeom>
          <a:noFill/>
        </p:spPr>
        <p:txBody>
          <a:bodyPr wrap="square" lIns="0" rIns="0" tIns="0" bIns="0" anchor="ctr">
            <a:noAutofit/>
          </a:bodyPr>
          <a:lstStyle/>
          <a:p>
            <a:pPr algn="ctr">
              <a:lnSpc>
                <a:spcPct val="100000"/>
              </a:lnSpc>
              <a:spcAft>
                <a:spcPts val="0"/>
              </a:spcAft>
            </a:pPr>
            <a:r>
              <a:rPr sz="1100" b="1">
                <a:solidFill>
                  <a:srgbClr val="111111"/>
                </a:solidFill>
                <a:latin typeface="Google Sans Flex"/>
              </a:rPr>
              <a:t>1</a:t>
            </a:r>
          </a:p>
        </p:txBody>
      </p:sp>
      <p:sp>
        <p:nvSpPr>
          <p:cNvPr id="87" name="TextBox 86"/>
          <p:cNvSpPr txBox="1"/>
          <p:nvPr/>
        </p:nvSpPr>
        <p:spPr>
          <a:xfrm>
            <a:off x="832104" y="1298448"/>
            <a:ext cx="2148840" cy="493776"/>
          </a:xfrm>
          <a:prstGeom prst="rect">
            <a:avLst/>
          </a:prstGeom>
          <a:noFill/>
        </p:spPr>
        <p:txBody>
          <a:bodyPr wrap="square" lIns="0" rIns="0" tIns="0" bIns="0" anchor="ctr">
            <a:noAutofit/>
          </a:bodyPr>
          <a:lstStyle/>
          <a:p>
            <a:pPr algn="l">
              <a:lnSpc>
                <a:spcPct val="95000"/>
              </a:lnSpc>
              <a:spcAft>
                <a:spcPts val="0"/>
              </a:spcAft>
            </a:pPr>
            <a:r>
              <a:rPr sz="1050" b="0">
                <a:solidFill>
                  <a:srgbClr val="111111"/>
                </a:solidFill>
                <a:latin typeface="Google Sans Flex SemiBold"/>
              </a:rPr>
              <a:t>What makes it different?</a:t>
            </a:r>
          </a:p>
        </p:txBody>
      </p:sp>
      <p:sp>
        <p:nvSpPr>
          <p:cNvPr id="88" name="TextBox 87"/>
          <p:cNvSpPr txBox="1"/>
          <p:nvPr/>
        </p:nvSpPr>
        <p:spPr>
          <a:xfrm>
            <a:off x="466344" y="1984248"/>
            <a:ext cx="2468880" cy="2240280"/>
          </a:xfrm>
          <a:prstGeom prst="rect">
            <a:avLst/>
          </a:prstGeom>
          <a:noFill/>
        </p:spPr>
        <p:txBody>
          <a:bodyPr wrap="square" lIns="0" rIns="0" tIns="0" bIns="0" anchor="t">
            <a:noAutofit/>
          </a:bodyPr>
          <a:lstStyle/>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Walks the whole journey </a:t>
            </a:r>
            <a:r>
              <a:rPr sz="1050" b="0">
                <a:solidFill>
                  <a:srgbClr val="111111"/>
                </a:solidFill>
                <a:latin typeface="Google Sans Flex"/>
              </a:rPr>
              <a:t>in a real browser, from product to payment.</a:t>
            </a:r>
          </a:p>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Measures, doesn't guess: </a:t>
            </a:r>
            <a:r>
              <a:rPr sz="1050" b="0">
                <a:solidFill>
                  <a:srgbClr val="111111"/>
                </a:solidFill>
                <a:latin typeface="Google Sans Flex"/>
              </a:rPr>
              <a:t>reloads to catch restarting timers, compares cart with page, spots fees that appear only at payment.</a:t>
            </a:r>
          </a:p>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Checks the MRP </a:t>
            </a:r>
            <a:r>
              <a:rPr sz="1050" b="0">
                <a:solidFill>
                  <a:srgbClr val="111111"/>
                </a:solidFill>
                <a:latin typeface="Google Sans Flex"/>
              </a:rPr>
              <a:t>against real price history in BigQuery.</a:t>
            </a:r>
          </a:p>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Fixes, then proves it: </a:t>
            </a:r>
            <a:r>
              <a:rPr sz="1050" b="0">
                <a:solidFill>
                  <a:srgbClr val="111111"/>
                </a:solidFill>
                <a:latin typeface="Google Sans Flex"/>
              </a:rPr>
              <a:t>verifies demo fixes. Real sites get a developer fix list.</a:t>
            </a:r>
          </a:p>
        </p:txBody>
      </p:sp>
      <p:sp>
        <p:nvSpPr>
          <p:cNvPr id="89" name="Rounded Rectangle 88"/>
          <p:cNvSpPr/>
          <p:nvPr/>
        </p:nvSpPr>
        <p:spPr>
          <a:xfrm>
            <a:off x="3246120" y="1307592"/>
            <a:ext cx="2743200" cy="3017520"/>
          </a:xfrm>
          <a:prstGeom prst="roundRect">
            <a:avLst>
              <a:gd name="adj" fmla="val 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ounded Rectangle 89"/>
          <p:cNvSpPr/>
          <p:nvPr/>
        </p:nvSpPr>
        <p:spPr>
          <a:xfrm>
            <a:off x="3200400" y="1261872"/>
            <a:ext cx="2743200" cy="3017520"/>
          </a:xfrm>
          <a:prstGeom prst="roundRect">
            <a:avLst>
              <a:gd name="adj" fmla="val 4000"/>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ounded Rectangle 90"/>
          <p:cNvSpPr/>
          <p:nvPr/>
        </p:nvSpPr>
        <p:spPr>
          <a:xfrm>
            <a:off x="3200400" y="1261872"/>
            <a:ext cx="2743200" cy="566928"/>
          </a:xfrm>
          <a:prstGeom prst="roundRect">
            <a:avLst>
              <a:gd name="adj" fmla="val 19354"/>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3209544" y="1645920"/>
            <a:ext cx="2724912" cy="182880"/>
          </a:xfrm>
          <a:prstGeom prst="rect">
            <a:avLst/>
          </a:prstGeom>
          <a:solidFill>
            <a:srgbClr val="FFD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3" name="Connector 92"/>
          <p:cNvCxnSpPr/>
          <p:nvPr/>
        </p:nvCxnSpPr>
        <p:spPr>
          <a:xfrm>
            <a:off x="3200400" y="1828800"/>
            <a:ext cx="274320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3328416" y="1399032"/>
            <a:ext cx="292608" cy="292608"/>
          </a:xfrm>
          <a:prstGeom prst="ellipse">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3328416" y="1399032"/>
            <a:ext cx="292608" cy="292608"/>
          </a:xfrm>
          <a:prstGeom prst="rect">
            <a:avLst/>
          </a:prstGeom>
          <a:noFill/>
        </p:spPr>
        <p:txBody>
          <a:bodyPr wrap="square" lIns="0" rIns="0" tIns="0" bIns="0" anchor="ctr">
            <a:noAutofit/>
          </a:bodyPr>
          <a:lstStyle/>
          <a:p>
            <a:pPr algn="ctr">
              <a:lnSpc>
                <a:spcPct val="100000"/>
              </a:lnSpc>
              <a:spcAft>
                <a:spcPts val="0"/>
              </a:spcAft>
            </a:pPr>
            <a:r>
              <a:rPr sz="1100" b="1">
                <a:solidFill>
                  <a:srgbClr val="111111"/>
                </a:solidFill>
                <a:latin typeface="Google Sans Flex"/>
              </a:rPr>
              <a:t>2</a:t>
            </a:r>
          </a:p>
        </p:txBody>
      </p:sp>
      <p:sp>
        <p:nvSpPr>
          <p:cNvPr id="96" name="TextBox 95"/>
          <p:cNvSpPr txBox="1"/>
          <p:nvPr/>
        </p:nvSpPr>
        <p:spPr>
          <a:xfrm>
            <a:off x="3712464" y="1298448"/>
            <a:ext cx="2148840" cy="493776"/>
          </a:xfrm>
          <a:prstGeom prst="rect">
            <a:avLst/>
          </a:prstGeom>
          <a:noFill/>
        </p:spPr>
        <p:txBody>
          <a:bodyPr wrap="square" lIns="0" rIns="0" tIns="0" bIns="0" anchor="ctr">
            <a:noAutofit/>
          </a:bodyPr>
          <a:lstStyle/>
          <a:p>
            <a:pPr algn="l">
              <a:lnSpc>
                <a:spcPct val="95000"/>
              </a:lnSpc>
              <a:spcAft>
                <a:spcPts val="0"/>
              </a:spcAft>
            </a:pPr>
            <a:r>
              <a:rPr sz="1050" b="0">
                <a:solidFill>
                  <a:srgbClr val="111111"/>
                </a:solidFill>
                <a:latin typeface="Google Sans Flex SemiBold"/>
              </a:rPr>
              <a:t>Who benefits and who pays?</a:t>
            </a:r>
          </a:p>
        </p:txBody>
      </p:sp>
      <p:sp>
        <p:nvSpPr>
          <p:cNvPr id="97" name="TextBox 96"/>
          <p:cNvSpPr txBox="1"/>
          <p:nvPr/>
        </p:nvSpPr>
        <p:spPr>
          <a:xfrm>
            <a:off x="3346704" y="1984248"/>
            <a:ext cx="2468880" cy="2240280"/>
          </a:xfrm>
          <a:prstGeom prst="rect">
            <a:avLst/>
          </a:prstGeom>
          <a:noFill/>
        </p:spPr>
        <p:txBody>
          <a:bodyPr wrap="square" lIns="0" rIns="0" tIns="0" bIns="0" anchor="t">
            <a:noAutofit/>
          </a:bodyPr>
          <a:lstStyle/>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Platforms: </a:t>
            </a:r>
            <a:r>
              <a:rPr sz="1050" b="0">
                <a:solidFill>
                  <a:srgbClr val="111111"/>
                </a:solidFill>
                <a:latin typeface="Google Sans Flex"/>
              </a:rPr>
              <a:t>a real self-audit, not a self-declaration: find, fix and prove it before the regulator does.</a:t>
            </a:r>
          </a:p>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Regulators &amp; consumer groups: </a:t>
            </a:r>
            <a:r>
              <a:rPr sz="1050" b="0">
                <a:solidFill>
                  <a:srgbClr val="111111"/>
                </a:solidFill>
                <a:latin typeface="Google Sans Flex"/>
              </a:rPr>
              <a:t>evidence at scale, with screenshots, rules and ₹ impact.</a:t>
            </a:r>
          </a:p>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Shoppers: </a:t>
            </a:r>
            <a:r>
              <a:rPr sz="1050" b="0">
                <a:solidFill>
                  <a:srgbClr val="111111"/>
                </a:solidFill>
                <a:latin typeface="Google Sans Flex"/>
              </a:rPr>
              <a:t>see the real price and every trick before paying.</a:t>
            </a:r>
          </a:p>
          <a:p>
            <a:pPr algn="l">
              <a:lnSpc>
                <a:spcPct val="105000"/>
              </a:lnSpc>
              <a:spcAft>
                <a:spcPts val="1000"/>
              </a:spcAft>
            </a:pPr>
            <a:r>
              <a:rPr sz="850" b="0">
                <a:solidFill>
                  <a:srgbClr val="111111"/>
                </a:solidFill>
                <a:latin typeface="Google Sans Flex"/>
              </a:rPr>
              <a:t>■  </a:t>
            </a:r>
            <a:r>
              <a:rPr sz="1050" b="1">
                <a:solidFill>
                  <a:srgbClr val="111111"/>
                </a:solidFill>
                <a:latin typeface="Google Sans Flex"/>
              </a:rPr>
              <a:t>Proposed pricing: </a:t>
            </a:r>
            <a:r>
              <a:rPr sz="1050" b="0">
                <a:solidFill>
                  <a:srgbClr val="111111"/>
                </a:solidFill>
                <a:latin typeface="Google Sans Flex"/>
              </a:rPr>
              <a:t>platforms pay per monitored product, with free access for consumer groups and regulators.</a:t>
            </a:r>
          </a:p>
        </p:txBody>
      </p:sp>
      <p:sp>
        <p:nvSpPr>
          <p:cNvPr id="98" name="Rounded Rectangle 97"/>
          <p:cNvSpPr/>
          <p:nvPr/>
        </p:nvSpPr>
        <p:spPr>
          <a:xfrm>
            <a:off x="6126479" y="1307592"/>
            <a:ext cx="2743200" cy="3017520"/>
          </a:xfrm>
          <a:prstGeom prst="roundRect">
            <a:avLst>
              <a:gd name="adj" fmla="val 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ounded Rectangle 98"/>
          <p:cNvSpPr/>
          <p:nvPr/>
        </p:nvSpPr>
        <p:spPr>
          <a:xfrm>
            <a:off x="6080759" y="1261872"/>
            <a:ext cx="2743200" cy="3017520"/>
          </a:xfrm>
          <a:prstGeom prst="roundRect">
            <a:avLst>
              <a:gd name="adj" fmla="val 4000"/>
            </a:avLst>
          </a:prstGeom>
          <a:solidFill>
            <a:srgbClr val="FFF0F7"/>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ounded Rectangle 99"/>
          <p:cNvSpPr/>
          <p:nvPr/>
        </p:nvSpPr>
        <p:spPr>
          <a:xfrm>
            <a:off x="6080759" y="1261872"/>
            <a:ext cx="2743200" cy="566928"/>
          </a:xfrm>
          <a:prstGeom prst="roundRect">
            <a:avLst>
              <a:gd name="adj" fmla="val 19354"/>
            </a:avLst>
          </a:prstGeom>
          <a:solidFill>
            <a:srgbClr val="FF5CA8"/>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6089903" y="1645920"/>
            <a:ext cx="2724912" cy="182880"/>
          </a:xfrm>
          <a:prstGeom prst="rect">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2" name="Connector 101"/>
          <p:cNvCxnSpPr/>
          <p:nvPr/>
        </p:nvCxnSpPr>
        <p:spPr>
          <a:xfrm>
            <a:off x="6080759" y="1828800"/>
            <a:ext cx="274320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sp>
        <p:nvSpPr>
          <p:cNvPr id="103" name="Oval 102"/>
          <p:cNvSpPr/>
          <p:nvPr/>
        </p:nvSpPr>
        <p:spPr>
          <a:xfrm>
            <a:off x="6208775" y="1399032"/>
            <a:ext cx="292608" cy="292608"/>
          </a:xfrm>
          <a:prstGeom prst="ellipse">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6208775" y="1399032"/>
            <a:ext cx="292608" cy="292608"/>
          </a:xfrm>
          <a:prstGeom prst="rect">
            <a:avLst/>
          </a:prstGeom>
          <a:noFill/>
        </p:spPr>
        <p:txBody>
          <a:bodyPr wrap="square" lIns="0" rIns="0" tIns="0" bIns="0" anchor="ctr">
            <a:noAutofit/>
          </a:bodyPr>
          <a:lstStyle/>
          <a:p>
            <a:pPr algn="ctr">
              <a:lnSpc>
                <a:spcPct val="100000"/>
              </a:lnSpc>
              <a:spcAft>
                <a:spcPts val="0"/>
              </a:spcAft>
            </a:pPr>
            <a:r>
              <a:rPr sz="1100" b="1">
                <a:solidFill>
                  <a:srgbClr val="111111"/>
                </a:solidFill>
                <a:latin typeface="Google Sans Flex"/>
              </a:rPr>
              <a:t>3</a:t>
            </a:r>
          </a:p>
        </p:txBody>
      </p:sp>
      <p:sp>
        <p:nvSpPr>
          <p:cNvPr id="105" name="TextBox 104"/>
          <p:cNvSpPr txBox="1"/>
          <p:nvPr/>
        </p:nvSpPr>
        <p:spPr>
          <a:xfrm>
            <a:off x="6592823" y="1298448"/>
            <a:ext cx="2148840" cy="493776"/>
          </a:xfrm>
          <a:prstGeom prst="rect">
            <a:avLst/>
          </a:prstGeom>
          <a:noFill/>
        </p:spPr>
        <p:txBody>
          <a:bodyPr wrap="square" lIns="0" rIns="0" tIns="0" bIns="0" anchor="ctr">
            <a:noAutofit/>
          </a:bodyPr>
          <a:lstStyle/>
          <a:p>
            <a:pPr algn="l">
              <a:lnSpc>
                <a:spcPct val="95000"/>
              </a:lnSpc>
              <a:spcAft>
                <a:spcPts val="0"/>
              </a:spcAft>
            </a:pPr>
            <a:r>
              <a:rPr sz="1050" b="0">
                <a:solidFill>
                  <a:srgbClr val="111111"/>
                </a:solidFill>
                <a:latin typeface="Google Sans Flex SemiBold"/>
              </a:rPr>
              <a:t>Why trust the findings?</a:t>
            </a:r>
          </a:p>
        </p:txBody>
      </p:sp>
      <p:sp>
        <p:nvSpPr>
          <p:cNvPr id="106" name="TextBox 105"/>
          <p:cNvSpPr txBox="1"/>
          <p:nvPr/>
        </p:nvSpPr>
        <p:spPr>
          <a:xfrm>
            <a:off x="6227064" y="1984248"/>
            <a:ext cx="2468880" cy="2240280"/>
          </a:xfrm>
          <a:prstGeom prst="rect">
            <a:avLst/>
          </a:prstGeom>
          <a:noFill/>
        </p:spPr>
        <p:txBody>
          <a:bodyPr wrap="square" lIns="0" rIns="0" tIns="0" bIns="0" anchor="t">
            <a:noAutofit/>
          </a:bodyPr>
          <a:lstStyle/>
          <a:p>
            <a:pPr algn="l">
              <a:lnSpc>
                <a:spcPct val="105000"/>
              </a:lnSpc>
              <a:spcAft>
                <a:spcPts val="1000"/>
              </a:spcAft>
            </a:pPr>
            <a:r>
              <a:rPr sz="850" b="0">
                <a:solidFill>
                  <a:srgbClr val="FF5CA8"/>
                </a:solidFill>
                <a:latin typeface="Google Sans Flex"/>
              </a:rPr>
              <a:t>■  </a:t>
            </a:r>
            <a:r>
              <a:rPr sz="1050" b="1">
                <a:solidFill>
                  <a:srgbClr val="111111"/>
                </a:solidFill>
                <a:latin typeface="Google Sans Flex"/>
              </a:rPr>
              <a:t>Proof, not opinions: </a:t>
            </a:r>
            <a:r>
              <a:rPr sz="1050" b="0">
                <a:solidFill>
                  <a:srgbClr val="111111"/>
                </a:solidFill>
                <a:latin typeface="Google Sans Flex"/>
              </a:rPr>
              <a:t>every claim cites a measured page element and a second AI double-checks it; unsure claims go to a human.</a:t>
            </a:r>
          </a:p>
          <a:p>
            <a:pPr algn="l">
              <a:lnSpc>
                <a:spcPct val="105000"/>
              </a:lnSpc>
              <a:spcAft>
                <a:spcPts val="1000"/>
              </a:spcAft>
            </a:pPr>
            <a:r>
              <a:rPr sz="850" b="0">
                <a:solidFill>
                  <a:srgbClr val="FF5CA8"/>
                </a:solidFill>
                <a:latin typeface="Google Sans Flex"/>
              </a:rPr>
              <a:t>■  </a:t>
            </a:r>
            <a:r>
              <a:rPr sz="1050" b="1">
                <a:solidFill>
                  <a:srgbClr val="111111"/>
                </a:solidFill>
                <a:latin typeface="Google Sans Flex"/>
              </a:rPr>
              <a:t>Speaks money and law: </a:t>
            </a:r>
            <a:r>
              <a:rPr sz="1050" b="0">
                <a:solidFill>
                  <a:srgbClr val="111111"/>
                </a:solidFill>
                <a:latin typeface="Google Sans Flex"/>
              </a:rPr>
              <a:t>shows ₹ impact, relevant rules across 7 regions, and a fix for each finding.</a:t>
            </a:r>
          </a:p>
          <a:p>
            <a:pPr algn="l">
              <a:lnSpc>
                <a:spcPct val="105000"/>
              </a:lnSpc>
              <a:spcAft>
                <a:spcPts val="1000"/>
              </a:spcAft>
            </a:pPr>
            <a:r>
              <a:rPr sz="850" b="0">
                <a:solidFill>
                  <a:srgbClr val="FF5CA8"/>
                </a:solidFill>
                <a:latin typeface="Google Sans Flex"/>
              </a:rPr>
              <a:t>■  </a:t>
            </a:r>
            <a:r>
              <a:rPr sz="1050" b="1">
                <a:solidFill>
                  <a:srgbClr val="111111"/>
                </a:solidFill>
                <a:latin typeface="Google Sans Flex"/>
              </a:rPr>
              <a:t>Honest about limits: </a:t>
            </a:r>
            <a:r>
              <a:rPr sz="1050" b="0">
                <a:solidFill>
                  <a:srgbClr val="111111"/>
                </a:solidFill>
                <a:latin typeface="Google Sans Flex"/>
              </a:rPr>
              <a:t>stops at sign-in walls and bot protection; a blocked page is "not checked", never "clean".</a:t>
            </a:r>
          </a:p>
        </p:txBody>
      </p:sp>
      <p:sp>
        <p:nvSpPr>
          <p:cNvPr id="107" name="Rounded Rectangle 106"/>
          <p:cNvSpPr/>
          <p:nvPr/>
        </p:nvSpPr>
        <p:spPr>
          <a:xfrm>
            <a:off x="356615" y="4480560"/>
            <a:ext cx="8503920" cy="384048"/>
          </a:xfrm>
          <a:prstGeom prst="roundRect">
            <a:avLst>
              <a:gd name="adj" fmla="val 23809"/>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320040" y="4443984"/>
            <a:ext cx="8503920" cy="384048"/>
          </a:xfrm>
          <a:prstGeom prst="roundRect">
            <a:avLst>
              <a:gd name="adj" fmla="val 23809"/>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502920" y="4443984"/>
            <a:ext cx="8138160" cy="384048"/>
          </a:xfrm>
          <a:prstGeom prst="rect">
            <a:avLst/>
          </a:prstGeom>
          <a:noFill/>
        </p:spPr>
        <p:txBody>
          <a:bodyPr wrap="square" lIns="0" rIns="0" tIns="0" bIns="0" anchor="ctr">
            <a:noAutofit/>
          </a:bodyPr>
          <a:lstStyle/>
          <a:p>
            <a:pPr algn="ctr">
              <a:lnSpc>
                <a:spcPct val="100000"/>
              </a:lnSpc>
              <a:spcAft>
                <a:spcPts val="0"/>
              </a:spcAft>
            </a:pPr>
            <a:r>
              <a:rPr sz="1050" b="0">
                <a:solidFill>
                  <a:srgbClr val="111111"/>
                </a:solidFill>
                <a:latin typeface="Google Sans Flex SemiBold"/>
              </a:rPr>
              <a:t>Proof it works:  </a:t>
            </a:r>
            <a:r>
              <a:rPr sz="1050" b="1">
                <a:solidFill>
                  <a:srgbClr val="111111"/>
                </a:solidFill>
                <a:latin typeface="Google Sans Flex"/>
              </a:rPr>
              <a:t>9/9</a:t>
            </a:r>
            <a:r>
              <a:rPr sz="1050" b="0">
                <a:solidFill>
                  <a:srgbClr val="111111"/>
                </a:solidFill>
                <a:latin typeface="Google Sans Flex"/>
              </a:rPr>
              <a:t> planted tricks matched  ·  </a:t>
            </a:r>
            <a:r>
              <a:rPr sz="1050" b="1">
                <a:solidFill>
                  <a:srgbClr val="111111"/>
                </a:solidFill>
                <a:latin typeface="Google Sans Flex"/>
              </a:rPr>
              <a:t>0</a:t>
            </a:r>
            <a:r>
              <a:rPr sz="1050" b="0">
                <a:solidFill>
                  <a:srgbClr val="111111"/>
                </a:solidFill>
                <a:latin typeface="Google Sans Flex"/>
              </a:rPr>
              <a:t> false alarms on the control  ·  </a:t>
            </a:r>
            <a:r>
              <a:rPr sz="1050" b="1">
                <a:solidFill>
                  <a:srgbClr val="111111"/>
                </a:solidFill>
                <a:latin typeface="Google Sans Flex"/>
              </a:rPr>
              <a:t>9/9</a:t>
            </a:r>
            <a:r>
              <a:rPr sz="1050" b="0">
                <a:solidFill>
                  <a:srgbClr val="111111"/>
                </a:solidFill>
                <a:latin typeface="Google Sans Flex"/>
              </a:rPr>
              <a:t> fixes verified  ·  </a:t>
            </a:r>
            <a:r>
              <a:rPr sz="1050" b="1">
                <a:solidFill>
                  <a:srgbClr val="111111"/>
                </a:solidFill>
                <a:latin typeface="Google Sans Flex"/>
              </a:rPr>
              <a:t>0.959 F1</a:t>
            </a:r>
            <a:r>
              <a:rPr sz="1050" b="0">
                <a:solidFill>
                  <a:srgbClr val="111111"/>
                </a:solidFill>
                <a:latin typeface="Google Sans Flex"/>
              </a:rPr>
              <a:t> zero-shot on 2,356 public texts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What the prototype does</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365759" y="1307592"/>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ounded Rectangle 88"/>
          <p:cNvSpPr/>
          <p:nvPr/>
        </p:nvSpPr>
        <p:spPr>
          <a:xfrm>
            <a:off x="320040" y="1261872"/>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ounded Rectangle 89"/>
          <p:cNvSpPr/>
          <p:nvPr/>
        </p:nvSpPr>
        <p:spPr>
          <a:xfrm>
            <a:off x="493776" y="14447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ounded Rectangle 90"/>
          <p:cNvSpPr/>
          <p:nvPr/>
        </p:nvSpPr>
        <p:spPr>
          <a:xfrm>
            <a:off x="466344" y="1417319"/>
            <a:ext cx="475488" cy="475488"/>
          </a:xfrm>
          <a:prstGeom prst="roundRect">
            <a:avLst>
              <a:gd name="adj" fmla="val 24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2" name="Picture 91" descr="l-play-ink.png"/>
          <p:cNvPicPr>
            <a:picLocks noChangeAspect="1"/>
          </p:cNvPicPr>
          <p:nvPr/>
        </p:nvPicPr>
        <p:blipFill>
          <a:blip r:embed="rId5"/>
          <a:stretch>
            <a:fillRect/>
          </a:stretch>
        </p:blipFill>
        <p:spPr>
          <a:xfrm>
            <a:off x="561441" y="1512417"/>
            <a:ext cx="285292" cy="285292"/>
          </a:xfrm>
          <a:prstGeom prst="rect">
            <a:avLst/>
          </a:prstGeom>
        </p:spPr>
      </p:pic>
      <p:sp>
        <p:nvSpPr>
          <p:cNvPr id="93" name="TextBox 92"/>
          <p:cNvSpPr txBox="1"/>
          <p:nvPr/>
        </p:nvSpPr>
        <p:spPr>
          <a:xfrm>
            <a:off x="1069848" y="1417319"/>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01</a:t>
            </a:r>
          </a:p>
        </p:txBody>
      </p:sp>
      <p:sp>
        <p:nvSpPr>
          <p:cNvPr id="94" name="TextBox 93"/>
          <p:cNvSpPr txBox="1"/>
          <p:nvPr/>
        </p:nvSpPr>
        <p:spPr>
          <a:xfrm>
            <a:off x="466344" y="1993391"/>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Live agent walkthrough</a:t>
            </a:r>
          </a:p>
        </p:txBody>
      </p:sp>
      <p:sp>
        <p:nvSpPr>
          <p:cNvPr id="95" name="TextBox 94"/>
          <p:cNvSpPr txBox="1"/>
          <p:nvPr/>
        </p:nvSpPr>
        <p:spPr>
          <a:xfrm>
            <a:off x="466344" y="2286000"/>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Watch agents shop in a real browser, narrating every step as they go.</a:t>
            </a:r>
          </a:p>
        </p:txBody>
      </p:sp>
      <p:sp>
        <p:nvSpPr>
          <p:cNvPr id="96" name="Rounded Rectangle 95"/>
          <p:cNvSpPr/>
          <p:nvPr/>
        </p:nvSpPr>
        <p:spPr>
          <a:xfrm>
            <a:off x="2530602" y="1307592"/>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ounded Rectangle 96"/>
          <p:cNvSpPr/>
          <p:nvPr/>
        </p:nvSpPr>
        <p:spPr>
          <a:xfrm>
            <a:off x="2484882" y="1261872"/>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2658618" y="14447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ounded Rectangle 98"/>
          <p:cNvSpPr/>
          <p:nvPr/>
        </p:nvSpPr>
        <p:spPr>
          <a:xfrm>
            <a:off x="2631186" y="1417319"/>
            <a:ext cx="475488" cy="475488"/>
          </a:xfrm>
          <a:prstGeom prst="roundRect">
            <a:avLst>
              <a:gd name="adj" fmla="val 24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0" name="Picture 99" descr="l-ruler-ink.png"/>
          <p:cNvPicPr>
            <a:picLocks noChangeAspect="1"/>
          </p:cNvPicPr>
          <p:nvPr/>
        </p:nvPicPr>
        <p:blipFill>
          <a:blip r:embed="rId6"/>
          <a:stretch>
            <a:fillRect/>
          </a:stretch>
        </p:blipFill>
        <p:spPr>
          <a:xfrm>
            <a:off x="2726283" y="1512417"/>
            <a:ext cx="285292" cy="285292"/>
          </a:xfrm>
          <a:prstGeom prst="rect">
            <a:avLst/>
          </a:prstGeom>
        </p:spPr>
      </p:pic>
      <p:sp>
        <p:nvSpPr>
          <p:cNvPr id="101" name="TextBox 100"/>
          <p:cNvSpPr txBox="1"/>
          <p:nvPr/>
        </p:nvSpPr>
        <p:spPr>
          <a:xfrm>
            <a:off x="3234690" y="1417319"/>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02</a:t>
            </a:r>
          </a:p>
        </p:txBody>
      </p:sp>
      <p:sp>
        <p:nvSpPr>
          <p:cNvPr id="102" name="TextBox 101"/>
          <p:cNvSpPr txBox="1"/>
          <p:nvPr/>
        </p:nvSpPr>
        <p:spPr>
          <a:xfrm>
            <a:off x="2631186" y="1993391"/>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Measured checks</a:t>
            </a:r>
          </a:p>
        </p:txBody>
      </p:sp>
      <p:sp>
        <p:nvSpPr>
          <p:cNvPr id="103" name="TextBox 102"/>
          <p:cNvSpPr txBox="1"/>
          <p:nvPr/>
        </p:nvSpPr>
        <p:spPr>
          <a:xfrm>
            <a:off x="2631186" y="2286000"/>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Restarting timers, frozen stock, sneaked items, pre-ticked boxes, hidden fees.</a:t>
            </a:r>
          </a:p>
        </p:txBody>
      </p:sp>
      <p:sp>
        <p:nvSpPr>
          <p:cNvPr id="104" name="Rounded Rectangle 103"/>
          <p:cNvSpPr/>
          <p:nvPr/>
        </p:nvSpPr>
        <p:spPr>
          <a:xfrm>
            <a:off x="4695444" y="1307592"/>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ounded Rectangle 104"/>
          <p:cNvSpPr/>
          <p:nvPr/>
        </p:nvSpPr>
        <p:spPr>
          <a:xfrm>
            <a:off x="4649724" y="1261872"/>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ounded Rectangle 105"/>
          <p:cNvSpPr/>
          <p:nvPr/>
        </p:nvSpPr>
        <p:spPr>
          <a:xfrm>
            <a:off x="4823460" y="14447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ounded Rectangle 106"/>
          <p:cNvSpPr/>
          <p:nvPr/>
        </p:nvSpPr>
        <p:spPr>
          <a:xfrm>
            <a:off x="4796028" y="1417319"/>
            <a:ext cx="475488" cy="475488"/>
          </a:xfrm>
          <a:prstGeom prst="roundRect">
            <a:avLst>
              <a:gd name="adj" fmla="val 24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8" name="Picture 107" descr="l-history-ink.png"/>
          <p:cNvPicPr>
            <a:picLocks noChangeAspect="1"/>
          </p:cNvPicPr>
          <p:nvPr/>
        </p:nvPicPr>
        <p:blipFill>
          <a:blip r:embed="rId7"/>
          <a:stretch>
            <a:fillRect/>
          </a:stretch>
        </p:blipFill>
        <p:spPr>
          <a:xfrm>
            <a:off x="4891125" y="1512417"/>
            <a:ext cx="285292" cy="285292"/>
          </a:xfrm>
          <a:prstGeom prst="rect">
            <a:avLst/>
          </a:prstGeom>
        </p:spPr>
      </p:pic>
      <p:sp>
        <p:nvSpPr>
          <p:cNvPr id="109" name="TextBox 108"/>
          <p:cNvSpPr txBox="1"/>
          <p:nvPr/>
        </p:nvSpPr>
        <p:spPr>
          <a:xfrm>
            <a:off x="5399532" y="1417319"/>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03</a:t>
            </a:r>
          </a:p>
        </p:txBody>
      </p:sp>
      <p:sp>
        <p:nvSpPr>
          <p:cNvPr id="110" name="TextBox 109"/>
          <p:cNvSpPr txBox="1"/>
          <p:nvPr/>
        </p:nvSpPr>
        <p:spPr>
          <a:xfrm>
            <a:off x="4796028" y="1993391"/>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Price Historian</a:t>
            </a:r>
          </a:p>
        </p:txBody>
      </p:sp>
      <p:sp>
        <p:nvSpPr>
          <p:cNvPr id="111" name="TextBox 110"/>
          <p:cNvSpPr txBox="1"/>
          <p:nvPr/>
        </p:nvSpPr>
        <p:spPr>
          <a:xfrm>
            <a:off x="4796028" y="2286000"/>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BigQuery price history exposes "MRPs" the product never sold at.</a:t>
            </a:r>
          </a:p>
        </p:txBody>
      </p:sp>
      <p:sp>
        <p:nvSpPr>
          <p:cNvPr id="112" name="Rounded Rectangle 111"/>
          <p:cNvSpPr/>
          <p:nvPr/>
        </p:nvSpPr>
        <p:spPr>
          <a:xfrm>
            <a:off x="6860286" y="1307592"/>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ounded Rectangle 112"/>
          <p:cNvSpPr/>
          <p:nvPr/>
        </p:nvSpPr>
        <p:spPr>
          <a:xfrm>
            <a:off x="6814566" y="1261872"/>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ounded Rectangle 113"/>
          <p:cNvSpPr/>
          <p:nvPr/>
        </p:nvSpPr>
        <p:spPr>
          <a:xfrm>
            <a:off x="6988302" y="14447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ounded Rectangle 114"/>
          <p:cNvSpPr/>
          <p:nvPr/>
        </p:nvSpPr>
        <p:spPr>
          <a:xfrm>
            <a:off x="6960870" y="1417319"/>
            <a:ext cx="475488" cy="475488"/>
          </a:xfrm>
          <a:prstGeom prst="roundRect">
            <a:avLst>
              <a:gd name="adj" fmla="val 24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6" name="Picture 115" descr="l-scan-eye-ink.png"/>
          <p:cNvPicPr>
            <a:picLocks noChangeAspect="1"/>
          </p:cNvPicPr>
          <p:nvPr/>
        </p:nvPicPr>
        <p:blipFill>
          <a:blip r:embed="rId8"/>
          <a:stretch>
            <a:fillRect/>
          </a:stretch>
        </p:blipFill>
        <p:spPr>
          <a:xfrm>
            <a:off x="7055967" y="1512417"/>
            <a:ext cx="285292" cy="285292"/>
          </a:xfrm>
          <a:prstGeom prst="rect">
            <a:avLst/>
          </a:prstGeom>
        </p:spPr>
      </p:pic>
      <p:sp>
        <p:nvSpPr>
          <p:cNvPr id="117" name="TextBox 116"/>
          <p:cNvSpPr txBox="1"/>
          <p:nvPr/>
        </p:nvSpPr>
        <p:spPr>
          <a:xfrm>
            <a:off x="7564374" y="1417319"/>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04</a:t>
            </a:r>
          </a:p>
        </p:txBody>
      </p:sp>
      <p:sp>
        <p:nvSpPr>
          <p:cNvPr id="118" name="TextBox 117"/>
          <p:cNvSpPr txBox="1"/>
          <p:nvPr/>
        </p:nvSpPr>
        <p:spPr>
          <a:xfrm>
            <a:off x="6960870" y="1993391"/>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ADK agent graph</a:t>
            </a:r>
          </a:p>
        </p:txBody>
      </p:sp>
      <p:sp>
        <p:nvSpPr>
          <p:cNvPr id="119" name="TextBox 118"/>
          <p:cNvSpPr txBox="1"/>
          <p:nvPr/>
        </p:nvSpPr>
        <p:spPr>
          <a:xfrm>
            <a:off x="6960870" y="2286000"/>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Gemini reads each screen; an Adjudicator agent checks the evidence with tools.</a:t>
            </a:r>
          </a:p>
        </p:txBody>
      </p:sp>
      <p:sp>
        <p:nvSpPr>
          <p:cNvPr id="120" name="Rounded Rectangle 119"/>
          <p:cNvSpPr/>
          <p:nvPr/>
        </p:nvSpPr>
        <p:spPr>
          <a:xfrm>
            <a:off x="365759" y="3154679"/>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ounded Rectangle 120"/>
          <p:cNvSpPr/>
          <p:nvPr/>
        </p:nvSpPr>
        <p:spPr>
          <a:xfrm>
            <a:off x="320040" y="3108960"/>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ounded Rectangle 121"/>
          <p:cNvSpPr/>
          <p:nvPr/>
        </p:nvSpPr>
        <p:spPr>
          <a:xfrm>
            <a:off x="493776" y="32918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ounded Rectangle 122"/>
          <p:cNvSpPr/>
          <p:nvPr/>
        </p:nvSpPr>
        <p:spPr>
          <a:xfrm>
            <a:off x="466344" y="3264408"/>
            <a:ext cx="475488" cy="475488"/>
          </a:xfrm>
          <a:prstGeom prst="roundRect">
            <a:avLst>
              <a:gd name="adj" fmla="val 24000"/>
            </a:avLst>
          </a:prstGeom>
          <a:solidFill>
            <a:srgbClr val="4ADE9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4" name="Picture 123" descr="l-wrench-ink.png"/>
          <p:cNvPicPr>
            <a:picLocks noChangeAspect="1"/>
          </p:cNvPicPr>
          <p:nvPr/>
        </p:nvPicPr>
        <p:blipFill>
          <a:blip r:embed="rId9"/>
          <a:stretch>
            <a:fillRect/>
          </a:stretch>
        </p:blipFill>
        <p:spPr>
          <a:xfrm>
            <a:off x="561441" y="3359505"/>
            <a:ext cx="285292" cy="285292"/>
          </a:xfrm>
          <a:prstGeom prst="rect">
            <a:avLst/>
          </a:prstGeom>
        </p:spPr>
      </p:pic>
      <p:sp>
        <p:nvSpPr>
          <p:cNvPr id="125" name="TextBox 124"/>
          <p:cNvSpPr txBox="1"/>
          <p:nvPr/>
        </p:nvSpPr>
        <p:spPr>
          <a:xfrm>
            <a:off x="1069848" y="3264408"/>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05</a:t>
            </a:r>
          </a:p>
        </p:txBody>
      </p:sp>
      <p:sp>
        <p:nvSpPr>
          <p:cNvPr id="126" name="TextBox 125"/>
          <p:cNvSpPr txBox="1"/>
          <p:nvPr/>
        </p:nvSpPr>
        <p:spPr>
          <a:xfrm>
            <a:off x="466344" y="3840480"/>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Fix it + verify</a:t>
            </a:r>
          </a:p>
        </p:txBody>
      </p:sp>
      <p:sp>
        <p:nvSpPr>
          <p:cNvPr id="127" name="TextBox 126"/>
          <p:cNvSpPr txBox="1"/>
          <p:nvPr/>
        </p:nvSpPr>
        <p:spPr>
          <a:xfrm>
            <a:off x="466344" y="4133087"/>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Plan fixes and project the impact. Verify supported changes on a demo copy.</a:t>
            </a:r>
          </a:p>
        </p:txBody>
      </p:sp>
      <p:sp>
        <p:nvSpPr>
          <p:cNvPr id="128" name="Rounded Rectangle 127"/>
          <p:cNvSpPr/>
          <p:nvPr/>
        </p:nvSpPr>
        <p:spPr>
          <a:xfrm>
            <a:off x="2530602" y="3154679"/>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ounded Rectangle 128"/>
          <p:cNvSpPr/>
          <p:nvPr/>
        </p:nvSpPr>
        <p:spPr>
          <a:xfrm>
            <a:off x="2484882" y="3108960"/>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ounded Rectangle 129"/>
          <p:cNvSpPr/>
          <p:nvPr/>
        </p:nvSpPr>
        <p:spPr>
          <a:xfrm>
            <a:off x="2658618" y="32918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ounded Rectangle 130"/>
          <p:cNvSpPr/>
          <p:nvPr/>
        </p:nvSpPr>
        <p:spPr>
          <a:xfrm>
            <a:off x="2631186" y="3264408"/>
            <a:ext cx="475488" cy="475488"/>
          </a:xfrm>
          <a:prstGeom prst="roundRect">
            <a:avLst>
              <a:gd name="adj" fmla="val 24000"/>
            </a:avLst>
          </a:prstGeom>
          <a:solidFill>
            <a:srgbClr val="FFB38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2" name="Picture 131" descr="l-indian-rupee-ink.png"/>
          <p:cNvPicPr>
            <a:picLocks noChangeAspect="1"/>
          </p:cNvPicPr>
          <p:nvPr/>
        </p:nvPicPr>
        <p:blipFill>
          <a:blip r:embed="rId10"/>
          <a:stretch>
            <a:fillRect/>
          </a:stretch>
        </p:blipFill>
        <p:spPr>
          <a:xfrm>
            <a:off x="2726283" y="3359505"/>
            <a:ext cx="285292" cy="285292"/>
          </a:xfrm>
          <a:prstGeom prst="rect">
            <a:avLst/>
          </a:prstGeom>
        </p:spPr>
      </p:pic>
      <p:sp>
        <p:nvSpPr>
          <p:cNvPr id="133" name="TextBox 132"/>
          <p:cNvSpPr txBox="1"/>
          <p:nvPr/>
        </p:nvSpPr>
        <p:spPr>
          <a:xfrm>
            <a:off x="3234690" y="3264408"/>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06</a:t>
            </a:r>
          </a:p>
        </p:txBody>
      </p:sp>
      <p:sp>
        <p:nvSpPr>
          <p:cNvPr id="134" name="TextBox 133"/>
          <p:cNvSpPr txBox="1"/>
          <p:nvPr/>
        </p:nvSpPr>
        <p:spPr>
          <a:xfrm>
            <a:off x="2631186" y="3840480"/>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The real bill</a:t>
            </a:r>
          </a:p>
        </p:txBody>
      </p:sp>
      <p:sp>
        <p:nvSpPr>
          <p:cNvPr id="135" name="TextBox 134"/>
          <p:cNvSpPr txBox="1"/>
          <p:nvPr/>
        </p:nvSpPr>
        <p:spPr>
          <a:xfrm>
            <a:off x="2631186" y="4133087"/>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Price seen vs. price charged, the true saving, overcharge at scale.</a:t>
            </a:r>
          </a:p>
        </p:txBody>
      </p:sp>
      <p:sp>
        <p:nvSpPr>
          <p:cNvPr id="136" name="Rounded Rectangle 135"/>
          <p:cNvSpPr/>
          <p:nvPr/>
        </p:nvSpPr>
        <p:spPr>
          <a:xfrm>
            <a:off x="4695444" y="3154679"/>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ounded Rectangle 136"/>
          <p:cNvSpPr/>
          <p:nvPr/>
        </p:nvSpPr>
        <p:spPr>
          <a:xfrm>
            <a:off x="4649724" y="3108960"/>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ounded Rectangle 137"/>
          <p:cNvSpPr/>
          <p:nvPr/>
        </p:nvSpPr>
        <p:spPr>
          <a:xfrm>
            <a:off x="4823460" y="32918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ounded Rectangle 138"/>
          <p:cNvSpPr/>
          <p:nvPr/>
        </p:nvSpPr>
        <p:spPr>
          <a:xfrm>
            <a:off x="4796028" y="3264408"/>
            <a:ext cx="475488" cy="475488"/>
          </a:xfrm>
          <a:prstGeom prst="roundRect">
            <a:avLst>
              <a:gd name="adj" fmla="val 24000"/>
            </a:avLst>
          </a:prstGeom>
          <a:solidFill>
            <a:srgbClr val="3B5B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0" name="Picture 139" descr="l-landmark-white.png"/>
          <p:cNvPicPr>
            <a:picLocks noChangeAspect="1"/>
          </p:cNvPicPr>
          <p:nvPr/>
        </p:nvPicPr>
        <p:blipFill>
          <a:blip r:embed="rId11"/>
          <a:stretch>
            <a:fillRect/>
          </a:stretch>
        </p:blipFill>
        <p:spPr>
          <a:xfrm>
            <a:off x="4891125" y="3359505"/>
            <a:ext cx="285292" cy="285292"/>
          </a:xfrm>
          <a:prstGeom prst="rect">
            <a:avLst/>
          </a:prstGeom>
        </p:spPr>
      </p:pic>
      <p:sp>
        <p:nvSpPr>
          <p:cNvPr id="141" name="TextBox 140"/>
          <p:cNvSpPr txBox="1"/>
          <p:nvPr/>
        </p:nvSpPr>
        <p:spPr>
          <a:xfrm>
            <a:off x="5399532" y="3264408"/>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07</a:t>
            </a:r>
          </a:p>
        </p:txBody>
      </p:sp>
      <p:sp>
        <p:nvSpPr>
          <p:cNvPr id="142" name="TextBox 141"/>
          <p:cNvSpPr txBox="1"/>
          <p:nvPr/>
        </p:nvSpPr>
        <p:spPr>
          <a:xfrm>
            <a:off x="4796028" y="3840480"/>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Law + CCPA self-audit</a:t>
            </a:r>
          </a:p>
        </p:txBody>
      </p:sp>
      <p:sp>
        <p:nvSpPr>
          <p:cNvPr id="143" name="TextBox 142"/>
          <p:cNvSpPr txBox="1"/>
          <p:nvPr/>
        </p:nvSpPr>
        <p:spPr>
          <a:xfrm>
            <a:off x="4796028" y="4133087"/>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Relevant rules in India and 6 more regions, plus a 13-pattern CCPA self-audit PDF.</a:t>
            </a:r>
          </a:p>
        </p:txBody>
      </p:sp>
      <p:sp>
        <p:nvSpPr>
          <p:cNvPr id="144" name="Rounded Rectangle 143"/>
          <p:cNvSpPr/>
          <p:nvPr/>
        </p:nvSpPr>
        <p:spPr>
          <a:xfrm>
            <a:off x="6860286" y="3154679"/>
            <a:ext cx="2009394" cy="1700784"/>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ounded Rectangle 144"/>
          <p:cNvSpPr/>
          <p:nvPr/>
        </p:nvSpPr>
        <p:spPr>
          <a:xfrm>
            <a:off x="6814566" y="3108960"/>
            <a:ext cx="2009394" cy="1700784"/>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ounded Rectangle 145"/>
          <p:cNvSpPr/>
          <p:nvPr/>
        </p:nvSpPr>
        <p:spPr>
          <a:xfrm>
            <a:off x="6988302" y="32918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ounded Rectangle 146"/>
          <p:cNvSpPr/>
          <p:nvPr/>
        </p:nvSpPr>
        <p:spPr>
          <a:xfrm>
            <a:off x="6960870" y="3264408"/>
            <a:ext cx="475488" cy="475488"/>
          </a:xfrm>
          <a:prstGeom prst="roundRect">
            <a:avLst>
              <a:gd name="adj" fmla="val 24000"/>
            </a:avLst>
          </a:prstGeom>
          <a:solidFill>
            <a:srgbClr val="FFF8EC"/>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8" name="Picture 147" descr="l-globe-ink.png"/>
          <p:cNvPicPr>
            <a:picLocks noChangeAspect="1"/>
          </p:cNvPicPr>
          <p:nvPr/>
        </p:nvPicPr>
        <p:blipFill>
          <a:blip r:embed="rId12"/>
          <a:stretch>
            <a:fillRect/>
          </a:stretch>
        </p:blipFill>
        <p:spPr>
          <a:xfrm>
            <a:off x="7055967" y="3359505"/>
            <a:ext cx="285292" cy="285292"/>
          </a:xfrm>
          <a:prstGeom prst="rect">
            <a:avLst/>
          </a:prstGeom>
        </p:spPr>
      </p:pic>
      <p:sp>
        <p:nvSpPr>
          <p:cNvPr id="149" name="TextBox 148"/>
          <p:cNvSpPr txBox="1"/>
          <p:nvPr/>
        </p:nvSpPr>
        <p:spPr>
          <a:xfrm>
            <a:off x="7564374" y="3264408"/>
            <a:ext cx="365760" cy="274320"/>
          </a:xfrm>
          <a:prstGeom prst="rect">
            <a:avLst/>
          </a:prstGeom>
          <a:noFill/>
        </p:spPr>
        <p:txBody>
          <a:bodyPr wrap="square" lIns="0" rIns="0" tIns="0" bIns="0" anchor="t">
            <a:noAutofit/>
          </a:bodyPr>
          <a:lstStyle/>
          <a:p>
            <a:pPr algn="l">
              <a:lnSpc>
                <a:spcPct val="100000"/>
              </a:lnSpc>
              <a:spcAft>
                <a:spcPts val="0"/>
              </a:spcAft>
            </a:pPr>
            <a:r>
              <a:rPr sz="900" b="0">
                <a:solidFill>
                  <a:srgbClr val="9AA0A6"/>
                </a:solidFill>
                <a:latin typeface="Google Sans Flex SemiBold"/>
              </a:rPr>
              <a:t>08</a:t>
            </a:r>
          </a:p>
        </p:txBody>
      </p:sp>
      <p:sp>
        <p:nvSpPr>
          <p:cNvPr id="150" name="TextBox 149"/>
          <p:cNvSpPr txBox="1"/>
          <p:nvPr/>
        </p:nvSpPr>
        <p:spPr>
          <a:xfrm>
            <a:off x="6960870" y="3840480"/>
            <a:ext cx="1735074" cy="274320"/>
          </a:xfrm>
          <a:prstGeom prst="rect">
            <a:avLst/>
          </a:prstGeom>
          <a:noFill/>
        </p:spPr>
        <p:txBody>
          <a:bodyPr wrap="square" lIns="0" rIns="0" tIns="0" bIns="0" anchor="t">
            <a:noAutofit/>
          </a:bodyPr>
          <a:lstStyle/>
          <a:p>
            <a:pPr algn="l">
              <a:lnSpc>
                <a:spcPct val="100000"/>
              </a:lnSpc>
              <a:spcAft>
                <a:spcPts val="0"/>
              </a:spcAft>
            </a:pPr>
            <a:r>
              <a:rPr sz="1150" b="1">
                <a:solidFill>
                  <a:srgbClr val="111111"/>
                </a:solidFill>
                <a:latin typeface="Google Sans Flex"/>
              </a:rPr>
              <a:t>Reports for any store</a:t>
            </a:r>
          </a:p>
        </p:txBody>
      </p:sp>
      <p:sp>
        <p:nvSpPr>
          <p:cNvPr id="151" name="TextBox 150"/>
          <p:cNvSpPr txBox="1"/>
          <p:nvPr/>
        </p:nvSpPr>
        <p:spPr>
          <a:xfrm>
            <a:off x="6960870" y="4133087"/>
            <a:ext cx="1735074" cy="64008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Any public store, logged out; a blocked page says "not checked"; free replays.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How the audit works</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320040" y="1188720"/>
            <a:ext cx="4572000" cy="201168"/>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THE JOURNEY  </a:t>
            </a:r>
            <a:r>
              <a:rPr sz="900" b="0">
                <a:solidFill>
                  <a:srgbClr val="5F6368"/>
                </a:solidFill>
                <a:latin typeface="Google Sans Flex"/>
              </a:rPr>
              <a:t>a logged-out shopper, in a real browser</a:t>
            </a:r>
          </a:p>
        </p:txBody>
      </p:sp>
      <p:sp>
        <p:nvSpPr>
          <p:cNvPr id="97" name="Rounded Rectangle 96"/>
          <p:cNvSpPr/>
          <p:nvPr/>
        </p:nvSpPr>
        <p:spPr>
          <a:xfrm>
            <a:off x="356615" y="1481328"/>
            <a:ext cx="1463040" cy="749808"/>
          </a:xfrm>
          <a:prstGeom prst="roundRect">
            <a:avLst>
              <a:gd name="adj" fmla="val 12195"/>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320040" y="1444752"/>
            <a:ext cx="1463040" cy="749808"/>
          </a:xfrm>
          <a:prstGeom prst="roundRect">
            <a:avLst>
              <a:gd name="adj" fmla="val 12195"/>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ounded Rectangle 98"/>
          <p:cNvSpPr/>
          <p:nvPr/>
        </p:nvSpPr>
        <p:spPr>
          <a:xfrm>
            <a:off x="411479" y="1563624"/>
            <a:ext cx="457200" cy="457200"/>
          </a:xfrm>
          <a:prstGeom prst="roundRect">
            <a:avLst>
              <a:gd name="adj" fmla="val 24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0" name="Picture 99" descr="l-package-ink.png"/>
          <p:cNvPicPr>
            <a:picLocks noChangeAspect="1"/>
          </p:cNvPicPr>
          <p:nvPr/>
        </p:nvPicPr>
        <p:blipFill>
          <a:blip r:embed="rId5"/>
          <a:stretch>
            <a:fillRect/>
          </a:stretch>
        </p:blipFill>
        <p:spPr>
          <a:xfrm>
            <a:off x="502919" y="1655064"/>
            <a:ext cx="274320" cy="274320"/>
          </a:xfrm>
          <a:prstGeom prst="rect">
            <a:avLst/>
          </a:prstGeom>
        </p:spPr>
      </p:pic>
      <p:sp>
        <p:nvSpPr>
          <p:cNvPr id="101" name="TextBox 100"/>
          <p:cNvSpPr txBox="1"/>
          <p:nvPr/>
        </p:nvSpPr>
        <p:spPr>
          <a:xfrm>
            <a:off x="941832" y="1536192"/>
            <a:ext cx="786384" cy="274320"/>
          </a:xfrm>
          <a:prstGeom prst="rect">
            <a:avLst/>
          </a:prstGeom>
          <a:noFill/>
        </p:spPr>
        <p:txBody>
          <a:bodyPr wrap="square" lIns="0" rIns="0" tIns="0" bIns="0" anchor="t">
            <a:noAutofit/>
          </a:bodyPr>
          <a:lstStyle/>
          <a:p>
            <a:pPr algn="l">
              <a:lnSpc>
                <a:spcPct val="100000"/>
              </a:lnSpc>
              <a:spcAft>
                <a:spcPts val="0"/>
              </a:spcAft>
            </a:pPr>
            <a:r>
              <a:rPr sz="1050" b="1">
                <a:solidFill>
                  <a:srgbClr val="111111"/>
                </a:solidFill>
                <a:latin typeface="Google Sans Flex"/>
              </a:rPr>
              <a:t>Product</a:t>
            </a:r>
          </a:p>
        </p:txBody>
      </p:sp>
      <p:sp>
        <p:nvSpPr>
          <p:cNvPr id="102" name="TextBox 101"/>
          <p:cNvSpPr txBox="1"/>
          <p:nvPr/>
        </p:nvSpPr>
        <p:spPr>
          <a:xfrm>
            <a:off x="941832" y="1792224"/>
            <a:ext cx="786384" cy="347472"/>
          </a:xfrm>
          <a:prstGeom prst="rect">
            <a:avLst/>
          </a:prstGeom>
          <a:noFill/>
        </p:spPr>
        <p:txBody>
          <a:bodyPr wrap="square" lIns="0" rIns="0" tIns="0" bIns="0" anchor="t">
            <a:noAutofit/>
          </a:bodyPr>
          <a:lstStyle/>
          <a:p>
            <a:pPr algn="l">
              <a:lnSpc>
                <a:spcPct val="95000"/>
              </a:lnSpc>
              <a:spcAft>
                <a:spcPts val="0"/>
              </a:spcAft>
            </a:pPr>
            <a:r>
              <a:rPr sz="850" b="0">
                <a:solidFill>
                  <a:srgbClr val="5F6368"/>
                </a:solidFill>
                <a:latin typeface="Google Sans Flex"/>
              </a:rPr>
              <a:t>look, reload, look again</a:t>
            </a:r>
          </a:p>
        </p:txBody>
      </p:sp>
      <p:cxnSp>
        <p:nvCxnSpPr>
          <p:cNvPr id="103" name="Connector 102"/>
          <p:cNvCxnSpPr/>
          <p:nvPr/>
        </p:nvCxnSpPr>
        <p:spPr>
          <a:xfrm>
            <a:off x="1828800" y="1819656"/>
            <a:ext cx="205740"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 name="Rounded Rectangle 103"/>
          <p:cNvSpPr/>
          <p:nvPr/>
        </p:nvSpPr>
        <p:spPr>
          <a:xfrm>
            <a:off x="2116836" y="1481328"/>
            <a:ext cx="1463040" cy="749808"/>
          </a:xfrm>
          <a:prstGeom prst="roundRect">
            <a:avLst>
              <a:gd name="adj" fmla="val 12195"/>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ounded Rectangle 104"/>
          <p:cNvSpPr/>
          <p:nvPr/>
        </p:nvSpPr>
        <p:spPr>
          <a:xfrm>
            <a:off x="2080260" y="1444752"/>
            <a:ext cx="1463040" cy="749808"/>
          </a:xfrm>
          <a:prstGeom prst="roundRect">
            <a:avLst>
              <a:gd name="adj" fmla="val 12195"/>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ounded Rectangle 105"/>
          <p:cNvSpPr/>
          <p:nvPr/>
        </p:nvSpPr>
        <p:spPr>
          <a:xfrm>
            <a:off x="2171700" y="1563624"/>
            <a:ext cx="457200" cy="457200"/>
          </a:xfrm>
          <a:prstGeom prst="roundRect">
            <a:avLst>
              <a:gd name="adj" fmla="val 24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7" name="Picture 106" descr="l-palette-ink.png"/>
          <p:cNvPicPr>
            <a:picLocks noChangeAspect="1"/>
          </p:cNvPicPr>
          <p:nvPr/>
        </p:nvPicPr>
        <p:blipFill>
          <a:blip r:embed="rId6"/>
          <a:stretch>
            <a:fillRect/>
          </a:stretch>
        </p:blipFill>
        <p:spPr>
          <a:xfrm>
            <a:off x="2263140" y="1655064"/>
            <a:ext cx="274320" cy="274320"/>
          </a:xfrm>
          <a:prstGeom prst="rect">
            <a:avLst/>
          </a:prstGeom>
        </p:spPr>
      </p:pic>
      <p:sp>
        <p:nvSpPr>
          <p:cNvPr id="108" name="TextBox 107"/>
          <p:cNvSpPr txBox="1"/>
          <p:nvPr/>
        </p:nvSpPr>
        <p:spPr>
          <a:xfrm>
            <a:off x="2702052" y="1536192"/>
            <a:ext cx="786384" cy="274320"/>
          </a:xfrm>
          <a:prstGeom prst="rect">
            <a:avLst/>
          </a:prstGeom>
          <a:noFill/>
        </p:spPr>
        <p:txBody>
          <a:bodyPr wrap="square" lIns="0" rIns="0" tIns="0" bIns="0" anchor="t">
            <a:noAutofit/>
          </a:bodyPr>
          <a:lstStyle/>
          <a:p>
            <a:pPr algn="l">
              <a:lnSpc>
                <a:spcPct val="100000"/>
              </a:lnSpc>
              <a:spcAft>
                <a:spcPts val="0"/>
              </a:spcAft>
            </a:pPr>
            <a:r>
              <a:rPr sz="1050" b="1">
                <a:solidFill>
                  <a:srgbClr val="111111"/>
                </a:solidFill>
                <a:latin typeface="Google Sans Flex"/>
              </a:rPr>
              <a:t>Variant</a:t>
            </a:r>
          </a:p>
        </p:txBody>
      </p:sp>
      <p:sp>
        <p:nvSpPr>
          <p:cNvPr id="109" name="TextBox 108"/>
          <p:cNvSpPr txBox="1"/>
          <p:nvPr/>
        </p:nvSpPr>
        <p:spPr>
          <a:xfrm>
            <a:off x="2702052" y="1792224"/>
            <a:ext cx="786384" cy="347472"/>
          </a:xfrm>
          <a:prstGeom prst="rect">
            <a:avLst/>
          </a:prstGeom>
          <a:noFill/>
        </p:spPr>
        <p:txBody>
          <a:bodyPr wrap="square" lIns="0" rIns="0" tIns="0" bIns="0" anchor="t">
            <a:noAutofit/>
          </a:bodyPr>
          <a:lstStyle/>
          <a:p>
            <a:pPr algn="l">
              <a:lnSpc>
                <a:spcPct val="95000"/>
              </a:lnSpc>
              <a:spcAft>
                <a:spcPts val="0"/>
              </a:spcAft>
            </a:pPr>
            <a:r>
              <a:rPr sz="850" b="0">
                <a:solidFill>
                  <a:srgbClr val="5F6368"/>
                </a:solidFill>
                <a:latin typeface="Google Sans Flex"/>
              </a:rPr>
              <a:t>switch size or colour</a:t>
            </a:r>
          </a:p>
        </p:txBody>
      </p:sp>
      <p:cxnSp>
        <p:nvCxnSpPr>
          <p:cNvPr id="110" name="Connector 109"/>
          <p:cNvCxnSpPr/>
          <p:nvPr/>
        </p:nvCxnSpPr>
        <p:spPr>
          <a:xfrm>
            <a:off x="3589020" y="1819656"/>
            <a:ext cx="205740"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 name="Rounded Rectangle 110"/>
          <p:cNvSpPr/>
          <p:nvPr/>
        </p:nvSpPr>
        <p:spPr>
          <a:xfrm>
            <a:off x="3877056" y="1481328"/>
            <a:ext cx="1463040" cy="749808"/>
          </a:xfrm>
          <a:prstGeom prst="roundRect">
            <a:avLst>
              <a:gd name="adj" fmla="val 12195"/>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ounded Rectangle 111"/>
          <p:cNvSpPr/>
          <p:nvPr/>
        </p:nvSpPr>
        <p:spPr>
          <a:xfrm>
            <a:off x="3840480" y="1444752"/>
            <a:ext cx="1463040" cy="749808"/>
          </a:xfrm>
          <a:prstGeom prst="roundRect">
            <a:avLst>
              <a:gd name="adj" fmla="val 12195"/>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ounded Rectangle 112"/>
          <p:cNvSpPr/>
          <p:nvPr/>
        </p:nvSpPr>
        <p:spPr>
          <a:xfrm>
            <a:off x="3931920" y="1563624"/>
            <a:ext cx="457200" cy="457200"/>
          </a:xfrm>
          <a:prstGeom prst="roundRect">
            <a:avLst>
              <a:gd name="adj" fmla="val 24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4" name="Picture 113" descr="l-shopping-cart-ink.png"/>
          <p:cNvPicPr>
            <a:picLocks noChangeAspect="1"/>
          </p:cNvPicPr>
          <p:nvPr/>
        </p:nvPicPr>
        <p:blipFill>
          <a:blip r:embed="rId7"/>
          <a:stretch>
            <a:fillRect/>
          </a:stretch>
        </p:blipFill>
        <p:spPr>
          <a:xfrm>
            <a:off x="4023359" y="1655064"/>
            <a:ext cx="274320" cy="274320"/>
          </a:xfrm>
          <a:prstGeom prst="rect">
            <a:avLst/>
          </a:prstGeom>
        </p:spPr>
      </p:pic>
      <p:sp>
        <p:nvSpPr>
          <p:cNvPr id="115" name="TextBox 114"/>
          <p:cNvSpPr txBox="1"/>
          <p:nvPr/>
        </p:nvSpPr>
        <p:spPr>
          <a:xfrm>
            <a:off x="4462272" y="1536192"/>
            <a:ext cx="786384" cy="274320"/>
          </a:xfrm>
          <a:prstGeom prst="rect">
            <a:avLst/>
          </a:prstGeom>
          <a:noFill/>
        </p:spPr>
        <p:txBody>
          <a:bodyPr wrap="square" lIns="0" rIns="0" tIns="0" bIns="0" anchor="t">
            <a:noAutofit/>
          </a:bodyPr>
          <a:lstStyle/>
          <a:p>
            <a:pPr algn="l">
              <a:lnSpc>
                <a:spcPct val="100000"/>
              </a:lnSpc>
              <a:spcAft>
                <a:spcPts val="0"/>
              </a:spcAft>
            </a:pPr>
            <a:r>
              <a:rPr sz="1050" b="1">
                <a:solidFill>
                  <a:srgbClr val="111111"/>
                </a:solidFill>
                <a:latin typeface="Google Sans Flex"/>
              </a:rPr>
              <a:t>Cart</a:t>
            </a:r>
          </a:p>
        </p:txBody>
      </p:sp>
      <p:sp>
        <p:nvSpPr>
          <p:cNvPr id="116" name="TextBox 115"/>
          <p:cNvSpPr txBox="1"/>
          <p:nvPr/>
        </p:nvSpPr>
        <p:spPr>
          <a:xfrm>
            <a:off x="4462272" y="1792224"/>
            <a:ext cx="786384" cy="347472"/>
          </a:xfrm>
          <a:prstGeom prst="rect">
            <a:avLst/>
          </a:prstGeom>
          <a:noFill/>
        </p:spPr>
        <p:txBody>
          <a:bodyPr wrap="square" lIns="0" rIns="0" tIns="0" bIns="0" anchor="t">
            <a:noAutofit/>
          </a:bodyPr>
          <a:lstStyle/>
          <a:p>
            <a:pPr algn="l">
              <a:lnSpc>
                <a:spcPct val="95000"/>
              </a:lnSpc>
              <a:spcAft>
                <a:spcPts val="0"/>
              </a:spcAft>
            </a:pPr>
            <a:r>
              <a:rPr sz="850" b="0">
                <a:solidFill>
                  <a:srgbClr val="5F6368"/>
                </a:solidFill>
                <a:latin typeface="Google Sans Flex"/>
              </a:rPr>
              <a:t>what got added?</a:t>
            </a:r>
          </a:p>
        </p:txBody>
      </p:sp>
      <p:cxnSp>
        <p:nvCxnSpPr>
          <p:cNvPr id="117" name="Connector 116"/>
          <p:cNvCxnSpPr/>
          <p:nvPr/>
        </p:nvCxnSpPr>
        <p:spPr>
          <a:xfrm>
            <a:off x="5349240" y="1819656"/>
            <a:ext cx="205740"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8" name="Rounded Rectangle 117"/>
          <p:cNvSpPr/>
          <p:nvPr/>
        </p:nvSpPr>
        <p:spPr>
          <a:xfrm>
            <a:off x="5637276" y="1481328"/>
            <a:ext cx="1463040" cy="749808"/>
          </a:xfrm>
          <a:prstGeom prst="roundRect">
            <a:avLst>
              <a:gd name="adj" fmla="val 12195"/>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ounded Rectangle 118"/>
          <p:cNvSpPr/>
          <p:nvPr/>
        </p:nvSpPr>
        <p:spPr>
          <a:xfrm>
            <a:off x="5600700" y="1444752"/>
            <a:ext cx="1463040" cy="749808"/>
          </a:xfrm>
          <a:prstGeom prst="roundRect">
            <a:avLst>
              <a:gd name="adj" fmla="val 12195"/>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ounded Rectangle 119"/>
          <p:cNvSpPr/>
          <p:nvPr/>
        </p:nvSpPr>
        <p:spPr>
          <a:xfrm>
            <a:off x="5692140" y="1563624"/>
            <a:ext cx="457200" cy="457200"/>
          </a:xfrm>
          <a:prstGeom prst="roundRect">
            <a:avLst>
              <a:gd name="adj" fmla="val 24000"/>
            </a:avLst>
          </a:prstGeom>
          <a:solidFill>
            <a:srgbClr val="FFB38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1" name="Picture 120" descr="l-clipboard-list-ink.png"/>
          <p:cNvPicPr>
            <a:picLocks noChangeAspect="1"/>
          </p:cNvPicPr>
          <p:nvPr/>
        </p:nvPicPr>
        <p:blipFill>
          <a:blip r:embed="rId8"/>
          <a:stretch>
            <a:fillRect/>
          </a:stretch>
        </p:blipFill>
        <p:spPr>
          <a:xfrm>
            <a:off x="5783579" y="1655064"/>
            <a:ext cx="274320" cy="274320"/>
          </a:xfrm>
          <a:prstGeom prst="rect">
            <a:avLst/>
          </a:prstGeom>
        </p:spPr>
      </p:pic>
      <p:sp>
        <p:nvSpPr>
          <p:cNvPr id="122" name="TextBox 121"/>
          <p:cNvSpPr txBox="1"/>
          <p:nvPr/>
        </p:nvSpPr>
        <p:spPr>
          <a:xfrm>
            <a:off x="6222492" y="1536192"/>
            <a:ext cx="786384" cy="274320"/>
          </a:xfrm>
          <a:prstGeom prst="rect">
            <a:avLst/>
          </a:prstGeom>
          <a:noFill/>
        </p:spPr>
        <p:txBody>
          <a:bodyPr wrap="square" lIns="0" rIns="0" tIns="0" bIns="0" anchor="t">
            <a:noAutofit/>
          </a:bodyPr>
          <a:lstStyle/>
          <a:p>
            <a:pPr algn="l">
              <a:lnSpc>
                <a:spcPct val="100000"/>
              </a:lnSpc>
              <a:spcAft>
                <a:spcPts val="0"/>
              </a:spcAft>
            </a:pPr>
            <a:r>
              <a:rPr sz="1050" b="1">
                <a:solidFill>
                  <a:srgbClr val="111111"/>
                </a:solidFill>
                <a:latin typeface="Google Sans Flex"/>
              </a:rPr>
              <a:t>Checkout</a:t>
            </a:r>
          </a:p>
        </p:txBody>
      </p:sp>
      <p:sp>
        <p:nvSpPr>
          <p:cNvPr id="123" name="TextBox 122"/>
          <p:cNvSpPr txBox="1"/>
          <p:nvPr/>
        </p:nvSpPr>
        <p:spPr>
          <a:xfrm>
            <a:off x="6222492" y="1792224"/>
            <a:ext cx="786384" cy="347472"/>
          </a:xfrm>
          <a:prstGeom prst="rect">
            <a:avLst/>
          </a:prstGeom>
          <a:noFill/>
        </p:spPr>
        <p:txBody>
          <a:bodyPr wrap="square" lIns="0" rIns="0" tIns="0" bIns="0" anchor="t">
            <a:noAutofit/>
          </a:bodyPr>
          <a:lstStyle/>
          <a:p>
            <a:pPr algn="l">
              <a:lnSpc>
                <a:spcPct val="95000"/>
              </a:lnSpc>
              <a:spcAft>
                <a:spcPts val="0"/>
              </a:spcAft>
            </a:pPr>
            <a:r>
              <a:rPr sz="850" b="0">
                <a:solidFill>
                  <a:srgbClr val="5F6368"/>
                </a:solidFill>
                <a:latin typeface="Google Sans Flex"/>
              </a:rPr>
              <a:t>pre-ticked? hidden options?</a:t>
            </a:r>
          </a:p>
        </p:txBody>
      </p:sp>
      <p:cxnSp>
        <p:nvCxnSpPr>
          <p:cNvPr id="124" name="Connector 123"/>
          <p:cNvCxnSpPr/>
          <p:nvPr/>
        </p:nvCxnSpPr>
        <p:spPr>
          <a:xfrm>
            <a:off x="7109459" y="1819656"/>
            <a:ext cx="205741"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5" name="Rounded Rectangle 124"/>
          <p:cNvSpPr/>
          <p:nvPr/>
        </p:nvSpPr>
        <p:spPr>
          <a:xfrm>
            <a:off x="7397496" y="1481328"/>
            <a:ext cx="1463040" cy="749808"/>
          </a:xfrm>
          <a:prstGeom prst="roundRect">
            <a:avLst>
              <a:gd name="adj" fmla="val 12195"/>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ounded Rectangle 125"/>
          <p:cNvSpPr/>
          <p:nvPr/>
        </p:nvSpPr>
        <p:spPr>
          <a:xfrm>
            <a:off x="7360920" y="1444752"/>
            <a:ext cx="1463040" cy="749808"/>
          </a:xfrm>
          <a:prstGeom prst="roundRect">
            <a:avLst>
              <a:gd name="adj" fmla="val 12195"/>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ounded Rectangle 126"/>
          <p:cNvSpPr/>
          <p:nvPr/>
        </p:nvSpPr>
        <p:spPr>
          <a:xfrm>
            <a:off x="7452360" y="1563624"/>
            <a:ext cx="457200" cy="457200"/>
          </a:xfrm>
          <a:prstGeom prst="roundRect">
            <a:avLst>
              <a:gd name="adj" fmla="val 24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8" name="Picture 127" descr="l-credit-card-ink.png"/>
          <p:cNvPicPr>
            <a:picLocks noChangeAspect="1"/>
          </p:cNvPicPr>
          <p:nvPr/>
        </p:nvPicPr>
        <p:blipFill>
          <a:blip r:embed="rId9"/>
          <a:stretch>
            <a:fillRect/>
          </a:stretch>
        </p:blipFill>
        <p:spPr>
          <a:xfrm>
            <a:off x="7543800" y="1655064"/>
            <a:ext cx="274320" cy="274320"/>
          </a:xfrm>
          <a:prstGeom prst="rect">
            <a:avLst/>
          </a:prstGeom>
        </p:spPr>
      </p:pic>
      <p:sp>
        <p:nvSpPr>
          <p:cNvPr id="129" name="TextBox 128"/>
          <p:cNvSpPr txBox="1"/>
          <p:nvPr/>
        </p:nvSpPr>
        <p:spPr>
          <a:xfrm>
            <a:off x="7982712" y="1536192"/>
            <a:ext cx="786384" cy="274320"/>
          </a:xfrm>
          <a:prstGeom prst="rect">
            <a:avLst/>
          </a:prstGeom>
          <a:noFill/>
        </p:spPr>
        <p:txBody>
          <a:bodyPr wrap="square" lIns="0" rIns="0" tIns="0" bIns="0" anchor="t">
            <a:noAutofit/>
          </a:bodyPr>
          <a:lstStyle/>
          <a:p>
            <a:pPr algn="l">
              <a:lnSpc>
                <a:spcPct val="100000"/>
              </a:lnSpc>
              <a:spcAft>
                <a:spcPts val="0"/>
              </a:spcAft>
            </a:pPr>
            <a:r>
              <a:rPr sz="1050" b="1">
                <a:solidFill>
                  <a:srgbClr val="111111"/>
                </a:solidFill>
                <a:latin typeface="Google Sans Flex"/>
              </a:rPr>
              <a:t>Payment</a:t>
            </a:r>
          </a:p>
        </p:txBody>
      </p:sp>
      <p:sp>
        <p:nvSpPr>
          <p:cNvPr id="130" name="TextBox 129"/>
          <p:cNvSpPr txBox="1"/>
          <p:nvPr/>
        </p:nvSpPr>
        <p:spPr>
          <a:xfrm>
            <a:off x="7982712" y="1792224"/>
            <a:ext cx="786384" cy="347472"/>
          </a:xfrm>
          <a:prstGeom prst="rect">
            <a:avLst/>
          </a:prstGeom>
          <a:noFill/>
        </p:spPr>
        <p:txBody>
          <a:bodyPr wrap="square" lIns="0" rIns="0" tIns="0" bIns="0" anchor="t">
            <a:noAutofit/>
          </a:bodyPr>
          <a:lstStyle/>
          <a:p>
            <a:pPr algn="l">
              <a:lnSpc>
                <a:spcPct val="95000"/>
              </a:lnSpc>
              <a:spcAft>
                <a:spcPts val="0"/>
              </a:spcAft>
            </a:pPr>
            <a:r>
              <a:rPr sz="850" b="0">
                <a:solidFill>
                  <a:srgbClr val="5F6368"/>
                </a:solidFill>
                <a:latin typeface="Google Sans Flex"/>
              </a:rPr>
              <a:t>late fees · never pays</a:t>
            </a:r>
          </a:p>
        </p:txBody>
      </p:sp>
      <p:sp>
        <p:nvSpPr>
          <p:cNvPr id="131" name="Rounded Rectangle 130"/>
          <p:cNvSpPr/>
          <p:nvPr/>
        </p:nvSpPr>
        <p:spPr>
          <a:xfrm>
            <a:off x="5143500" y="2331720"/>
            <a:ext cx="3566160" cy="329184"/>
          </a:xfrm>
          <a:prstGeom prst="roundRect">
            <a:avLst>
              <a:gd name="adj" fmla="val 22222"/>
            </a:avLst>
          </a:prstGeom>
          <a:solidFill>
            <a:srgbClr val="FFF8EC"/>
          </a:solidFill>
          <a:ln w="12700">
            <a:solidFill>
              <a:srgbClr val="11111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2" name="Picture 131" descr="l-lock-ink.png"/>
          <p:cNvPicPr>
            <a:picLocks noChangeAspect="1"/>
          </p:cNvPicPr>
          <p:nvPr/>
        </p:nvPicPr>
        <p:blipFill>
          <a:blip r:embed="rId10"/>
          <a:stretch>
            <a:fillRect/>
          </a:stretch>
        </p:blipFill>
        <p:spPr>
          <a:xfrm>
            <a:off x="5234940" y="2386584"/>
            <a:ext cx="219456" cy="219456"/>
          </a:xfrm>
          <a:prstGeom prst="rect">
            <a:avLst/>
          </a:prstGeom>
        </p:spPr>
      </p:pic>
      <p:sp>
        <p:nvSpPr>
          <p:cNvPr id="133" name="TextBox 132"/>
          <p:cNvSpPr txBox="1"/>
          <p:nvPr/>
        </p:nvSpPr>
        <p:spPr>
          <a:xfrm>
            <a:off x="5527548" y="2331720"/>
            <a:ext cx="3108960" cy="329184"/>
          </a:xfrm>
          <a:prstGeom prst="rect">
            <a:avLst/>
          </a:prstGeom>
          <a:noFill/>
        </p:spPr>
        <p:txBody>
          <a:bodyPr wrap="square" lIns="0" rIns="0" tIns="0" bIns="0" anchor="ctr">
            <a:noAutofit/>
          </a:bodyPr>
          <a:lstStyle/>
          <a:p>
            <a:pPr algn="l">
              <a:lnSpc>
                <a:spcPct val="100000"/>
              </a:lnSpc>
              <a:spcAft>
                <a:spcPts val="0"/>
              </a:spcAft>
            </a:pPr>
            <a:r>
              <a:rPr sz="850" b="0">
                <a:solidFill>
                  <a:srgbClr val="111111"/>
                </a:solidFill>
                <a:latin typeface="Google Sans Flex Medium"/>
              </a:rPr>
              <a:t>Sign-in wall or bot protection? Stop, and report what it saw.</a:t>
            </a:r>
          </a:p>
        </p:txBody>
      </p:sp>
      <p:cxnSp>
        <p:nvCxnSpPr>
          <p:cNvPr id="134" name="Connector 133"/>
          <p:cNvCxnSpPr/>
          <p:nvPr/>
        </p:nvCxnSpPr>
        <p:spPr>
          <a:xfrm>
            <a:off x="320040" y="2788920"/>
            <a:ext cx="8503920" cy="0"/>
          </a:xfrm>
          <a:prstGeom prst="line">
            <a:avLst/>
          </a:prstGeom>
          <a:ln w="12700">
            <a:solidFill>
              <a:srgbClr val="DADCE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320040" y="2862072"/>
            <a:ext cx="5486400" cy="201168"/>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ON EVERY SCREEN  </a:t>
            </a:r>
            <a:r>
              <a:rPr sz="900" b="0">
                <a:solidFill>
                  <a:srgbClr val="5F6368"/>
                </a:solidFill>
                <a:latin typeface="Google Sans Flex"/>
              </a:rPr>
              <a:t>ADK agent graph: measurement, analysis and evidence review</a:t>
            </a:r>
          </a:p>
        </p:txBody>
      </p:sp>
      <p:sp>
        <p:nvSpPr>
          <p:cNvPr id="136" name="Rounded Rectangle 135"/>
          <p:cNvSpPr/>
          <p:nvPr/>
        </p:nvSpPr>
        <p:spPr>
          <a:xfrm>
            <a:off x="356615"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ounded Rectangle 136"/>
          <p:cNvSpPr/>
          <p:nvPr/>
        </p:nvSpPr>
        <p:spPr>
          <a:xfrm>
            <a:off x="320040"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ounded Rectangle 137"/>
          <p:cNvSpPr/>
          <p:nvPr/>
        </p:nvSpPr>
        <p:spPr>
          <a:xfrm>
            <a:off x="429768" y="3236976"/>
            <a:ext cx="365760" cy="365760"/>
          </a:xfrm>
          <a:prstGeom prst="roundRect">
            <a:avLst>
              <a:gd name="adj" fmla="val 24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9" name="Picture 138" descr="l-scan-eye-ink.png"/>
          <p:cNvPicPr>
            <a:picLocks noChangeAspect="1"/>
          </p:cNvPicPr>
          <p:nvPr/>
        </p:nvPicPr>
        <p:blipFill>
          <a:blip r:embed="rId11"/>
          <a:stretch>
            <a:fillRect/>
          </a:stretch>
        </p:blipFill>
        <p:spPr>
          <a:xfrm>
            <a:off x="495604" y="3302812"/>
            <a:ext cx="234086" cy="234086"/>
          </a:xfrm>
          <a:prstGeom prst="rect">
            <a:avLst/>
          </a:prstGeom>
        </p:spPr>
      </p:pic>
      <p:sp>
        <p:nvSpPr>
          <p:cNvPr id="140" name="TextBox 139"/>
          <p:cNvSpPr txBox="1"/>
          <p:nvPr/>
        </p:nvSpPr>
        <p:spPr>
          <a:xfrm>
            <a:off x="429768"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Capture</a:t>
            </a:r>
          </a:p>
        </p:txBody>
      </p:sp>
      <p:sp>
        <p:nvSpPr>
          <p:cNvPr id="141" name="TextBox 140"/>
          <p:cNvSpPr txBox="1"/>
          <p:nvPr/>
        </p:nvSpPr>
        <p:spPr>
          <a:xfrm>
            <a:off x="429768"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screenshot + every element measured</a:t>
            </a:r>
          </a:p>
        </p:txBody>
      </p:sp>
      <p:cxnSp>
        <p:nvCxnSpPr>
          <p:cNvPr id="142" name="Connector 141"/>
          <p:cNvCxnSpPr/>
          <p:nvPr/>
        </p:nvCxnSpPr>
        <p:spPr>
          <a:xfrm>
            <a:off x="1618488" y="3639312"/>
            <a:ext cx="128016"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3" name="Rounded Rectangle 142"/>
          <p:cNvSpPr/>
          <p:nvPr/>
        </p:nvSpPr>
        <p:spPr>
          <a:xfrm>
            <a:off x="1801368"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ounded Rectangle 143"/>
          <p:cNvSpPr/>
          <p:nvPr/>
        </p:nvSpPr>
        <p:spPr>
          <a:xfrm>
            <a:off x="1764792"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ounded Rectangle 144"/>
          <p:cNvSpPr/>
          <p:nvPr/>
        </p:nvSpPr>
        <p:spPr>
          <a:xfrm>
            <a:off x="1874520" y="3236976"/>
            <a:ext cx="365760" cy="365760"/>
          </a:xfrm>
          <a:prstGeom prst="roundRect">
            <a:avLst>
              <a:gd name="adj" fmla="val 24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6" name="Picture 145" descr="l-ruler-ink.png"/>
          <p:cNvPicPr>
            <a:picLocks noChangeAspect="1"/>
          </p:cNvPicPr>
          <p:nvPr/>
        </p:nvPicPr>
        <p:blipFill>
          <a:blip r:embed="rId12"/>
          <a:stretch>
            <a:fillRect/>
          </a:stretch>
        </p:blipFill>
        <p:spPr>
          <a:xfrm>
            <a:off x="1940356" y="3302812"/>
            <a:ext cx="234086" cy="234086"/>
          </a:xfrm>
          <a:prstGeom prst="rect">
            <a:avLst/>
          </a:prstGeom>
        </p:spPr>
      </p:pic>
      <p:sp>
        <p:nvSpPr>
          <p:cNvPr id="147" name="TextBox 146"/>
          <p:cNvSpPr txBox="1"/>
          <p:nvPr/>
        </p:nvSpPr>
        <p:spPr>
          <a:xfrm>
            <a:off x="1874520"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Measured checks</a:t>
            </a:r>
          </a:p>
        </p:txBody>
      </p:sp>
      <p:sp>
        <p:nvSpPr>
          <p:cNvPr id="148" name="TextBox 147"/>
          <p:cNvSpPr txBox="1"/>
          <p:nvPr/>
        </p:nvSpPr>
        <p:spPr>
          <a:xfrm>
            <a:off x="1874520"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timers, stock, cart, fees, prices</a:t>
            </a:r>
          </a:p>
        </p:txBody>
      </p:sp>
      <p:cxnSp>
        <p:nvCxnSpPr>
          <p:cNvPr id="149" name="Connector 148"/>
          <p:cNvCxnSpPr/>
          <p:nvPr/>
        </p:nvCxnSpPr>
        <p:spPr>
          <a:xfrm>
            <a:off x="3063240" y="3639312"/>
            <a:ext cx="128016"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0" name="Rounded Rectangle 149"/>
          <p:cNvSpPr/>
          <p:nvPr/>
        </p:nvSpPr>
        <p:spPr>
          <a:xfrm>
            <a:off x="3246120"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ounded Rectangle 150"/>
          <p:cNvSpPr/>
          <p:nvPr/>
        </p:nvSpPr>
        <p:spPr>
          <a:xfrm>
            <a:off x="3209544"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ounded Rectangle 151"/>
          <p:cNvSpPr/>
          <p:nvPr/>
        </p:nvSpPr>
        <p:spPr>
          <a:xfrm>
            <a:off x="3319272" y="3236976"/>
            <a:ext cx="365760" cy="365760"/>
          </a:xfrm>
          <a:prstGeom prst="roundRect">
            <a:avLst>
              <a:gd name="adj" fmla="val 24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3" name="Picture 152" descr="brand-gemini.png"/>
          <p:cNvPicPr>
            <a:picLocks noChangeAspect="1"/>
          </p:cNvPicPr>
          <p:nvPr/>
        </p:nvPicPr>
        <p:blipFill>
          <a:blip r:embed="rId13"/>
          <a:stretch>
            <a:fillRect/>
          </a:stretch>
        </p:blipFill>
        <p:spPr>
          <a:xfrm>
            <a:off x="3385108" y="3302812"/>
            <a:ext cx="234086" cy="234086"/>
          </a:xfrm>
          <a:prstGeom prst="rect">
            <a:avLst/>
          </a:prstGeom>
        </p:spPr>
      </p:pic>
      <p:sp>
        <p:nvSpPr>
          <p:cNvPr id="154" name="TextBox 153"/>
          <p:cNvSpPr txBox="1"/>
          <p:nvPr/>
        </p:nvSpPr>
        <p:spPr>
          <a:xfrm>
            <a:off x="3319272"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Pattern Analyst</a:t>
            </a:r>
          </a:p>
        </p:txBody>
      </p:sp>
      <p:sp>
        <p:nvSpPr>
          <p:cNvPr id="155" name="TextBox 154"/>
          <p:cNvSpPr txBox="1"/>
          <p:nvPr/>
        </p:nvSpPr>
        <p:spPr>
          <a:xfrm>
            <a:off x="3319272"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Gemini reads wording and design</a:t>
            </a:r>
          </a:p>
        </p:txBody>
      </p:sp>
      <p:cxnSp>
        <p:nvCxnSpPr>
          <p:cNvPr id="156" name="Connector 155"/>
          <p:cNvCxnSpPr/>
          <p:nvPr/>
        </p:nvCxnSpPr>
        <p:spPr>
          <a:xfrm>
            <a:off x="4507992" y="3639312"/>
            <a:ext cx="128016"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7" name="Rounded Rectangle 156"/>
          <p:cNvSpPr/>
          <p:nvPr/>
        </p:nvSpPr>
        <p:spPr>
          <a:xfrm>
            <a:off x="4690872"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ounded Rectangle 157"/>
          <p:cNvSpPr/>
          <p:nvPr/>
        </p:nvSpPr>
        <p:spPr>
          <a:xfrm>
            <a:off x="4654296"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ounded Rectangle 158"/>
          <p:cNvSpPr/>
          <p:nvPr/>
        </p:nvSpPr>
        <p:spPr>
          <a:xfrm>
            <a:off x="4764024" y="3236976"/>
            <a:ext cx="365760" cy="365760"/>
          </a:xfrm>
          <a:prstGeom prst="roundRect">
            <a:avLst>
              <a:gd name="adj" fmla="val 24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0" name="Picture 159" descr="l-target-ink.png"/>
          <p:cNvPicPr>
            <a:picLocks noChangeAspect="1"/>
          </p:cNvPicPr>
          <p:nvPr/>
        </p:nvPicPr>
        <p:blipFill>
          <a:blip r:embed="rId14"/>
          <a:stretch>
            <a:fillRect/>
          </a:stretch>
        </p:blipFill>
        <p:spPr>
          <a:xfrm>
            <a:off x="4829860" y="3302812"/>
            <a:ext cx="234086" cy="234086"/>
          </a:xfrm>
          <a:prstGeom prst="rect">
            <a:avLst/>
          </a:prstGeom>
        </p:spPr>
      </p:pic>
      <p:sp>
        <p:nvSpPr>
          <p:cNvPr id="161" name="TextBox 160"/>
          <p:cNvSpPr txBox="1"/>
          <p:nvPr/>
        </p:nvSpPr>
        <p:spPr>
          <a:xfrm>
            <a:off x="4764024"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Evidence rules</a:t>
            </a:r>
          </a:p>
        </p:txBody>
      </p:sp>
      <p:sp>
        <p:nvSpPr>
          <p:cNvPr id="162" name="TextBox 161"/>
          <p:cNvSpPr txBox="1"/>
          <p:nvPr/>
        </p:nvSpPr>
        <p:spPr>
          <a:xfrm>
            <a:off x="4764024"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must cite a measured element</a:t>
            </a:r>
          </a:p>
        </p:txBody>
      </p:sp>
      <p:cxnSp>
        <p:nvCxnSpPr>
          <p:cNvPr id="163" name="Connector 162"/>
          <p:cNvCxnSpPr/>
          <p:nvPr/>
        </p:nvCxnSpPr>
        <p:spPr>
          <a:xfrm>
            <a:off x="5952744" y="3639312"/>
            <a:ext cx="128016"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4" name="Rounded Rectangle 163"/>
          <p:cNvSpPr/>
          <p:nvPr/>
        </p:nvSpPr>
        <p:spPr>
          <a:xfrm>
            <a:off x="6135624"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ounded Rectangle 164"/>
          <p:cNvSpPr/>
          <p:nvPr/>
        </p:nvSpPr>
        <p:spPr>
          <a:xfrm>
            <a:off x="6099048"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ounded Rectangle 165"/>
          <p:cNvSpPr/>
          <p:nvPr/>
        </p:nvSpPr>
        <p:spPr>
          <a:xfrm>
            <a:off x="6208776" y="3236976"/>
            <a:ext cx="365760" cy="365760"/>
          </a:xfrm>
          <a:prstGeom prst="roundRect">
            <a:avLst>
              <a:gd name="adj" fmla="val 24000"/>
            </a:avLst>
          </a:prstGeom>
          <a:solidFill>
            <a:srgbClr val="4ADE9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7" name="Picture 166" descr="l-scale-ink.png"/>
          <p:cNvPicPr>
            <a:picLocks noChangeAspect="1"/>
          </p:cNvPicPr>
          <p:nvPr/>
        </p:nvPicPr>
        <p:blipFill>
          <a:blip r:embed="rId15"/>
          <a:stretch>
            <a:fillRect/>
          </a:stretch>
        </p:blipFill>
        <p:spPr>
          <a:xfrm>
            <a:off x="6274612" y="3302812"/>
            <a:ext cx="234086" cy="234086"/>
          </a:xfrm>
          <a:prstGeom prst="rect">
            <a:avLst/>
          </a:prstGeom>
        </p:spPr>
      </p:pic>
      <p:sp>
        <p:nvSpPr>
          <p:cNvPr id="168" name="TextBox 167"/>
          <p:cNvSpPr txBox="1"/>
          <p:nvPr/>
        </p:nvSpPr>
        <p:spPr>
          <a:xfrm>
            <a:off x="6208776"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Adjudicator</a:t>
            </a:r>
          </a:p>
        </p:txBody>
      </p:sp>
      <p:sp>
        <p:nvSpPr>
          <p:cNvPr id="169" name="TextBox 168"/>
          <p:cNvSpPr txBox="1"/>
          <p:nvPr/>
        </p:nvSpPr>
        <p:spPr>
          <a:xfrm>
            <a:off x="6208776"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re-checks it with tools</a:t>
            </a:r>
          </a:p>
        </p:txBody>
      </p:sp>
      <p:cxnSp>
        <p:nvCxnSpPr>
          <p:cNvPr id="170" name="Connector 169"/>
          <p:cNvCxnSpPr/>
          <p:nvPr/>
        </p:nvCxnSpPr>
        <p:spPr>
          <a:xfrm>
            <a:off x="7397496" y="3639312"/>
            <a:ext cx="128016" cy="0"/>
          </a:xfrm>
          <a:prstGeom prst="line">
            <a:avLst/>
          </a:prstGeom>
          <a:ln w="1905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1" name="Rounded Rectangle 170"/>
          <p:cNvSpPr/>
          <p:nvPr/>
        </p:nvSpPr>
        <p:spPr>
          <a:xfrm>
            <a:off x="7580376" y="3163824"/>
            <a:ext cx="1280160" cy="1024128"/>
          </a:xfrm>
          <a:prstGeom prst="roundRect">
            <a:avLst>
              <a:gd name="adj" fmla="val 8928"/>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ounded Rectangle 171"/>
          <p:cNvSpPr/>
          <p:nvPr/>
        </p:nvSpPr>
        <p:spPr>
          <a:xfrm>
            <a:off x="7543800" y="3127248"/>
            <a:ext cx="1280160" cy="1024128"/>
          </a:xfrm>
          <a:prstGeom prst="roundRect">
            <a:avLst>
              <a:gd name="adj" fmla="val 8928"/>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ounded Rectangle 172"/>
          <p:cNvSpPr/>
          <p:nvPr/>
        </p:nvSpPr>
        <p:spPr>
          <a:xfrm>
            <a:off x="7653528" y="3236976"/>
            <a:ext cx="365760" cy="365760"/>
          </a:xfrm>
          <a:prstGeom prst="roundRect">
            <a:avLst>
              <a:gd name="adj" fmla="val 24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 name="Picture 173" descr="l-badge-check-ink.png"/>
          <p:cNvPicPr>
            <a:picLocks noChangeAspect="1"/>
          </p:cNvPicPr>
          <p:nvPr/>
        </p:nvPicPr>
        <p:blipFill>
          <a:blip r:embed="rId16"/>
          <a:stretch>
            <a:fillRect/>
          </a:stretch>
        </p:blipFill>
        <p:spPr>
          <a:xfrm>
            <a:off x="7719364" y="3302812"/>
            <a:ext cx="234086" cy="234086"/>
          </a:xfrm>
          <a:prstGeom prst="rect">
            <a:avLst/>
          </a:prstGeom>
        </p:spPr>
      </p:pic>
      <p:sp>
        <p:nvSpPr>
          <p:cNvPr id="175" name="TextBox 174"/>
          <p:cNvSpPr txBox="1"/>
          <p:nvPr/>
        </p:nvSpPr>
        <p:spPr>
          <a:xfrm>
            <a:off x="7653528" y="3648456"/>
            <a:ext cx="1097280" cy="201168"/>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Verdict</a:t>
            </a:r>
          </a:p>
        </p:txBody>
      </p:sp>
      <p:sp>
        <p:nvSpPr>
          <p:cNvPr id="176" name="TextBox 175"/>
          <p:cNvSpPr txBox="1"/>
          <p:nvPr/>
        </p:nvSpPr>
        <p:spPr>
          <a:xfrm>
            <a:off x="7653528" y="3840480"/>
            <a:ext cx="1097280" cy="310896"/>
          </a:xfrm>
          <a:prstGeom prst="rect">
            <a:avLst/>
          </a:prstGeom>
          <a:noFill/>
        </p:spPr>
        <p:txBody>
          <a:bodyPr wrap="square" lIns="0" rIns="0" tIns="0" bIns="0" anchor="t">
            <a:noAutofit/>
          </a:bodyPr>
          <a:lstStyle/>
          <a:p>
            <a:pPr algn="l">
              <a:lnSpc>
                <a:spcPct val="95000"/>
              </a:lnSpc>
              <a:spcAft>
                <a:spcPts val="0"/>
              </a:spcAft>
            </a:pPr>
            <a:r>
              <a:rPr sz="800" b="0">
                <a:solidFill>
                  <a:srgbClr val="5F6368"/>
                </a:solidFill>
                <a:latin typeface="Google Sans Flex"/>
              </a:rPr>
              <a:t>confirmed · review · dropped</a:t>
            </a:r>
          </a:p>
        </p:txBody>
      </p:sp>
      <p:sp>
        <p:nvSpPr>
          <p:cNvPr id="177" name="Rounded Rectangle 176"/>
          <p:cNvSpPr/>
          <p:nvPr/>
        </p:nvSpPr>
        <p:spPr>
          <a:xfrm>
            <a:off x="320040" y="4334256"/>
            <a:ext cx="8503920" cy="438912"/>
          </a:xfrm>
          <a:prstGeom prst="roundRect">
            <a:avLst>
              <a:gd name="adj" fmla="val 20833"/>
            </a:avLst>
          </a:prstGeom>
          <a:solidFill>
            <a:srgbClr val="111111"/>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8" name="Picture 177" descr="l-file-down-white.png"/>
          <p:cNvPicPr>
            <a:picLocks noChangeAspect="1"/>
          </p:cNvPicPr>
          <p:nvPr/>
        </p:nvPicPr>
        <p:blipFill>
          <a:blip r:embed="rId17"/>
          <a:stretch>
            <a:fillRect/>
          </a:stretch>
        </p:blipFill>
        <p:spPr>
          <a:xfrm>
            <a:off x="466344" y="4425696"/>
            <a:ext cx="256032" cy="256032"/>
          </a:xfrm>
          <a:prstGeom prst="rect">
            <a:avLst/>
          </a:prstGeom>
        </p:spPr>
      </p:pic>
      <p:sp>
        <p:nvSpPr>
          <p:cNvPr id="179" name="TextBox 178"/>
          <p:cNvSpPr txBox="1"/>
          <p:nvPr/>
        </p:nvSpPr>
        <p:spPr>
          <a:xfrm>
            <a:off x="832104" y="4334256"/>
            <a:ext cx="7863840" cy="438912"/>
          </a:xfrm>
          <a:prstGeom prst="rect">
            <a:avLst/>
          </a:prstGeom>
          <a:noFill/>
        </p:spPr>
        <p:txBody>
          <a:bodyPr wrap="square" lIns="0" rIns="0" tIns="0" bIns="0" anchor="ctr">
            <a:noAutofit/>
          </a:bodyPr>
          <a:lstStyle/>
          <a:p>
            <a:pPr algn="l">
              <a:lnSpc>
                <a:spcPct val="100000"/>
              </a:lnSpc>
              <a:spcAft>
                <a:spcPts val="0"/>
              </a:spcAft>
            </a:pPr>
            <a:r>
              <a:rPr sz="1050" b="1">
                <a:solidFill>
                  <a:srgbClr val="C6F432"/>
                </a:solidFill>
                <a:latin typeface="Google Sans Flex"/>
              </a:rPr>
              <a:t>Report  </a:t>
            </a:r>
            <a:r>
              <a:rPr sz="1050" b="0">
                <a:solidFill>
                  <a:srgbClr val="FFFFFF"/>
                </a:solidFill>
                <a:latin typeface="Google Sans Flex"/>
              </a:rPr>
              <a:t>trust score  ·  the real bill  ·  law in 7 regions  ·  CCPA self-audit  ·  PDF   →   Fix it: projected, then verified on a copy</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The working product</a:t>
            </a:r>
            <a:endParaRPr sz="1600">
              <a:latin typeface="Google Sans Flex Medium"/>
              <a:ea typeface="Google Sans Flex Medium"/>
              <a:cs typeface="Google Sans Flex Medium"/>
              <a:sym typeface="Google Sans Flex Medium"/>
            </a:endParaRPr>
          </a:p>
        </p:txBody>
      </p:sp>
      <p:sp>
        <p:nvSpPr>
          <p:cNvPr id="104" name="Rounded Rectangle 103"/>
          <p:cNvSpPr/>
          <p:nvPr/>
        </p:nvSpPr>
        <p:spPr>
          <a:xfrm>
            <a:off x="365759" y="1325880"/>
            <a:ext cx="2639568" cy="1883664"/>
          </a:xfrm>
          <a:prstGeom prst="roundRect">
            <a:avLst>
              <a:gd name="adj" fmla="val 388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ounded Rectangle 104"/>
          <p:cNvSpPr/>
          <p:nvPr/>
        </p:nvSpPr>
        <p:spPr>
          <a:xfrm>
            <a:off x="320040" y="1280160"/>
            <a:ext cx="2639568" cy="1883664"/>
          </a:xfrm>
          <a:prstGeom prst="roundRect">
            <a:avLst>
              <a:gd name="adj" fmla="val 388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ounded Rectangle 105"/>
          <p:cNvSpPr/>
          <p:nvPr/>
        </p:nvSpPr>
        <p:spPr>
          <a:xfrm>
            <a:off x="320040" y="1280160"/>
            <a:ext cx="2639568" cy="182880"/>
          </a:xfrm>
          <a:prstGeom prst="roundRect">
            <a:avLst>
              <a:gd name="adj" fmla="val 40000"/>
            </a:avLst>
          </a:prstGeom>
          <a:solidFill>
            <a:srgbClr val="F1F3F4"/>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Oval 106"/>
          <p:cNvSpPr/>
          <p:nvPr/>
        </p:nvSpPr>
        <p:spPr>
          <a:xfrm>
            <a:off x="411479" y="1335024"/>
            <a:ext cx="73152" cy="7315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Oval 107"/>
          <p:cNvSpPr/>
          <p:nvPr/>
        </p:nvSpPr>
        <p:spPr>
          <a:xfrm>
            <a:off x="521207" y="1335024"/>
            <a:ext cx="73152" cy="7315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Oval 108"/>
          <p:cNvSpPr/>
          <p:nvPr/>
        </p:nvSpPr>
        <p:spPr>
          <a:xfrm>
            <a:off x="630936" y="1335024"/>
            <a:ext cx="73152" cy="7315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0" name="Picture 109" descr="Paste a URL or pick a store"/>
          <p:cNvPicPr>
            <a:picLocks noChangeAspect="1"/>
          </p:cNvPicPr>
          <p:nvPr/>
        </p:nvPicPr>
        <p:blipFill>
          <a:blip r:embed="rId5"/>
          <a:stretch>
            <a:fillRect/>
          </a:stretch>
        </p:blipFill>
        <p:spPr>
          <a:xfrm>
            <a:off x="347472" y="1472184"/>
            <a:ext cx="2584704" cy="1615440"/>
          </a:xfrm>
          <a:prstGeom prst="rect">
            <a:avLst/>
          </a:prstGeom>
        </p:spPr>
      </p:pic>
      <p:sp>
        <p:nvSpPr>
          <p:cNvPr id="111" name="Oval 110"/>
          <p:cNvSpPr/>
          <p:nvPr/>
        </p:nvSpPr>
        <p:spPr>
          <a:xfrm>
            <a:off x="320040" y="3310128"/>
            <a:ext cx="347472" cy="347472"/>
          </a:xfrm>
          <a:prstGeom prst="ellipse">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320040" y="3310128"/>
            <a:ext cx="347472" cy="347472"/>
          </a:xfrm>
          <a:prstGeom prst="rect">
            <a:avLst/>
          </a:prstGeom>
          <a:noFill/>
        </p:spPr>
        <p:txBody>
          <a:bodyPr wrap="square" lIns="0" rIns="0" tIns="0" bIns="0" anchor="ctr">
            <a:noAutofit/>
          </a:bodyPr>
          <a:lstStyle/>
          <a:p>
            <a:pPr algn="ctr">
              <a:lnSpc>
                <a:spcPct val="100000"/>
              </a:lnSpc>
              <a:spcAft>
                <a:spcPts val="0"/>
              </a:spcAft>
            </a:pPr>
            <a:r>
              <a:rPr sz="1200" b="1">
                <a:solidFill>
                  <a:srgbClr val="111111"/>
                </a:solidFill>
                <a:latin typeface="Google Sans Flex"/>
              </a:rPr>
              <a:t>1</a:t>
            </a:r>
          </a:p>
        </p:txBody>
      </p:sp>
      <p:sp>
        <p:nvSpPr>
          <p:cNvPr id="113" name="TextBox 112"/>
          <p:cNvSpPr txBox="1"/>
          <p:nvPr/>
        </p:nvSpPr>
        <p:spPr>
          <a:xfrm>
            <a:off x="758952" y="3310128"/>
            <a:ext cx="2182368" cy="347472"/>
          </a:xfrm>
          <a:prstGeom prst="rect">
            <a:avLst/>
          </a:prstGeom>
          <a:noFill/>
        </p:spPr>
        <p:txBody>
          <a:bodyPr wrap="square" lIns="0" rIns="0" tIns="0" bIns="0" anchor="ctr">
            <a:noAutofit/>
          </a:bodyPr>
          <a:lstStyle/>
          <a:p>
            <a:pPr algn="l">
              <a:lnSpc>
                <a:spcPct val="100000"/>
              </a:lnSpc>
              <a:spcAft>
                <a:spcPts val="0"/>
              </a:spcAft>
            </a:pPr>
            <a:r>
              <a:rPr sz="1150" b="1">
                <a:solidFill>
                  <a:srgbClr val="111111"/>
                </a:solidFill>
                <a:latin typeface="Google Sans Flex"/>
              </a:rPr>
              <a:t>Paste a URL or pick a store</a:t>
            </a:r>
          </a:p>
        </p:txBody>
      </p:sp>
      <p:sp>
        <p:nvSpPr>
          <p:cNvPr id="114" name="TextBox 113"/>
          <p:cNvSpPr txBox="1"/>
          <p:nvPr/>
        </p:nvSpPr>
        <p:spPr>
          <a:xfrm>
            <a:off x="758952" y="3675887"/>
            <a:ext cx="2182368" cy="457200"/>
          </a:xfrm>
          <a:prstGeom prst="rect">
            <a:avLst/>
          </a:prstGeom>
          <a:noFill/>
        </p:spPr>
        <p:txBody>
          <a:bodyPr wrap="square" lIns="0" rIns="0" tIns="0" bIns="0" anchor="t">
            <a:noAutofit/>
          </a:bodyPr>
          <a:lstStyle/>
          <a:p>
            <a:pPr algn="l">
              <a:lnSpc>
                <a:spcPct val="105000"/>
              </a:lnSpc>
              <a:spcAft>
                <a:spcPts val="0"/>
              </a:spcAft>
            </a:pPr>
            <a:r>
              <a:rPr sz="900" b="0">
                <a:solidFill>
                  <a:srgbClr val="5F6368"/>
                </a:solidFill>
                <a:latin typeface="Google Sans Flex"/>
              </a:rPr>
              <a:t>Sample stores, or any public store, logged out.</a:t>
            </a:r>
          </a:p>
        </p:txBody>
      </p:sp>
      <p:cxnSp>
        <p:nvCxnSpPr>
          <p:cNvPr id="115" name="Connector 114"/>
          <p:cNvCxnSpPr/>
          <p:nvPr/>
        </p:nvCxnSpPr>
        <p:spPr>
          <a:xfrm>
            <a:off x="3005328" y="2240280"/>
            <a:ext cx="201168" cy="0"/>
          </a:xfrm>
          <a:prstGeom prst="line">
            <a:avLst/>
          </a:prstGeom>
          <a:ln w="2540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6" name="Rounded Rectangle 115"/>
          <p:cNvSpPr/>
          <p:nvPr/>
        </p:nvSpPr>
        <p:spPr>
          <a:xfrm>
            <a:off x="3297936" y="1325880"/>
            <a:ext cx="2639568" cy="1883664"/>
          </a:xfrm>
          <a:prstGeom prst="roundRect">
            <a:avLst>
              <a:gd name="adj" fmla="val 388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ounded Rectangle 116"/>
          <p:cNvSpPr/>
          <p:nvPr/>
        </p:nvSpPr>
        <p:spPr>
          <a:xfrm>
            <a:off x="3252216" y="1280160"/>
            <a:ext cx="2639568" cy="1883664"/>
          </a:xfrm>
          <a:prstGeom prst="roundRect">
            <a:avLst>
              <a:gd name="adj" fmla="val 388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ounded Rectangle 117"/>
          <p:cNvSpPr/>
          <p:nvPr/>
        </p:nvSpPr>
        <p:spPr>
          <a:xfrm>
            <a:off x="3252216" y="1280160"/>
            <a:ext cx="2639568" cy="182880"/>
          </a:xfrm>
          <a:prstGeom prst="roundRect">
            <a:avLst>
              <a:gd name="adj" fmla="val 40000"/>
            </a:avLst>
          </a:prstGeom>
          <a:solidFill>
            <a:srgbClr val="F1F3F4"/>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Oval 118"/>
          <p:cNvSpPr/>
          <p:nvPr/>
        </p:nvSpPr>
        <p:spPr>
          <a:xfrm>
            <a:off x="3343656" y="1335024"/>
            <a:ext cx="73152" cy="7315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Oval 119"/>
          <p:cNvSpPr/>
          <p:nvPr/>
        </p:nvSpPr>
        <p:spPr>
          <a:xfrm>
            <a:off x="3453384" y="1335024"/>
            <a:ext cx="73152" cy="7315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Oval 120"/>
          <p:cNvSpPr/>
          <p:nvPr/>
        </p:nvSpPr>
        <p:spPr>
          <a:xfrm>
            <a:off x="3563112" y="1335024"/>
            <a:ext cx="73152" cy="7315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2" name="Picture 121" descr="Watch the agents shop, live"/>
          <p:cNvPicPr>
            <a:picLocks noChangeAspect="1"/>
          </p:cNvPicPr>
          <p:nvPr/>
        </p:nvPicPr>
        <p:blipFill>
          <a:blip r:embed="rId6"/>
          <a:stretch>
            <a:fillRect/>
          </a:stretch>
        </p:blipFill>
        <p:spPr>
          <a:xfrm>
            <a:off x="3279648" y="1472184"/>
            <a:ext cx="2584704" cy="1615440"/>
          </a:xfrm>
          <a:prstGeom prst="rect">
            <a:avLst/>
          </a:prstGeom>
        </p:spPr>
      </p:pic>
      <p:sp>
        <p:nvSpPr>
          <p:cNvPr id="123" name="Oval 122"/>
          <p:cNvSpPr/>
          <p:nvPr/>
        </p:nvSpPr>
        <p:spPr>
          <a:xfrm>
            <a:off x="3252216" y="3310128"/>
            <a:ext cx="347472" cy="347472"/>
          </a:xfrm>
          <a:prstGeom prst="ellipse">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3252216" y="3310128"/>
            <a:ext cx="347472" cy="347472"/>
          </a:xfrm>
          <a:prstGeom prst="rect">
            <a:avLst/>
          </a:prstGeom>
          <a:noFill/>
        </p:spPr>
        <p:txBody>
          <a:bodyPr wrap="square" lIns="0" rIns="0" tIns="0" bIns="0" anchor="ctr">
            <a:noAutofit/>
          </a:bodyPr>
          <a:lstStyle/>
          <a:p>
            <a:pPr algn="ctr">
              <a:lnSpc>
                <a:spcPct val="100000"/>
              </a:lnSpc>
              <a:spcAft>
                <a:spcPts val="0"/>
              </a:spcAft>
            </a:pPr>
            <a:r>
              <a:rPr sz="1200" b="1">
                <a:solidFill>
                  <a:srgbClr val="111111"/>
                </a:solidFill>
                <a:latin typeface="Google Sans Flex"/>
              </a:rPr>
              <a:t>2</a:t>
            </a:r>
          </a:p>
        </p:txBody>
      </p:sp>
      <p:sp>
        <p:nvSpPr>
          <p:cNvPr id="125" name="TextBox 124"/>
          <p:cNvSpPr txBox="1"/>
          <p:nvPr/>
        </p:nvSpPr>
        <p:spPr>
          <a:xfrm>
            <a:off x="3691128" y="3310128"/>
            <a:ext cx="2182368" cy="347472"/>
          </a:xfrm>
          <a:prstGeom prst="rect">
            <a:avLst/>
          </a:prstGeom>
          <a:noFill/>
        </p:spPr>
        <p:txBody>
          <a:bodyPr wrap="square" lIns="0" rIns="0" tIns="0" bIns="0" anchor="ctr">
            <a:noAutofit/>
          </a:bodyPr>
          <a:lstStyle/>
          <a:p>
            <a:pPr algn="l">
              <a:lnSpc>
                <a:spcPct val="100000"/>
              </a:lnSpc>
              <a:spcAft>
                <a:spcPts val="0"/>
              </a:spcAft>
            </a:pPr>
            <a:r>
              <a:rPr sz="1150" b="1">
                <a:solidFill>
                  <a:srgbClr val="111111"/>
                </a:solidFill>
                <a:latin typeface="Google Sans Flex"/>
              </a:rPr>
              <a:t>Watch the agents shop, live</a:t>
            </a:r>
          </a:p>
        </p:txBody>
      </p:sp>
      <p:sp>
        <p:nvSpPr>
          <p:cNvPr id="126" name="TextBox 125"/>
          <p:cNvSpPr txBox="1"/>
          <p:nvPr/>
        </p:nvSpPr>
        <p:spPr>
          <a:xfrm>
            <a:off x="3691128" y="3675887"/>
            <a:ext cx="2182368" cy="457200"/>
          </a:xfrm>
          <a:prstGeom prst="rect">
            <a:avLst/>
          </a:prstGeom>
          <a:noFill/>
        </p:spPr>
        <p:txBody>
          <a:bodyPr wrap="square" lIns="0" rIns="0" tIns="0" bIns="0" anchor="t">
            <a:noAutofit/>
          </a:bodyPr>
          <a:lstStyle/>
          <a:p>
            <a:pPr algn="l">
              <a:lnSpc>
                <a:spcPct val="105000"/>
              </a:lnSpc>
              <a:spcAft>
                <a:spcPts val="0"/>
              </a:spcAft>
            </a:pPr>
            <a:r>
              <a:rPr sz="900" b="0">
                <a:solidFill>
                  <a:srgbClr val="5F6368"/>
                </a:solidFill>
                <a:latin typeface="Google Sans Flex"/>
              </a:rPr>
              <a:t>Live browser, journey, receipts so far and the agents' chat.</a:t>
            </a:r>
          </a:p>
        </p:txBody>
      </p:sp>
      <p:cxnSp>
        <p:nvCxnSpPr>
          <p:cNvPr id="127" name="Connector 126"/>
          <p:cNvCxnSpPr/>
          <p:nvPr/>
        </p:nvCxnSpPr>
        <p:spPr>
          <a:xfrm>
            <a:off x="5937504" y="2240280"/>
            <a:ext cx="201168" cy="0"/>
          </a:xfrm>
          <a:prstGeom prst="line">
            <a:avLst/>
          </a:prstGeom>
          <a:ln w="2540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8" name="Rounded Rectangle 127"/>
          <p:cNvSpPr/>
          <p:nvPr/>
        </p:nvSpPr>
        <p:spPr>
          <a:xfrm>
            <a:off x="6230111" y="1325880"/>
            <a:ext cx="2639568" cy="1883664"/>
          </a:xfrm>
          <a:prstGeom prst="roundRect">
            <a:avLst>
              <a:gd name="adj" fmla="val 388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ounded Rectangle 128"/>
          <p:cNvSpPr/>
          <p:nvPr/>
        </p:nvSpPr>
        <p:spPr>
          <a:xfrm>
            <a:off x="6184391" y="1280160"/>
            <a:ext cx="2639568" cy="1883664"/>
          </a:xfrm>
          <a:prstGeom prst="roundRect">
            <a:avLst>
              <a:gd name="adj" fmla="val 388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ounded Rectangle 129"/>
          <p:cNvSpPr/>
          <p:nvPr/>
        </p:nvSpPr>
        <p:spPr>
          <a:xfrm>
            <a:off x="6184391" y="1280160"/>
            <a:ext cx="2639568" cy="182880"/>
          </a:xfrm>
          <a:prstGeom prst="roundRect">
            <a:avLst>
              <a:gd name="adj" fmla="val 40000"/>
            </a:avLst>
          </a:prstGeom>
          <a:solidFill>
            <a:srgbClr val="F1F3F4"/>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Oval 130"/>
          <p:cNvSpPr/>
          <p:nvPr/>
        </p:nvSpPr>
        <p:spPr>
          <a:xfrm>
            <a:off x="6275831" y="1335024"/>
            <a:ext cx="73152" cy="7315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Oval 131"/>
          <p:cNvSpPr/>
          <p:nvPr/>
        </p:nvSpPr>
        <p:spPr>
          <a:xfrm>
            <a:off x="6385559" y="1335024"/>
            <a:ext cx="73152" cy="7315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Oval 132"/>
          <p:cNvSpPr/>
          <p:nvPr/>
        </p:nvSpPr>
        <p:spPr>
          <a:xfrm>
            <a:off x="6495287" y="1335024"/>
            <a:ext cx="73152" cy="7315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4" name="Picture 133" descr="Get the report, then Fix it"/>
          <p:cNvPicPr>
            <a:picLocks noChangeAspect="1"/>
          </p:cNvPicPr>
          <p:nvPr/>
        </p:nvPicPr>
        <p:blipFill>
          <a:blip r:embed="rId7"/>
          <a:stretch>
            <a:fillRect/>
          </a:stretch>
        </p:blipFill>
        <p:spPr>
          <a:xfrm>
            <a:off x="6211824" y="1472184"/>
            <a:ext cx="2584704" cy="1615440"/>
          </a:xfrm>
          <a:prstGeom prst="rect">
            <a:avLst/>
          </a:prstGeom>
        </p:spPr>
      </p:pic>
      <p:sp>
        <p:nvSpPr>
          <p:cNvPr id="135" name="Oval 134"/>
          <p:cNvSpPr/>
          <p:nvPr/>
        </p:nvSpPr>
        <p:spPr>
          <a:xfrm>
            <a:off x="6184391" y="3310128"/>
            <a:ext cx="347472" cy="347472"/>
          </a:xfrm>
          <a:prstGeom prst="ellipse">
            <a:avLst/>
          </a:prstGeom>
          <a:solidFill>
            <a:srgbClr val="FF5CA8"/>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6184391" y="3310128"/>
            <a:ext cx="347472" cy="347472"/>
          </a:xfrm>
          <a:prstGeom prst="rect">
            <a:avLst/>
          </a:prstGeom>
          <a:noFill/>
        </p:spPr>
        <p:txBody>
          <a:bodyPr wrap="square" lIns="0" rIns="0" tIns="0" bIns="0" anchor="ctr">
            <a:noAutofit/>
          </a:bodyPr>
          <a:lstStyle/>
          <a:p>
            <a:pPr algn="ctr">
              <a:lnSpc>
                <a:spcPct val="100000"/>
              </a:lnSpc>
              <a:spcAft>
                <a:spcPts val="0"/>
              </a:spcAft>
            </a:pPr>
            <a:r>
              <a:rPr sz="1200" b="1">
                <a:solidFill>
                  <a:srgbClr val="111111"/>
                </a:solidFill>
                <a:latin typeface="Google Sans Flex"/>
              </a:rPr>
              <a:t>3</a:t>
            </a:r>
          </a:p>
        </p:txBody>
      </p:sp>
      <p:sp>
        <p:nvSpPr>
          <p:cNvPr id="137" name="TextBox 136"/>
          <p:cNvSpPr txBox="1"/>
          <p:nvPr/>
        </p:nvSpPr>
        <p:spPr>
          <a:xfrm>
            <a:off x="6623303" y="3310128"/>
            <a:ext cx="2182368" cy="347472"/>
          </a:xfrm>
          <a:prstGeom prst="rect">
            <a:avLst/>
          </a:prstGeom>
          <a:noFill/>
        </p:spPr>
        <p:txBody>
          <a:bodyPr wrap="square" lIns="0" rIns="0" tIns="0" bIns="0" anchor="ctr">
            <a:noAutofit/>
          </a:bodyPr>
          <a:lstStyle/>
          <a:p>
            <a:pPr algn="l">
              <a:lnSpc>
                <a:spcPct val="100000"/>
              </a:lnSpc>
              <a:spcAft>
                <a:spcPts val="0"/>
              </a:spcAft>
            </a:pPr>
            <a:r>
              <a:rPr sz="1150" b="1">
                <a:solidFill>
                  <a:srgbClr val="111111"/>
                </a:solidFill>
                <a:latin typeface="Google Sans Flex"/>
              </a:rPr>
              <a:t>Get the report, then Fix it</a:t>
            </a:r>
          </a:p>
        </p:txBody>
      </p:sp>
      <p:sp>
        <p:nvSpPr>
          <p:cNvPr id="138" name="TextBox 137"/>
          <p:cNvSpPr txBox="1"/>
          <p:nvPr/>
        </p:nvSpPr>
        <p:spPr>
          <a:xfrm>
            <a:off x="6623303" y="3675887"/>
            <a:ext cx="2182368" cy="457200"/>
          </a:xfrm>
          <a:prstGeom prst="rect">
            <a:avLst/>
          </a:prstGeom>
          <a:noFill/>
        </p:spPr>
        <p:txBody>
          <a:bodyPr wrap="square" lIns="0" rIns="0" tIns="0" bIns="0" anchor="t">
            <a:noAutofit/>
          </a:bodyPr>
          <a:lstStyle/>
          <a:p>
            <a:pPr algn="l">
              <a:lnSpc>
                <a:spcPct val="105000"/>
              </a:lnSpc>
              <a:spcAft>
                <a:spcPts val="0"/>
              </a:spcAft>
            </a:pPr>
            <a:r>
              <a:rPr sz="900" b="0">
                <a:solidFill>
                  <a:srgbClr val="5F6368"/>
                </a:solidFill>
                <a:latin typeface="Google Sans Flex"/>
              </a:rPr>
              <a:t>Trust score, the real bill, fine risk and evidence. Then Fix it and verify.</a:t>
            </a:r>
          </a:p>
        </p:txBody>
      </p:sp>
      <p:sp>
        <p:nvSpPr>
          <p:cNvPr id="139" name="Rounded Rectangle 138"/>
          <p:cNvSpPr/>
          <p:nvPr/>
        </p:nvSpPr>
        <p:spPr>
          <a:xfrm>
            <a:off x="356615" y="4352544"/>
            <a:ext cx="8503920" cy="4572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ounded Rectangle 139"/>
          <p:cNvSpPr/>
          <p:nvPr/>
        </p:nvSpPr>
        <p:spPr>
          <a:xfrm>
            <a:off x="320040" y="4315968"/>
            <a:ext cx="8503920" cy="457200"/>
          </a:xfrm>
          <a:prstGeom prst="roundRect">
            <a:avLst>
              <a:gd name="adj" fmla="val 20000"/>
            </a:avLst>
          </a:prstGeom>
          <a:solidFill>
            <a:srgbClr val="FFF8EC"/>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1" name="Picture 140" descr="l-play-ink.png"/>
          <p:cNvPicPr>
            <a:picLocks noChangeAspect="1"/>
          </p:cNvPicPr>
          <p:nvPr/>
        </p:nvPicPr>
        <p:blipFill>
          <a:blip r:embed="rId8"/>
          <a:stretch>
            <a:fillRect/>
          </a:stretch>
        </p:blipFill>
        <p:spPr>
          <a:xfrm>
            <a:off x="484632" y="4416552"/>
            <a:ext cx="256032" cy="256032"/>
          </a:xfrm>
          <a:prstGeom prst="rect">
            <a:avLst/>
          </a:prstGeom>
        </p:spPr>
      </p:pic>
      <p:sp>
        <p:nvSpPr>
          <p:cNvPr id="142" name="TextBox 141"/>
          <p:cNvSpPr txBox="1"/>
          <p:nvPr/>
        </p:nvSpPr>
        <p:spPr>
          <a:xfrm>
            <a:off x="868680" y="4315968"/>
            <a:ext cx="7772400" cy="457200"/>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Not a mock: this is the live product.  </a:t>
            </a:r>
            <a:r>
              <a:rPr sz="1000" b="0">
                <a:solidFill>
                  <a:srgbClr val="111111"/>
                </a:solidFill>
                <a:latin typeface="Google Sans Flex"/>
              </a:rPr>
              <a:t>Try it at </a:t>
            </a:r>
            <a:r>
              <a:rPr sz="1000" b="1">
                <a:solidFill>
                  <a:srgbClr val="3B5BFF"/>
                </a:solidFill>
                <a:latin typeface="Google Sans Flex"/>
                <a:hlinkClick r:id="rId9"/>
              </a:rPr>
              <a:t>shop-honest-ai.web.app</a:t>
            </a:r>
            <a:r>
              <a:rPr sz="1000" b="0">
                <a:solidFill>
                  <a:srgbClr val="5F6368"/>
                </a:solidFill>
                <a:latin typeface="Google Sans Flex"/>
              </a:rPr>
              <a:t>  ·  free recorded runs, or a live run with Gemini</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356615" y="1316736"/>
            <a:ext cx="1508760"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ounded Rectangle 112"/>
          <p:cNvSpPr/>
          <p:nvPr/>
        </p:nvSpPr>
        <p:spPr>
          <a:xfrm>
            <a:off x="320040" y="1280160"/>
            <a:ext cx="1508760"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4" name="Picture 113" descr="l-monitor-ink.png"/>
          <p:cNvPicPr>
            <a:picLocks noChangeAspect="1"/>
          </p:cNvPicPr>
          <p:nvPr/>
        </p:nvPicPr>
        <p:blipFill>
          <a:blip r:embed="rId5"/>
          <a:stretch>
            <a:fillRect/>
          </a:stretch>
        </p:blipFill>
        <p:spPr>
          <a:xfrm>
            <a:off x="411479" y="1472184"/>
            <a:ext cx="329184" cy="329184"/>
          </a:xfrm>
          <a:prstGeom prst="rect">
            <a:avLst/>
          </a:prstGeom>
        </p:spPr>
      </p:pic>
      <p:sp>
        <p:nvSpPr>
          <p:cNvPr id="115" name="TextBox 114"/>
          <p:cNvSpPr txBox="1"/>
          <p:nvPr/>
        </p:nvSpPr>
        <p:spPr>
          <a:xfrm>
            <a:off x="758952" y="1325880"/>
            <a:ext cx="996696"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Platform team</a:t>
            </a:r>
          </a:p>
          <a:p>
            <a:pPr algn="l">
              <a:lnSpc>
                <a:spcPct val="100000"/>
              </a:lnSpc>
              <a:spcAft>
                <a:spcPts val="0"/>
              </a:spcAft>
            </a:pPr>
            <a:r>
              <a:rPr sz="800" b="0">
                <a:solidFill>
                  <a:srgbClr val="5F6368"/>
                </a:solidFill>
                <a:latin typeface="Google Sans Flex"/>
              </a:rPr>
              <a:t>any browser</a:t>
            </a:r>
          </a:p>
        </p:txBody>
      </p:sp>
      <p:sp>
        <p:nvSpPr>
          <p:cNvPr id="116" name="Rounded Rectangle 115"/>
          <p:cNvSpPr/>
          <p:nvPr/>
        </p:nvSpPr>
        <p:spPr>
          <a:xfrm>
            <a:off x="2139696" y="1316736"/>
            <a:ext cx="1737360"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ounded Rectangle 116"/>
          <p:cNvSpPr/>
          <p:nvPr/>
        </p:nvSpPr>
        <p:spPr>
          <a:xfrm>
            <a:off x="2103120" y="1280160"/>
            <a:ext cx="1737360"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8" name="Picture 117" descr="s-firebase.png"/>
          <p:cNvPicPr>
            <a:picLocks noChangeAspect="1"/>
          </p:cNvPicPr>
          <p:nvPr/>
        </p:nvPicPr>
        <p:blipFill>
          <a:blip r:embed="rId6"/>
          <a:stretch>
            <a:fillRect/>
          </a:stretch>
        </p:blipFill>
        <p:spPr>
          <a:xfrm>
            <a:off x="2194560" y="1472184"/>
            <a:ext cx="329184" cy="329184"/>
          </a:xfrm>
          <a:prstGeom prst="rect">
            <a:avLst/>
          </a:prstGeom>
        </p:spPr>
      </p:pic>
      <p:sp>
        <p:nvSpPr>
          <p:cNvPr id="119" name="TextBox 118"/>
          <p:cNvSpPr txBox="1"/>
          <p:nvPr/>
        </p:nvSpPr>
        <p:spPr>
          <a:xfrm>
            <a:off x="2542032" y="1325880"/>
            <a:ext cx="1225296"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Firebase Hosting</a:t>
            </a:r>
          </a:p>
          <a:p>
            <a:pPr algn="l">
              <a:lnSpc>
                <a:spcPct val="100000"/>
              </a:lnSpc>
              <a:spcAft>
                <a:spcPts val="0"/>
              </a:spcAft>
            </a:pPr>
            <a:r>
              <a:rPr sz="800" b="0">
                <a:solidFill>
                  <a:srgbClr val="5F6368"/>
                </a:solidFill>
                <a:latin typeface="Google Sans Flex"/>
              </a:rPr>
              <a:t>React app + demo stores</a:t>
            </a:r>
          </a:p>
        </p:txBody>
      </p:sp>
      <p:cxnSp>
        <p:nvCxnSpPr>
          <p:cNvPr id="120" name="Connector 119"/>
          <p:cNvCxnSpPr/>
          <p:nvPr/>
        </p:nvCxnSpPr>
        <p:spPr>
          <a:xfrm>
            <a:off x="1856231" y="1636776"/>
            <a:ext cx="219457"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3867912" y="1636776"/>
            <a:ext cx="219456"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3767328" y="1389888"/>
            <a:ext cx="457200" cy="182880"/>
          </a:xfrm>
          <a:prstGeom prst="rect">
            <a:avLst/>
          </a:prstGeom>
          <a:noFill/>
        </p:spPr>
        <p:txBody>
          <a:bodyPr wrap="square" lIns="0" rIns="0" tIns="0" bIns="0" anchor="t">
            <a:noAutofit/>
          </a:bodyPr>
          <a:lstStyle/>
          <a:p>
            <a:pPr algn="ctr">
              <a:lnSpc>
                <a:spcPct val="100000"/>
              </a:lnSpc>
              <a:spcAft>
                <a:spcPts val="0"/>
              </a:spcAft>
            </a:pPr>
            <a:r>
              <a:rPr sz="800" b="0">
                <a:solidFill>
                  <a:srgbClr val="5F6368"/>
                </a:solidFill>
                <a:latin typeface="Google Sans Flex SemiBold"/>
              </a:rPr>
              <a:t>/api</a:t>
            </a:r>
          </a:p>
        </p:txBody>
      </p:sp>
      <p:cxnSp>
        <p:nvCxnSpPr>
          <p:cNvPr id="123" name="Connector 122"/>
          <p:cNvCxnSpPr/>
          <p:nvPr/>
        </p:nvCxnSpPr>
        <p:spPr>
          <a:xfrm>
            <a:off x="1005840" y="1993392"/>
            <a:ext cx="0" cy="219456"/>
          </a:xfrm>
          <a:prstGeom prst="line">
            <a:avLst/>
          </a:prstGeom>
          <a:ln w="19050">
            <a:solidFill>
              <a:srgbClr val="3B5BFF"/>
            </a:solidFill>
            <a:prstDash val="dash"/>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05840" y="2212848"/>
            <a:ext cx="3081528" cy="0"/>
          </a:xfrm>
          <a:prstGeom prst="line">
            <a:avLst/>
          </a:prstGeom>
          <a:ln w="19050">
            <a:solidFill>
              <a:srgbClr val="3B5B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2249424"/>
            <a:ext cx="2834640" cy="182880"/>
          </a:xfrm>
          <a:prstGeom prst="rect">
            <a:avLst/>
          </a:prstGeom>
          <a:noFill/>
        </p:spPr>
        <p:txBody>
          <a:bodyPr wrap="square" lIns="0" rIns="0" tIns="0" bIns="0" anchor="t">
            <a:noAutofit/>
          </a:bodyPr>
          <a:lstStyle/>
          <a:p>
            <a:pPr algn="l">
              <a:lnSpc>
                <a:spcPct val="100000"/>
              </a:lnSpc>
              <a:spcAft>
                <a:spcPts val="0"/>
              </a:spcAft>
            </a:pPr>
            <a:r>
              <a:rPr sz="800" b="0">
                <a:solidFill>
                  <a:srgbClr val="3B5BFF"/>
                </a:solidFill>
                <a:latin typeface="Google Sans Flex SemiBold"/>
              </a:rPr>
              <a:t>live event stream (SSE), straight to Cloud Run</a:t>
            </a:r>
          </a:p>
        </p:txBody>
      </p:sp>
      <p:sp>
        <p:nvSpPr>
          <p:cNvPr id="126" name="Rounded Rectangle 125"/>
          <p:cNvSpPr/>
          <p:nvPr/>
        </p:nvSpPr>
        <p:spPr>
          <a:xfrm>
            <a:off x="4160520" y="1280160"/>
            <a:ext cx="2606040" cy="2395728"/>
          </a:xfrm>
          <a:prstGeom prst="roundRect">
            <a:avLst>
              <a:gd name="adj" fmla="val 458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ounded Rectangle 126"/>
          <p:cNvSpPr/>
          <p:nvPr/>
        </p:nvSpPr>
        <p:spPr>
          <a:xfrm>
            <a:off x="4114800" y="1234440"/>
            <a:ext cx="2606040" cy="2395728"/>
          </a:xfrm>
          <a:prstGeom prst="roundRect">
            <a:avLst>
              <a:gd name="adj" fmla="val 4580"/>
            </a:avLst>
          </a:prstGeom>
          <a:solidFill>
            <a:srgbClr val="E8F0FE"/>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8" name="Picture 127" descr="g-cloud_run.png"/>
          <p:cNvPicPr>
            <a:picLocks noChangeAspect="1"/>
          </p:cNvPicPr>
          <p:nvPr/>
        </p:nvPicPr>
        <p:blipFill>
          <a:blip r:embed="rId7"/>
          <a:stretch>
            <a:fillRect/>
          </a:stretch>
        </p:blipFill>
        <p:spPr>
          <a:xfrm>
            <a:off x="4224528" y="1325880"/>
            <a:ext cx="329184" cy="329184"/>
          </a:xfrm>
          <a:prstGeom prst="rect">
            <a:avLst/>
          </a:prstGeom>
        </p:spPr>
      </p:pic>
      <p:sp>
        <p:nvSpPr>
          <p:cNvPr id="129" name="TextBox 128"/>
          <p:cNvSpPr txBox="1"/>
          <p:nvPr/>
        </p:nvSpPr>
        <p:spPr>
          <a:xfrm>
            <a:off x="4626864" y="1307592"/>
            <a:ext cx="2011680" cy="384048"/>
          </a:xfrm>
          <a:prstGeom prst="rect">
            <a:avLst/>
          </a:prstGeom>
          <a:noFill/>
        </p:spPr>
        <p:txBody>
          <a:bodyPr wrap="square" lIns="0" rIns="0" tIns="0" bIns="0" anchor="t">
            <a:noAutofit/>
          </a:bodyPr>
          <a:lstStyle/>
          <a:p>
            <a:pPr algn="l">
              <a:lnSpc>
                <a:spcPct val="100000"/>
              </a:lnSpc>
              <a:spcAft>
                <a:spcPts val="0"/>
              </a:spcAft>
            </a:pPr>
            <a:r>
              <a:rPr sz="1100" b="1">
                <a:solidFill>
                  <a:srgbClr val="111111"/>
                </a:solidFill>
                <a:latin typeface="Google Sans Flex"/>
              </a:rPr>
              <a:t>Cloud Run</a:t>
            </a:r>
          </a:p>
          <a:p>
            <a:pPr algn="l">
              <a:lnSpc>
                <a:spcPct val="100000"/>
              </a:lnSpc>
              <a:spcAft>
                <a:spcPts val="0"/>
              </a:spcAft>
            </a:pPr>
            <a:r>
              <a:rPr sz="800" b="0">
                <a:solidFill>
                  <a:srgbClr val="5F6368"/>
                </a:solidFill>
                <a:latin typeface="Google Sans Flex"/>
              </a:rPr>
              <a:t>FastAPI audit runner · asia-south1</a:t>
            </a:r>
          </a:p>
        </p:txBody>
      </p:sp>
      <p:sp>
        <p:nvSpPr>
          <p:cNvPr id="130" name="Rounded Rectangle 129"/>
          <p:cNvSpPr/>
          <p:nvPr/>
        </p:nvSpPr>
        <p:spPr>
          <a:xfrm>
            <a:off x="4242816" y="1801368"/>
            <a:ext cx="2350008" cy="493776"/>
          </a:xfrm>
          <a:prstGeom prst="roundRect">
            <a:avLst>
              <a:gd name="adj" fmla="val 14814"/>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1" name="Picture 130" descr="l-bot-ink.png"/>
          <p:cNvPicPr>
            <a:picLocks noChangeAspect="1"/>
          </p:cNvPicPr>
          <p:nvPr/>
        </p:nvPicPr>
        <p:blipFill>
          <a:blip r:embed="rId8"/>
          <a:stretch>
            <a:fillRect/>
          </a:stretch>
        </p:blipFill>
        <p:spPr>
          <a:xfrm>
            <a:off x="4334255" y="1911096"/>
            <a:ext cx="274320" cy="274320"/>
          </a:xfrm>
          <a:prstGeom prst="rect">
            <a:avLst/>
          </a:prstGeom>
        </p:spPr>
      </p:pic>
      <p:sp>
        <p:nvSpPr>
          <p:cNvPr id="132" name="TextBox 131"/>
          <p:cNvSpPr txBox="1"/>
          <p:nvPr/>
        </p:nvSpPr>
        <p:spPr>
          <a:xfrm>
            <a:off x="4626864" y="1847088"/>
            <a:ext cx="1892808" cy="402336"/>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Navigator</a:t>
            </a:r>
          </a:p>
          <a:p>
            <a:pPr algn="l">
              <a:lnSpc>
                <a:spcPct val="100000"/>
              </a:lnSpc>
              <a:spcAft>
                <a:spcPts val="0"/>
              </a:spcAft>
            </a:pPr>
            <a:r>
              <a:rPr sz="750" b="0">
                <a:solidFill>
                  <a:srgbClr val="5F6368"/>
                </a:solidFill>
                <a:latin typeface="Google Sans Flex"/>
              </a:rPr>
              <a:t>Playwright Chromium · click guard</a:t>
            </a:r>
          </a:p>
        </p:txBody>
      </p:sp>
      <p:sp>
        <p:nvSpPr>
          <p:cNvPr id="133" name="Rounded Rectangle 132"/>
          <p:cNvSpPr/>
          <p:nvPr/>
        </p:nvSpPr>
        <p:spPr>
          <a:xfrm>
            <a:off x="4242816" y="2386584"/>
            <a:ext cx="2350008" cy="493776"/>
          </a:xfrm>
          <a:prstGeom prst="roundRect">
            <a:avLst>
              <a:gd name="adj" fmla="val 14814"/>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4" name="Picture 133" descr="brand-gemini.png"/>
          <p:cNvPicPr>
            <a:picLocks noChangeAspect="1"/>
          </p:cNvPicPr>
          <p:nvPr/>
        </p:nvPicPr>
        <p:blipFill>
          <a:blip r:embed="rId9"/>
          <a:stretch>
            <a:fillRect/>
          </a:stretch>
        </p:blipFill>
        <p:spPr>
          <a:xfrm>
            <a:off x="4334255" y="2496312"/>
            <a:ext cx="274320" cy="274320"/>
          </a:xfrm>
          <a:prstGeom prst="rect">
            <a:avLst/>
          </a:prstGeom>
        </p:spPr>
      </p:pic>
      <p:sp>
        <p:nvSpPr>
          <p:cNvPr id="135" name="TextBox 134"/>
          <p:cNvSpPr txBox="1"/>
          <p:nvPr/>
        </p:nvSpPr>
        <p:spPr>
          <a:xfrm>
            <a:off x="4626864" y="2432304"/>
            <a:ext cx="1892808" cy="402336"/>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ADK agent graph</a:t>
            </a:r>
          </a:p>
          <a:p>
            <a:pPr algn="l">
              <a:lnSpc>
                <a:spcPct val="100000"/>
              </a:lnSpc>
              <a:spcAft>
                <a:spcPts val="0"/>
              </a:spcAft>
            </a:pPr>
            <a:r>
              <a:rPr sz="750" b="0">
                <a:solidFill>
                  <a:srgbClr val="5F6368"/>
                </a:solidFill>
                <a:latin typeface="Google Sans Flex"/>
              </a:rPr>
              <a:t>Analyst + Adjudicator; Fixer on request</a:t>
            </a:r>
          </a:p>
        </p:txBody>
      </p:sp>
      <p:sp>
        <p:nvSpPr>
          <p:cNvPr id="136" name="Rounded Rectangle 135"/>
          <p:cNvSpPr/>
          <p:nvPr/>
        </p:nvSpPr>
        <p:spPr>
          <a:xfrm>
            <a:off x="4242816" y="2971800"/>
            <a:ext cx="2350008" cy="493776"/>
          </a:xfrm>
          <a:prstGeom prst="roundRect">
            <a:avLst>
              <a:gd name="adj" fmla="val 14814"/>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7" name="Picture 136" descr="l-ruler-ink.png"/>
          <p:cNvPicPr>
            <a:picLocks noChangeAspect="1"/>
          </p:cNvPicPr>
          <p:nvPr/>
        </p:nvPicPr>
        <p:blipFill>
          <a:blip r:embed="rId10"/>
          <a:stretch>
            <a:fillRect/>
          </a:stretch>
        </p:blipFill>
        <p:spPr>
          <a:xfrm>
            <a:off x="4334255" y="3081528"/>
            <a:ext cx="274320" cy="274320"/>
          </a:xfrm>
          <a:prstGeom prst="rect">
            <a:avLst/>
          </a:prstGeom>
        </p:spPr>
      </p:pic>
      <p:sp>
        <p:nvSpPr>
          <p:cNvPr id="138" name="TextBox 137"/>
          <p:cNvSpPr txBox="1"/>
          <p:nvPr/>
        </p:nvSpPr>
        <p:spPr>
          <a:xfrm>
            <a:off x="4626864" y="3017520"/>
            <a:ext cx="1892808" cy="402336"/>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Checks + Reporter</a:t>
            </a:r>
          </a:p>
          <a:p>
            <a:pPr algn="l">
              <a:lnSpc>
                <a:spcPct val="100000"/>
              </a:lnSpc>
              <a:spcAft>
                <a:spcPts val="0"/>
              </a:spcAft>
            </a:pPr>
            <a:r>
              <a:rPr sz="750" b="0">
                <a:solidFill>
                  <a:srgbClr val="5F6368"/>
                </a:solidFill>
                <a:latin typeface="Google Sans Flex"/>
              </a:rPr>
              <a:t>measured checks · score · ₹ · law</a:t>
            </a:r>
          </a:p>
        </p:txBody>
      </p:sp>
      <p:sp>
        <p:nvSpPr>
          <p:cNvPr id="139" name="Rounded Rectangle 138"/>
          <p:cNvSpPr/>
          <p:nvPr/>
        </p:nvSpPr>
        <p:spPr>
          <a:xfrm>
            <a:off x="7004304" y="1316736"/>
            <a:ext cx="1856231"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ounded Rectangle 139"/>
          <p:cNvSpPr/>
          <p:nvPr/>
        </p:nvSpPr>
        <p:spPr>
          <a:xfrm>
            <a:off x="6967728" y="1280160"/>
            <a:ext cx="1856231"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1" name="Picture 140" descr="g-vertexai.png"/>
          <p:cNvPicPr>
            <a:picLocks noChangeAspect="1"/>
          </p:cNvPicPr>
          <p:nvPr/>
        </p:nvPicPr>
        <p:blipFill>
          <a:blip r:embed="rId11"/>
          <a:stretch>
            <a:fillRect/>
          </a:stretch>
        </p:blipFill>
        <p:spPr>
          <a:xfrm>
            <a:off x="7059168" y="1463039"/>
            <a:ext cx="347472" cy="347472"/>
          </a:xfrm>
          <a:prstGeom prst="rect">
            <a:avLst/>
          </a:prstGeom>
        </p:spPr>
      </p:pic>
      <p:sp>
        <p:nvSpPr>
          <p:cNvPr id="142" name="TextBox 141"/>
          <p:cNvSpPr txBox="1"/>
          <p:nvPr/>
        </p:nvSpPr>
        <p:spPr>
          <a:xfrm>
            <a:off x="7424928" y="1325880"/>
            <a:ext cx="1325880"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Gemini · Vertex AI</a:t>
            </a:r>
          </a:p>
          <a:p>
            <a:pPr algn="l">
              <a:lnSpc>
                <a:spcPct val="100000"/>
              </a:lnSpc>
              <a:spcAft>
                <a:spcPts val="0"/>
              </a:spcAft>
            </a:pPr>
            <a:r>
              <a:rPr sz="800" b="0">
                <a:solidFill>
                  <a:srgbClr val="5F6368"/>
                </a:solidFill>
                <a:latin typeface="Google Sans Flex"/>
              </a:rPr>
              <a:t>3.6 Flash; 3.1 Flash-Lite as fallback</a:t>
            </a:r>
          </a:p>
        </p:txBody>
      </p:sp>
      <p:cxnSp>
        <p:nvCxnSpPr>
          <p:cNvPr id="143" name="Connector 142"/>
          <p:cNvCxnSpPr/>
          <p:nvPr/>
        </p:nvCxnSpPr>
        <p:spPr>
          <a:xfrm>
            <a:off x="6748272" y="1636776"/>
            <a:ext cx="192024"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4" name="Rounded Rectangle 143"/>
          <p:cNvSpPr/>
          <p:nvPr/>
        </p:nvSpPr>
        <p:spPr>
          <a:xfrm>
            <a:off x="7004304" y="2642616"/>
            <a:ext cx="1856231"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ounded Rectangle 144"/>
          <p:cNvSpPr/>
          <p:nvPr/>
        </p:nvSpPr>
        <p:spPr>
          <a:xfrm>
            <a:off x="6967728" y="2606040"/>
            <a:ext cx="1856231"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6" name="Picture 145" descr="l-globe-ink.png"/>
          <p:cNvPicPr>
            <a:picLocks noChangeAspect="1"/>
          </p:cNvPicPr>
          <p:nvPr/>
        </p:nvPicPr>
        <p:blipFill>
          <a:blip r:embed="rId12"/>
          <a:stretch>
            <a:fillRect/>
          </a:stretch>
        </p:blipFill>
        <p:spPr>
          <a:xfrm>
            <a:off x="7059168" y="2788920"/>
            <a:ext cx="347472" cy="347472"/>
          </a:xfrm>
          <a:prstGeom prst="rect">
            <a:avLst/>
          </a:prstGeom>
        </p:spPr>
      </p:pic>
      <p:sp>
        <p:nvSpPr>
          <p:cNvPr id="147" name="TextBox 146"/>
          <p:cNvSpPr txBox="1"/>
          <p:nvPr/>
        </p:nvSpPr>
        <p:spPr>
          <a:xfrm>
            <a:off x="7424928" y="2651760"/>
            <a:ext cx="1325880"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Any public store</a:t>
            </a:r>
          </a:p>
          <a:p>
            <a:pPr algn="l">
              <a:lnSpc>
                <a:spcPct val="100000"/>
              </a:lnSpc>
              <a:spcAft>
                <a:spcPts val="0"/>
              </a:spcAft>
            </a:pPr>
            <a:r>
              <a:rPr sz="800" b="0">
                <a:solidFill>
                  <a:srgbClr val="5F6368"/>
                </a:solidFill>
                <a:latin typeface="Google Sans Flex"/>
              </a:rPr>
              <a:t>logged out · SSRF guard · or our demo stores</a:t>
            </a:r>
          </a:p>
        </p:txBody>
      </p:sp>
      <p:cxnSp>
        <p:nvCxnSpPr>
          <p:cNvPr id="148" name="Connector 147"/>
          <p:cNvCxnSpPr/>
          <p:nvPr/>
        </p:nvCxnSpPr>
        <p:spPr>
          <a:xfrm>
            <a:off x="6748272" y="2962656"/>
            <a:ext cx="192024" cy="0"/>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9" name="Rounded Rectangle 148"/>
          <p:cNvSpPr/>
          <p:nvPr/>
        </p:nvSpPr>
        <p:spPr>
          <a:xfrm>
            <a:off x="356615" y="2615184"/>
            <a:ext cx="3520440" cy="475488"/>
          </a:xfrm>
          <a:prstGeom prst="roundRect">
            <a:avLst>
              <a:gd name="adj" fmla="val 15384"/>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ounded Rectangle 149"/>
          <p:cNvSpPr/>
          <p:nvPr/>
        </p:nvSpPr>
        <p:spPr>
          <a:xfrm>
            <a:off x="320040" y="2578608"/>
            <a:ext cx="3520440" cy="475488"/>
          </a:xfrm>
          <a:prstGeom prst="roundRect">
            <a:avLst>
              <a:gd name="adj" fmla="val 15384"/>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1" name="Picture 150" descr="g-cloud_build.png"/>
          <p:cNvPicPr>
            <a:picLocks noChangeAspect="1"/>
          </p:cNvPicPr>
          <p:nvPr/>
        </p:nvPicPr>
        <p:blipFill>
          <a:blip r:embed="rId13"/>
          <a:stretch>
            <a:fillRect/>
          </a:stretch>
        </p:blipFill>
        <p:spPr>
          <a:xfrm>
            <a:off x="411479" y="2651760"/>
            <a:ext cx="310896" cy="310896"/>
          </a:xfrm>
          <a:prstGeom prst="rect">
            <a:avLst/>
          </a:prstGeom>
        </p:spPr>
      </p:pic>
      <p:pic>
        <p:nvPicPr>
          <p:cNvPr id="152" name="Picture 151" descr="g-artifact_registry.png"/>
          <p:cNvPicPr>
            <a:picLocks noChangeAspect="1"/>
          </p:cNvPicPr>
          <p:nvPr/>
        </p:nvPicPr>
        <p:blipFill>
          <a:blip r:embed="rId14"/>
          <a:stretch>
            <a:fillRect/>
          </a:stretch>
        </p:blipFill>
        <p:spPr>
          <a:xfrm>
            <a:off x="777240" y="2651760"/>
            <a:ext cx="310896" cy="310896"/>
          </a:xfrm>
          <a:prstGeom prst="rect">
            <a:avLst/>
          </a:prstGeom>
        </p:spPr>
      </p:pic>
      <p:sp>
        <p:nvSpPr>
          <p:cNvPr id="153" name="TextBox 152"/>
          <p:cNvSpPr txBox="1"/>
          <p:nvPr/>
        </p:nvSpPr>
        <p:spPr>
          <a:xfrm>
            <a:off x="1188719" y="2578608"/>
            <a:ext cx="2606040" cy="47548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Build → Artifact Registry</a:t>
            </a:r>
          </a:p>
          <a:p>
            <a:pPr algn="l">
              <a:lnSpc>
                <a:spcPct val="100000"/>
              </a:lnSpc>
              <a:spcAft>
                <a:spcPts val="0"/>
              </a:spcAft>
            </a:pPr>
            <a:r>
              <a:rPr sz="750" b="0">
                <a:solidFill>
                  <a:srgbClr val="5F6368"/>
                </a:solidFill>
                <a:latin typeface="Google Sans Flex"/>
              </a:rPr>
              <a:t>image tagged with the commit · keeps the newest 3</a:t>
            </a:r>
          </a:p>
        </p:txBody>
      </p:sp>
      <p:sp>
        <p:nvSpPr>
          <p:cNvPr id="154" name="Rounded Rectangle 153"/>
          <p:cNvSpPr/>
          <p:nvPr/>
        </p:nvSpPr>
        <p:spPr>
          <a:xfrm>
            <a:off x="356615" y="3191256"/>
            <a:ext cx="3520440" cy="475488"/>
          </a:xfrm>
          <a:prstGeom prst="roundRect">
            <a:avLst>
              <a:gd name="adj" fmla="val 15384"/>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ounded Rectangle 154"/>
          <p:cNvSpPr/>
          <p:nvPr/>
        </p:nvSpPr>
        <p:spPr>
          <a:xfrm>
            <a:off x="320040" y="3154680"/>
            <a:ext cx="3520440" cy="475488"/>
          </a:xfrm>
          <a:prstGeom prst="roundRect">
            <a:avLst>
              <a:gd name="adj" fmla="val 15384"/>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6" name="Picture 155" descr="g-cloud_monitoring.png"/>
          <p:cNvPicPr>
            <a:picLocks noChangeAspect="1"/>
          </p:cNvPicPr>
          <p:nvPr/>
        </p:nvPicPr>
        <p:blipFill>
          <a:blip r:embed="rId15"/>
          <a:stretch>
            <a:fillRect/>
          </a:stretch>
        </p:blipFill>
        <p:spPr>
          <a:xfrm>
            <a:off x="411479" y="3227832"/>
            <a:ext cx="310896" cy="310896"/>
          </a:xfrm>
          <a:prstGeom prst="rect">
            <a:avLst/>
          </a:prstGeom>
        </p:spPr>
      </p:pic>
      <p:pic>
        <p:nvPicPr>
          <p:cNvPr id="157" name="Picture 156" descr="g-billing.png"/>
          <p:cNvPicPr>
            <a:picLocks noChangeAspect="1"/>
          </p:cNvPicPr>
          <p:nvPr/>
        </p:nvPicPr>
        <p:blipFill>
          <a:blip r:embed="rId16"/>
          <a:stretch>
            <a:fillRect/>
          </a:stretch>
        </p:blipFill>
        <p:spPr>
          <a:xfrm>
            <a:off x="777240" y="3227832"/>
            <a:ext cx="310896" cy="310896"/>
          </a:xfrm>
          <a:prstGeom prst="rect">
            <a:avLst/>
          </a:prstGeom>
        </p:spPr>
      </p:pic>
      <p:sp>
        <p:nvSpPr>
          <p:cNvPr id="158" name="TextBox 157"/>
          <p:cNvSpPr txBox="1"/>
          <p:nvPr/>
        </p:nvSpPr>
        <p:spPr>
          <a:xfrm>
            <a:off x="1188719" y="3154680"/>
            <a:ext cx="2606040" cy="47548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Monitoring + Billing budgets</a:t>
            </a:r>
          </a:p>
          <a:p>
            <a:pPr algn="l">
              <a:lnSpc>
                <a:spcPct val="100000"/>
              </a:lnSpc>
              <a:spcAft>
                <a:spcPts val="0"/>
              </a:spcAft>
            </a:pPr>
            <a:r>
              <a:rPr sz="750" b="0">
                <a:solidFill>
                  <a:srgbClr val="5F6368"/>
                </a:solidFill>
                <a:latin typeface="Google Sans Flex"/>
              </a:rPr>
              <a:t>error and 5xx alerts · daily live-run cap</a:t>
            </a:r>
          </a:p>
        </p:txBody>
      </p:sp>
      <p:cxnSp>
        <p:nvCxnSpPr>
          <p:cNvPr id="159" name="Connector 158"/>
          <p:cNvCxnSpPr/>
          <p:nvPr/>
        </p:nvCxnSpPr>
        <p:spPr>
          <a:xfrm>
            <a:off x="3867911" y="2816352"/>
            <a:ext cx="219457" cy="0"/>
          </a:xfrm>
          <a:prstGeom prst="line">
            <a:avLst/>
          </a:prstGeom>
          <a:ln w="1587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5417820" y="3657600"/>
            <a:ext cx="0" cy="155448"/>
          </a:xfrm>
          <a:prstGeom prst="line">
            <a:avLst/>
          </a:prstGeom>
          <a:ln w="22225">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3886200" y="3813048"/>
            <a:ext cx="4023360" cy="0"/>
          </a:xfrm>
          <a:prstGeom prst="line">
            <a:avLst/>
          </a:prstGeom>
          <a:ln w="22225">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3886200" y="3813048"/>
            <a:ext cx="0" cy="192024"/>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3" name="Rounded Rectangle 162"/>
          <p:cNvSpPr/>
          <p:nvPr/>
        </p:nvSpPr>
        <p:spPr>
          <a:xfrm>
            <a:off x="3008376" y="4078224"/>
            <a:ext cx="1828800"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ounded Rectangle 163"/>
          <p:cNvSpPr/>
          <p:nvPr/>
        </p:nvSpPr>
        <p:spPr>
          <a:xfrm>
            <a:off x="2971800" y="4041648"/>
            <a:ext cx="1828800"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5" name="Picture 164" descr="g-firestore.png"/>
          <p:cNvPicPr>
            <a:picLocks noChangeAspect="1"/>
          </p:cNvPicPr>
          <p:nvPr/>
        </p:nvPicPr>
        <p:blipFill>
          <a:blip r:embed="rId17"/>
          <a:stretch>
            <a:fillRect/>
          </a:stretch>
        </p:blipFill>
        <p:spPr>
          <a:xfrm>
            <a:off x="3063240" y="4224528"/>
            <a:ext cx="347472" cy="347472"/>
          </a:xfrm>
          <a:prstGeom prst="rect">
            <a:avLst/>
          </a:prstGeom>
        </p:spPr>
      </p:pic>
      <p:sp>
        <p:nvSpPr>
          <p:cNvPr id="166" name="TextBox 165"/>
          <p:cNvSpPr txBox="1"/>
          <p:nvPr/>
        </p:nvSpPr>
        <p:spPr>
          <a:xfrm>
            <a:off x="3429000" y="4087368"/>
            <a:ext cx="1298448"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Firestore</a:t>
            </a:r>
          </a:p>
          <a:p>
            <a:pPr algn="l">
              <a:lnSpc>
                <a:spcPct val="100000"/>
              </a:lnSpc>
              <a:spcAft>
                <a:spcPts val="0"/>
              </a:spcAft>
            </a:pPr>
            <a:r>
              <a:rPr sz="800" b="0">
                <a:solidFill>
                  <a:srgbClr val="5F6368"/>
                </a:solidFill>
                <a:latin typeface="Google Sans Flex"/>
              </a:rPr>
              <a:t>audits + event log (resumable)</a:t>
            </a:r>
          </a:p>
        </p:txBody>
      </p:sp>
      <p:cxnSp>
        <p:nvCxnSpPr>
          <p:cNvPr id="167" name="Connector 166"/>
          <p:cNvCxnSpPr/>
          <p:nvPr/>
        </p:nvCxnSpPr>
        <p:spPr>
          <a:xfrm>
            <a:off x="5897880" y="3813048"/>
            <a:ext cx="0" cy="192024"/>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8" name="Rounded Rectangle 167"/>
          <p:cNvSpPr/>
          <p:nvPr/>
        </p:nvSpPr>
        <p:spPr>
          <a:xfrm>
            <a:off x="5020056" y="4078224"/>
            <a:ext cx="1828800"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ounded Rectangle 168"/>
          <p:cNvSpPr/>
          <p:nvPr/>
        </p:nvSpPr>
        <p:spPr>
          <a:xfrm>
            <a:off x="4983480" y="4041648"/>
            <a:ext cx="1828800"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0" name="Picture 169" descr="g-cloud_storage.png"/>
          <p:cNvPicPr>
            <a:picLocks noChangeAspect="1"/>
          </p:cNvPicPr>
          <p:nvPr/>
        </p:nvPicPr>
        <p:blipFill>
          <a:blip r:embed="rId18"/>
          <a:stretch>
            <a:fillRect/>
          </a:stretch>
        </p:blipFill>
        <p:spPr>
          <a:xfrm>
            <a:off x="5074920" y="4224528"/>
            <a:ext cx="347472" cy="347472"/>
          </a:xfrm>
          <a:prstGeom prst="rect">
            <a:avLst/>
          </a:prstGeom>
        </p:spPr>
      </p:pic>
      <p:sp>
        <p:nvSpPr>
          <p:cNvPr id="171" name="TextBox 170"/>
          <p:cNvSpPr txBox="1"/>
          <p:nvPr/>
        </p:nvSpPr>
        <p:spPr>
          <a:xfrm>
            <a:off x="5440680" y="4087368"/>
            <a:ext cx="1298448"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Cloud Storage</a:t>
            </a:r>
          </a:p>
          <a:p>
            <a:pPr algn="l">
              <a:lnSpc>
                <a:spcPct val="100000"/>
              </a:lnSpc>
              <a:spcAft>
                <a:spcPts val="0"/>
              </a:spcAft>
            </a:pPr>
            <a:r>
              <a:rPr sz="800" b="0">
                <a:solidFill>
                  <a:srgbClr val="5F6368"/>
                </a:solidFill>
                <a:latin typeface="Google Sans Flex"/>
              </a:rPr>
              <a:t>screenshots of every step</a:t>
            </a:r>
          </a:p>
        </p:txBody>
      </p:sp>
      <p:cxnSp>
        <p:nvCxnSpPr>
          <p:cNvPr id="172" name="Connector 171"/>
          <p:cNvCxnSpPr/>
          <p:nvPr/>
        </p:nvCxnSpPr>
        <p:spPr>
          <a:xfrm>
            <a:off x="7909560" y="3813048"/>
            <a:ext cx="0" cy="192024"/>
          </a:xfrm>
          <a:prstGeom prst="line">
            <a:avLst/>
          </a:prstGeom>
          <a:ln w="2222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3" name="Rounded Rectangle 172"/>
          <p:cNvSpPr/>
          <p:nvPr/>
        </p:nvSpPr>
        <p:spPr>
          <a:xfrm>
            <a:off x="7031736" y="4078224"/>
            <a:ext cx="1828800" cy="713232"/>
          </a:xfrm>
          <a:prstGeom prst="roundRect">
            <a:avLst>
              <a:gd name="adj" fmla="val 1025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ounded Rectangle 173"/>
          <p:cNvSpPr/>
          <p:nvPr/>
        </p:nvSpPr>
        <p:spPr>
          <a:xfrm>
            <a:off x="6995160" y="4041648"/>
            <a:ext cx="1828800" cy="713232"/>
          </a:xfrm>
          <a:prstGeom prst="roundRect">
            <a:avLst>
              <a:gd name="adj" fmla="val 10256"/>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5" name="Picture 174" descr="g-bigquery.png"/>
          <p:cNvPicPr>
            <a:picLocks noChangeAspect="1"/>
          </p:cNvPicPr>
          <p:nvPr/>
        </p:nvPicPr>
        <p:blipFill>
          <a:blip r:embed="rId19"/>
          <a:stretch>
            <a:fillRect/>
          </a:stretch>
        </p:blipFill>
        <p:spPr>
          <a:xfrm>
            <a:off x="7086600" y="4224528"/>
            <a:ext cx="347472" cy="347472"/>
          </a:xfrm>
          <a:prstGeom prst="rect">
            <a:avLst/>
          </a:prstGeom>
        </p:spPr>
      </p:pic>
      <p:sp>
        <p:nvSpPr>
          <p:cNvPr id="176" name="TextBox 175"/>
          <p:cNvSpPr txBox="1"/>
          <p:nvPr/>
        </p:nvSpPr>
        <p:spPr>
          <a:xfrm>
            <a:off x="7452360" y="4087368"/>
            <a:ext cx="1298448" cy="621792"/>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BigQuery</a:t>
            </a:r>
          </a:p>
          <a:p>
            <a:pPr algn="l">
              <a:lnSpc>
                <a:spcPct val="100000"/>
              </a:lnSpc>
              <a:spcAft>
                <a:spcPts val="0"/>
              </a:spcAft>
            </a:pPr>
            <a:r>
              <a:rPr sz="800" b="0">
                <a:solidFill>
                  <a:srgbClr val="5F6368"/>
                </a:solidFill>
                <a:latin typeface="Google Sans Flex"/>
              </a:rPr>
              <a:t>price history · MRP check</a:t>
            </a:r>
          </a:p>
        </p:txBody>
      </p:sp>
      <p:sp>
        <p:nvSpPr>
          <p:cNvPr id="177" name="Rounded Rectangle 176"/>
          <p:cNvSpPr/>
          <p:nvPr/>
        </p:nvSpPr>
        <p:spPr>
          <a:xfrm>
            <a:off x="320040" y="4041648"/>
            <a:ext cx="2468880" cy="713232"/>
          </a:xfrm>
          <a:prstGeom prst="roundRect">
            <a:avLst>
              <a:gd name="adj" fmla="val 10256"/>
            </a:avLst>
          </a:prstGeom>
          <a:solidFill>
            <a:srgbClr val="FFF8EC"/>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429768" y="4041648"/>
            <a:ext cx="2286000" cy="713232"/>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Safe by design</a:t>
            </a:r>
          </a:p>
          <a:p>
            <a:pPr algn="l">
              <a:lnSpc>
                <a:spcPct val="100000"/>
              </a:lnSpc>
              <a:spcAft>
                <a:spcPts val="0"/>
              </a:spcAft>
            </a:pPr>
            <a:r>
              <a:rPr sz="750" b="0">
                <a:solidFill>
                  <a:srgbClr val="5F6368"/>
                </a:solidFill>
                <a:latin typeface="Google Sans Flex"/>
              </a:rPr>
              <a:t>never pays, signs in or types · budgets per audit · service account, no keys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Technology stack</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356615" y="1280160"/>
            <a:ext cx="1143000" cy="384048"/>
          </a:xfrm>
          <a:prstGeom prst="roundRect">
            <a:avLst>
              <a:gd name="adj" fmla="val 23809"/>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ounded Rectangle 120"/>
          <p:cNvSpPr/>
          <p:nvPr/>
        </p:nvSpPr>
        <p:spPr>
          <a:xfrm>
            <a:off x="320040" y="1243584"/>
            <a:ext cx="1143000" cy="384048"/>
          </a:xfrm>
          <a:prstGeom prst="roundRect">
            <a:avLst>
              <a:gd name="adj" fmla="val 23809"/>
            </a:avLst>
          </a:prstGeom>
          <a:solidFill>
            <a:srgbClr val="C4B5FD"/>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411479" y="1243584"/>
            <a:ext cx="960120" cy="384048"/>
          </a:xfrm>
          <a:prstGeom prst="rect">
            <a:avLst/>
          </a:prstGeom>
          <a:noFill/>
        </p:spPr>
        <p:txBody>
          <a:bodyPr wrap="square" lIns="0" rIns="0" tIns="0" bIns="0" anchor="ctr">
            <a:noAutofit/>
          </a:bodyPr>
          <a:lstStyle/>
          <a:p>
            <a:pPr algn="ctr">
              <a:lnSpc>
                <a:spcPct val="100000"/>
              </a:lnSpc>
              <a:spcAft>
                <a:spcPts val="0"/>
              </a:spcAft>
            </a:pPr>
            <a:r>
              <a:rPr sz="1150" b="1">
                <a:solidFill>
                  <a:srgbClr val="111111"/>
                </a:solidFill>
                <a:latin typeface="Google Sans Flex"/>
              </a:rPr>
              <a:t>AI</a:t>
            </a:r>
          </a:p>
        </p:txBody>
      </p:sp>
      <p:sp>
        <p:nvSpPr>
          <p:cNvPr id="123" name="Rounded Rectangle 122"/>
          <p:cNvSpPr/>
          <p:nvPr/>
        </p:nvSpPr>
        <p:spPr>
          <a:xfrm>
            <a:off x="1627632" y="1271016"/>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ounded Rectangle 123"/>
          <p:cNvSpPr/>
          <p:nvPr/>
        </p:nvSpPr>
        <p:spPr>
          <a:xfrm>
            <a:off x="1600200" y="1243584"/>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5" name="Picture 124" descr="brand-gemini.png"/>
          <p:cNvPicPr>
            <a:picLocks noChangeAspect="1"/>
          </p:cNvPicPr>
          <p:nvPr/>
        </p:nvPicPr>
        <p:blipFill>
          <a:blip r:embed="rId5"/>
          <a:stretch>
            <a:fillRect/>
          </a:stretch>
        </p:blipFill>
        <p:spPr>
          <a:xfrm>
            <a:off x="1682496" y="1307592"/>
            <a:ext cx="256032" cy="256032"/>
          </a:xfrm>
          <a:prstGeom prst="rect">
            <a:avLst/>
          </a:prstGeom>
        </p:spPr>
      </p:pic>
      <p:sp>
        <p:nvSpPr>
          <p:cNvPr id="126" name="TextBox 125"/>
          <p:cNvSpPr txBox="1"/>
          <p:nvPr/>
        </p:nvSpPr>
        <p:spPr>
          <a:xfrm>
            <a:off x="2020824" y="1243584"/>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Gemini 3.6 Flash</a:t>
            </a:r>
            <a:r>
              <a:rPr sz="800" b="0">
                <a:solidFill>
                  <a:srgbClr val="5F6368"/>
                </a:solidFill>
                <a:latin typeface="Google Sans Flex"/>
              </a:rPr>
              <a:t>  on Vertex AI</a:t>
            </a:r>
          </a:p>
        </p:txBody>
      </p:sp>
      <p:sp>
        <p:nvSpPr>
          <p:cNvPr id="127" name="Rounded Rectangle 126"/>
          <p:cNvSpPr/>
          <p:nvPr/>
        </p:nvSpPr>
        <p:spPr>
          <a:xfrm>
            <a:off x="4072128" y="1271016"/>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ounded Rectangle 127"/>
          <p:cNvSpPr/>
          <p:nvPr/>
        </p:nvSpPr>
        <p:spPr>
          <a:xfrm>
            <a:off x="4044696" y="1243584"/>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9" name="Picture 128" descr="l-bot-ink.png"/>
          <p:cNvPicPr>
            <a:picLocks noChangeAspect="1"/>
          </p:cNvPicPr>
          <p:nvPr/>
        </p:nvPicPr>
        <p:blipFill>
          <a:blip r:embed="rId6"/>
          <a:stretch>
            <a:fillRect/>
          </a:stretch>
        </p:blipFill>
        <p:spPr>
          <a:xfrm>
            <a:off x="4126992" y="1307592"/>
            <a:ext cx="256032" cy="256032"/>
          </a:xfrm>
          <a:prstGeom prst="rect">
            <a:avLst/>
          </a:prstGeom>
        </p:spPr>
      </p:pic>
      <p:sp>
        <p:nvSpPr>
          <p:cNvPr id="130" name="TextBox 129"/>
          <p:cNvSpPr txBox="1"/>
          <p:nvPr/>
        </p:nvSpPr>
        <p:spPr>
          <a:xfrm>
            <a:off x="4465320" y="1243584"/>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Google ADK</a:t>
            </a:r>
            <a:r>
              <a:rPr sz="800" b="0">
                <a:solidFill>
                  <a:srgbClr val="5F6368"/>
                </a:solidFill>
                <a:latin typeface="Google Sans Flex"/>
              </a:rPr>
              <a:t>  agent graph + tools</a:t>
            </a:r>
          </a:p>
        </p:txBody>
      </p:sp>
      <p:sp>
        <p:nvSpPr>
          <p:cNvPr id="131" name="Rounded Rectangle 130"/>
          <p:cNvSpPr/>
          <p:nvPr/>
        </p:nvSpPr>
        <p:spPr>
          <a:xfrm>
            <a:off x="6516624" y="1271016"/>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ounded Rectangle 131"/>
          <p:cNvSpPr/>
          <p:nvPr/>
        </p:nvSpPr>
        <p:spPr>
          <a:xfrm>
            <a:off x="6489192" y="1243584"/>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3" name="Picture 132" descr="l-cpu-ink.png"/>
          <p:cNvPicPr>
            <a:picLocks noChangeAspect="1"/>
          </p:cNvPicPr>
          <p:nvPr/>
        </p:nvPicPr>
        <p:blipFill>
          <a:blip r:embed="rId7"/>
          <a:stretch>
            <a:fillRect/>
          </a:stretch>
        </p:blipFill>
        <p:spPr>
          <a:xfrm>
            <a:off x="6571488" y="1307592"/>
            <a:ext cx="256032" cy="256032"/>
          </a:xfrm>
          <a:prstGeom prst="rect">
            <a:avLst/>
          </a:prstGeom>
        </p:spPr>
      </p:pic>
      <p:sp>
        <p:nvSpPr>
          <p:cNvPr id="134" name="TextBox 133"/>
          <p:cNvSpPr txBox="1"/>
          <p:nvPr/>
        </p:nvSpPr>
        <p:spPr>
          <a:xfrm>
            <a:off x="6909816" y="1243584"/>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Gemma 3 4B</a:t>
            </a:r>
            <a:r>
              <a:rPr sz="800" b="0">
                <a:solidFill>
                  <a:srgbClr val="5F6368"/>
                </a:solidFill>
                <a:latin typeface="Google Sans Flex"/>
              </a:rPr>
              <a:t>  local dev, via Ollama</a:t>
            </a:r>
          </a:p>
        </p:txBody>
      </p:sp>
      <p:sp>
        <p:nvSpPr>
          <p:cNvPr id="135" name="Rounded Rectangle 134"/>
          <p:cNvSpPr/>
          <p:nvPr/>
        </p:nvSpPr>
        <p:spPr>
          <a:xfrm>
            <a:off x="356615" y="1810512"/>
            <a:ext cx="1143000" cy="1298448"/>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ounded Rectangle 135"/>
          <p:cNvSpPr/>
          <p:nvPr/>
        </p:nvSpPr>
        <p:spPr>
          <a:xfrm>
            <a:off x="320040" y="1773936"/>
            <a:ext cx="1143000" cy="1298448"/>
          </a:xfrm>
          <a:prstGeom prst="roundRect">
            <a:avLst>
              <a:gd name="adj" fmla="val 8000"/>
            </a:avLst>
          </a:prstGeom>
          <a:solidFill>
            <a:srgbClr val="D2E3FC"/>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411479" y="1773936"/>
            <a:ext cx="960120" cy="1298448"/>
          </a:xfrm>
          <a:prstGeom prst="rect">
            <a:avLst/>
          </a:prstGeom>
          <a:noFill/>
        </p:spPr>
        <p:txBody>
          <a:bodyPr wrap="square" lIns="0" rIns="0" tIns="0" bIns="0" anchor="ctr">
            <a:noAutofit/>
          </a:bodyPr>
          <a:lstStyle/>
          <a:p>
            <a:pPr algn="ctr">
              <a:lnSpc>
                <a:spcPct val="100000"/>
              </a:lnSpc>
              <a:spcAft>
                <a:spcPts val="0"/>
              </a:spcAft>
            </a:pPr>
            <a:r>
              <a:rPr sz="1150" b="1">
                <a:solidFill>
                  <a:srgbClr val="111111"/>
                </a:solidFill>
                <a:latin typeface="Google Sans Flex"/>
              </a:rPr>
              <a:t>Google Cloud</a:t>
            </a:r>
          </a:p>
        </p:txBody>
      </p:sp>
      <p:sp>
        <p:nvSpPr>
          <p:cNvPr id="138" name="Rounded Rectangle 137"/>
          <p:cNvSpPr/>
          <p:nvPr/>
        </p:nvSpPr>
        <p:spPr>
          <a:xfrm>
            <a:off x="1627632" y="18013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ounded Rectangle 138"/>
          <p:cNvSpPr/>
          <p:nvPr/>
        </p:nvSpPr>
        <p:spPr>
          <a:xfrm>
            <a:off x="1600200" y="17739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0" name="Picture 139" descr="g-cloud_run.png"/>
          <p:cNvPicPr>
            <a:picLocks noChangeAspect="1"/>
          </p:cNvPicPr>
          <p:nvPr/>
        </p:nvPicPr>
        <p:blipFill>
          <a:blip r:embed="rId8"/>
          <a:stretch>
            <a:fillRect/>
          </a:stretch>
        </p:blipFill>
        <p:spPr>
          <a:xfrm>
            <a:off x="1682496" y="1837943"/>
            <a:ext cx="256032" cy="256032"/>
          </a:xfrm>
          <a:prstGeom prst="rect">
            <a:avLst/>
          </a:prstGeom>
        </p:spPr>
      </p:pic>
      <p:sp>
        <p:nvSpPr>
          <p:cNvPr id="141" name="TextBox 140"/>
          <p:cNvSpPr txBox="1"/>
          <p:nvPr/>
        </p:nvSpPr>
        <p:spPr>
          <a:xfrm>
            <a:off x="2020824" y="17739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Run</a:t>
            </a:r>
            <a:r>
              <a:rPr sz="800" b="0">
                <a:solidFill>
                  <a:srgbClr val="5F6368"/>
                </a:solidFill>
                <a:latin typeface="Google Sans Flex"/>
              </a:rPr>
              <a:t>  API + browsers</a:t>
            </a:r>
          </a:p>
        </p:txBody>
      </p:sp>
      <p:sp>
        <p:nvSpPr>
          <p:cNvPr id="142" name="Rounded Rectangle 141"/>
          <p:cNvSpPr/>
          <p:nvPr/>
        </p:nvSpPr>
        <p:spPr>
          <a:xfrm>
            <a:off x="4072128" y="18013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ounded Rectangle 142"/>
          <p:cNvSpPr/>
          <p:nvPr/>
        </p:nvSpPr>
        <p:spPr>
          <a:xfrm>
            <a:off x="4044696" y="17739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4" name="Picture 143" descr="g-firestore.png"/>
          <p:cNvPicPr>
            <a:picLocks noChangeAspect="1"/>
          </p:cNvPicPr>
          <p:nvPr/>
        </p:nvPicPr>
        <p:blipFill>
          <a:blip r:embed="rId9"/>
          <a:stretch>
            <a:fillRect/>
          </a:stretch>
        </p:blipFill>
        <p:spPr>
          <a:xfrm>
            <a:off x="4126992" y="1837943"/>
            <a:ext cx="256032" cy="256032"/>
          </a:xfrm>
          <a:prstGeom prst="rect">
            <a:avLst/>
          </a:prstGeom>
        </p:spPr>
      </p:pic>
      <p:sp>
        <p:nvSpPr>
          <p:cNvPr id="145" name="TextBox 144"/>
          <p:cNvSpPr txBox="1"/>
          <p:nvPr/>
        </p:nvSpPr>
        <p:spPr>
          <a:xfrm>
            <a:off x="4465320" y="17739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Firestore</a:t>
            </a:r>
            <a:r>
              <a:rPr sz="800" b="0">
                <a:solidFill>
                  <a:srgbClr val="5F6368"/>
                </a:solidFill>
                <a:latin typeface="Google Sans Flex"/>
              </a:rPr>
              <a:t>  audits, events</a:t>
            </a:r>
          </a:p>
        </p:txBody>
      </p:sp>
      <p:sp>
        <p:nvSpPr>
          <p:cNvPr id="146" name="Rounded Rectangle 145"/>
          <p:cNvSpPr/>
          <p:nvPr/>
        </p:nvSpPr>
        <p:spPr>
          <a:xfrm>
            <a:off x="6516624" y="18013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ounded Rectangle 146"/>
          <p:cNvSpPr/>
          <p:nvPr/>
        </p:nvSpPr>
        <p:spPr>
          <a:xfrm>
            <a:off x="6489192" y="17739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8" name="Picture 147" descr="g-cloud_storage.png"/>
          <p:cNvPicPr>
            <a:picLocks noChangeAspect="1"/>
          </p:cNvPicPr>
          <p:nvPr/>
        </p:nvPicPr>
        <p:blipFill>
          <a:blip r:embed="rId10"/>
          <a:stretch>
            <a:fillRect/>
          </a:stretch>
        </p:blipFill>
        <p:spPr>
          <a:xfrm>
            <a:off x="6571488" y="1837943"/>
            <a:ext cx="256032" cy="256032"/>
          </a:xfrm>
          <a:prstGeom prst="rect">
            <a:avLst/>
          </a:prstGeom>
        </p:spPr>
      </p:pic>
      <p:sp>
        <p:nvSpPr>
          <p:cNvPr id="149" name="TextBox 148"/>
          <p:cNvSpPr txBox="1"/>
          <p:nvPr/>
        </p:nvSpPr>
        <p:spPr>
          <a:xfrm>
            <a:off x="6909816" y="17739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Storage</a:t>
            </a:r>
            <a:r>
              <a:rPr sz="800" b="0">
                <a:solidFill>
                  <a:srgbClr val="5F6368"/>
                </a:solidFill>
                <a:latin typeface="Google Sans Flex"/>
              </a:rPr>
              <a:t>  screenshots</a:t>
            </a:r>
          </a:p>
        </p:txBody>
      </p:sp>
      <p:sp>
        <p:nvSpPr>
          <p:cNvPr id="150" name="Rounded Rectangle 149"/>
          <p:cNvSpPr/>
          <p:nvPr/>
        </p:nvSpPr>
        <p:spPr>
          <a:xfrm>
            <a:off x="1627632" y="22585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ounded Rectangle 150"/>
          <p:cNvSpPr/>
          <p:nvPr/>
        </p:nvSpPr>
        <p:spPr>
          <a:xfrm>
            <a:off x="1600200" y="22311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2" name="Picture 151" descr="g-bigquery.png"/>
          <p:cNvPicPr>
            <a:picLocks noChangeAspect="1"/>
          </p:cNvPicPr>
          <p:nvPr/>
        </p:nvPicPr>
        <p:blipFill>
          <a:blip r:embed="rId11"/>
          <a:stretch>
            <a:fillRect/>
          </a:stretch>
        </p:blipFill>
        <p:spPr>
          <a:xfrm>
            <a:off x="1682496" y="2295144"/>
            <a:ext cx="256032" cy="256032"/>
          </a:xfrm>
          <a:prstGeom prst="rect">
            <a:avLst/>
          </a:prstGeom>
        </p:spPr>
      </p:pic>
      <p:sp>
        <p:nvSpPr>
          <p:cNvPr id="153" name="TextBox 152"/>
          <p:cNvSpPr txBox="1"/>
          <p:nvPr/>
        </p:nvSpPr>
        <p:spPr>
          <a:xfrm>
            <a:off x="2020824" y="22311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BigQuery</a:t>
            </a:r>
            <a:r>
              <a:rPr sz="800" b="0">
                <a:solidFill>
                  <a:srgbClr val="5F6368"/>
                </a:solidFill>
                <a:latin typeface="Google Sans Flex"/>
              </a:rPr>
              <a:t>  price history</a:t>
            </a:r>
          </a:p>
        </p:txBody>
      </p:sp>
      <p:sp>
        <p:nvSpPr>
          <p:cNvPr id="154" name="Rounded Rectangle 153"/>
          <p:cNvSpPr/>
          <p:nvPr/>
        </p:nvSpPr>
        <p:spPr>
          <a:xfrm>
            <a:off x="4072128" y="22585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ounded Rectangle 154"/>
          <p:cNvSpPr/>
          <p:nvPr/>
        </p:nvSpPr>
        <p:spPr>
          <a:xfrm>
            <a:off x="4044696" y="22311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6" name="Picture 155" descr="g-cloud_build.png"/>
          <p:cNvPicPr>
            <a:picLocks noChangeAspect="1"/>
          </p:cNvPicPr>
          <p:nvPr/>
        </p:nvPicPr>
        <p:blipFill>
          <a:blip r:embed="rId12"/>
          <a:stretch>
            <a:fillRect/>
          </a:stretch>
        </p:blipFill>
        <p:spPr>
          <a:xfrm>
            <a:off x="4126992" y="2295144"/>
            <a:ext cx="256032" cy="256032"/>
          </a:xfrm>
          <a:prstGeom prst="rect">
            <a:avLst/>
          </a:prstGeom>
        </p:spPr>
      </p:pic>
      <p:sp>
        <p:nvSpPr>
          <p:cNvPr id="157" name="TextBox 156"/>
          <p:cNvSpPr txBox="1"/>
          <p:nvPr/>
        </p:nvSpPr>
        <p:spPr>
          <a:xfrm>
            <a:off x="4465320" y="22311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Build</a:t>
            </a:r>
            <a:r>
              <a:rPr sz="800" b="0">
                <a:solidFill>
                  <a:srgbClr val="5F6368"/>
                </a:solidFill>
                <a:latin typeface="Google Sans Flex"/>
              </a:rPr>
              <a:t>  container builds</a:t>
            </a:r>
          </a:p>
        </p:txBody>
      </p:sp>
      <p:sp>
        <p:nvSpPr>
          <p:cNvPr id="158" name="Rounded Rectangle 157"/>
          <p:cNvSpPr/>
          <p:nvPr/>
        </p:nvSpPr>
        <p:spPr>
          <a:xfrm>
            <a:off x="6516624" y="22585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ounded Rectangle 158"/>
          <p:cNvSpPr/>
          <p:nvPr/>
        </p:nvSpPr>
        <p:spPr>
          <a:xfrm>
            <a:off x="6489192" y="22311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0" name="Picture 159" descr="g-artifact_registry.png"/>
          <p:cNvPicPr>
            <a:picLocks noChangeAspect="1"/>
          </p:cNvPicPr>
          <p:nvPr/>
        </p:nvPicPr>
        <p:blipFill>
          <a:blip r:embed="rId13"/>
          <a:stretch>
            <a:fillRect/>
          </a:stretch>
        </p:blipFill>
        <p:spPr>
          <a:xfrm>
            <a:off x="6571488" y="2295144"/>
            <a:ext cx="256032" cy="256032"/>
          </a:xfrm>
          <a:prstGeom prst="rect">
            <a:avLst/>
          </a:prstGeom>
        </p:spPr>
      </p:pic>
      <p:sp>
        <p:nvSpPr>
          <p:cNvPr id="161" name="TextBox 160"/>
          <p:cNvSpPr txBox="1"/>
          <p:nvPr/>
        </p:nvSpPr>
        <p:spPr>
          <a:xfrm>
            <a:off x="6909816" y="22311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Artifact Registry</a:t>
            </a:r>
            <a:r>
              <a:rPr sz="800" b="0">
                <a:solidFill>
                  <a:srgbClr val="5F6368"/>
                </a:solidFill>
                <a:latin typeface="Google Sans Flex"/>
              </a:rPr>
              <a:t>  images</a:t>
            </a:r>
          </a:p>
        </p:txBody>
      </p:sp>
      <p:sp>
        <p:nvSpPr>
          <p:cNvPr id="162" name="Rounded Rectangle 161"/>
          <p:cNvSpPr/>
          <p:nvPr/>
        </p:nvSpPr>
        <p:spPr>
          <a:xfrm>
            <a:off x="1627632" y="27157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ounded Rectangle 162"/>
          <p:cNvSpPr/>
          <p:nvPr/>
        </p:nvSpPr>
        <p:spPr>
          <a:xfrm>
            <a:off x="1600200" y="26883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4" name="Picture 163" descr="g-cloud_monitoring.png"/>
          <p:cNvPicPr>
            <a:picLocks noChangeAspect="1"/>
          </p:cNvPicPr>
          <p:nvPr/>
        </p:nvPicPr>
        <p:blipFill>
          <a:blip r:embed="rId14"/>
          <a:stretch>
            <a:fillRect/>
          </a:stretch>
        </p:blipFill>
        <p:spPr>
          <a:xfrm>
            <a:off x="1682496" y="2752344"/>
            <a:ext cx="256032" cy="256032"/>
          </a:xfrm>
          <a:prstGeom prst="rect">
            <a:avLst/>
          </a:prstGeom>
        </p:spPr>
      </p:pic>
      <p:sp>
        <p:nvSpPr>
          <p:cNvPr id="165" name="TextBox 164"/>
          <p:cNvSpPr txBox="1"/>
          <p:nvPr/>
        </p:nvSpPr>
        <p:spPr>
          <a:xfrm>
            <a:off x="2020824" y="26883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Monitoring</a:t>
            </a:r>
            <a:r>
              <a:rPr sz="800" b="0">
                <a:solidFill>
                  <a:srgbClr val="5F6368"/>
                </a:solidFill>
                <a:latin typeface="Google Sans Flex"/>
              </a:rPr>
              <a:t>  alerts, uptime</a:t>
            </a:r>
          </a:p>
        </p:txBody>
      </p:sp>
      <p:sp>
        <p:nvSpPr>
          <p:cNvPr id="166" name="Rounded Rectangle 165"/>
          <p:cNvSpPr/>
          <p:nvPr/>
        </p:nvSpPr>
        <p:spPr>
          <a:xfrm>
            <a:off x="4072128" y="27157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ounded Rectangle 166"/>
          <p:cNvSpPr/>
          <p:nvPr/>
        </p:nvSpPr>
        <p:spPr>
          <a:xfrm>
            <a:off x="4044696" y="26883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8" name="Picture 167" descr="g-billing.png"/>
          <p:cNvPicPr>
            <a:picLocks noChangeAspect="1"/>
          </p:cNvPicPr>
          <p:nvPr/>
        </p:nvPicPr>
        <p:blipFill>
          <a:blip r:embed="rId15"/>
          <a:stretch>
            <a:fillRect/>
          </a:stretch>
        </p:blipFill>
        <p:spPr>
          <a:xfrm>
            <a:off x="4126992" y="2752344"/>
            <a:ext cx="256032" cy="256032"/>
          </a:xfrm>
          <a:prstGeom prst="rect">
            <a:avLst/>
          </a:prstGeom>
        </p:spPr>
      </p:pic>
      <p:sp>
        <p:nvSpPr>
          <p:cNvPr id="169" name="TextBox 168"/>
          <p:cNvSpPr txBox="1"/>
          <p:nvPr/>
        </p:nvSpPr>
        <p:spPr>
          <a:xfrm>
            <a:off x="4465320" y="26883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Cloud Billing</a:t>
            </a:r>
            <a:r>
              <a:rPr sz="800" b="0">
                <a:solidFill>
                  <a:srgbClr val="5F6368"/>
                </a:solidFill>
                <a:latin typeface="Google Sans Flex"/>
              </a:rPr>
              <a:t>  budgets</a:t>
            </a:r>
          </a:p>
        </p:txBody>
      </p:sp>
      <p:sp>
        <p:nvSpPr>
          <p:cNvPr id="170" name="Rounded Rectangle 169"/>
          <p:cNvSpPr/>
          <p:nvPr/>
        </p:nvSpPr>
        <p:spPr>
          <a:xfrm>
            <a:off x="6516624" y="2715768"/>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ounded Rectangle 170"/>
          <p:cNvSpPr/>
          <p:nvPr/>
        </p:nvSpPr>
        <p:spPr>
          <a:xfrm>
            <a:off x="6489192" y="2688336"/>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2" name="Picture 171" descr="s-firebase.png"/>
          <p:cNvPicPr>
            <a:picLocks noChangeAspect="1"/>
          </p:cNvPicPr>
          <p:nvPr/>
        </p:nvPicPr>
        <p:blipFill>
          <a:blip r:embed="rId16"/>
          <a:stretch>
            <a:fillRect/>
          </a:stretch>
        </p:blipFill>
        <p:spPr>
          <a:xfrm>
            <a:off x="6571488" y="2752344"/>
            <a:ext cx="256032" cy="256032"/>
          </a:xfrm>
          <a:prstGeom prst="rect">
            <a:avLst/>
          </a:prstGeom>
        </p:spPr>
      </p:pic>
      <p:sp>
        <p:nvSpPr>
          <p:cNvPr id="173" name="TextBox 172"/>
          <p:cNvSpPr txBox="1"/>
          <p:nvPr/>
        </p:nvSpPr>
        <p:spPr>
          <a:xfrm>
            <a:off x="6909816" y="2688336"/>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Firebase Hosting</a:t>
            </a:r>
            <a:r>
              <a:rPr sz="800" b="0">
                <a:solidFill>
                  <a:srgbClr val="5F6368"/>
                </a:solidFill>
                <a:latin typeface="Google Sans Flex"/>
              </a:rPr>
              <a:t>  web app + CDN</a:t>
            </a:r>
          </a:p>
        </p:txBody>
      </p:sp>
      <p:sp>
        <p:nvSpPr>
          <p:cNvPr id="174" name="Rounded Rectangle 173"/>
          <p:cNvSpPr/>
          <p:nvPr/>
        </p:nvSpPr>
        <p:spPr>
          <a:xfrm>
            <a:off x="356615" y="3255263"/>
            <a:ext cx="1143000" cy="1298448"/>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ounded Rectangle 174"/>
          <p:cNvSpPr/>
          <p:nvPr/>
        </p:nvSpPr>
        <p:spPr>
          <a:xfrm>
            <a:off x="320040" y="3218687"/>
            <a:ext cx="1143000" cy="1298448"/>
          </a:xfrm>
          <a:prstGeom prst="roundRect">
            <a:avLst>
              <a:gd name="adj" fmla="val 8000"/>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TextBox 175"/>
          <p:cNvSpPr txBox="1"/>
          <p:nvPr/>
        </p:nvSpPr>
        <p:spPr>
          <a:xfrm>
            <a:off x="411479" y="3218687"/>
            <a:ext cx="960120" cy="1298448"/>
          </a:xfrm>
          <a:prstGeom prst="rect">
            <a:avLst/>
          </a:prstGeom>
          <a:noFill/>
        </p:spPr>
        <p:txBody>
          <a:bodyPr wrap="square" lIns="0" rIns="0" tIns="0" bIns="0" anchor="ctr">
            <a:noAutofit/>
          </a:bodyPr>
          <a:lstStyle/>
          <a:p>
            <a:pPr algn="ctr">
              <a:lnSpc>
                <a:spcPct val="100000"/>
              </a:lnSpc>
              <a:spcAft>
                <a:spcPts val="0"/>
              </a:spcAft>
            </a:pPr>
            <a:r>
              <a:rPr sz="1150" b="1">
                <a:solidFill>
                  <a:srgbClr val="111111"/>
                </a:solidFill>
                <a:latin typeface="Google Sans Flex"/>
              </a:rPr>
              <a:t>App</a:t>
            </a:r>
          </a:p>
        </p:txBody>
      </p:sp>
      <p:sp>
        <p:nvSpPr>
          <p:cNvPr id="177" name="Rounded Rectangle 176"/>
          <p:cNvSpPr/>
          <p:nvPr/>
        </p:nvSpPr>
        <p:spPr>
          <a:xfrm>
            <a:off x="1627632" y="3246119"/>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ounded Rectangle 177"/>
          <p:cNvSpPr/>
          <p:nvPr/>
        </p:nvSpPr>
        <p:spPr>
          <a:xfrm>
            <a:off x="1600200" y="32186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9" name="Picture 178" descr="s-python.png"/>
          <p:cNvPicPr>
            <a:picLocks noChangeAspect="1"/>
          </p:cNvPicPr>
          <p:nvPr/>
        </p:nvPicPr>
        <p:blipFill>
          <a:blip r:embed="rId17"/>
          <a:stretch>
            <a:fillRect/>
          </a:stretch>
        </p:blipFill>
        <p:spPr>
          <a:xfrm>
            <a:off x="1682496" y="3282695"/>
            <a:ext cx="256032" cy="256032"/>
          </a:xfrm>
          <a:prstGeom prst="rect">
            <a:avLst/>
          </a:prstGeom>
        </p:spPr>
      </p:pic>
      <p:sp>
        <p:nvSpPr>
          <p:cNvPr id="180" name="TextBox 179"/>
          <p:cNvSpPr txBox="1"/>
          <p:nvPr/>
        </p:nvSpPr>
        <p:spPr>
          <a:xfrm>
            <a:off x="2020824" y="32186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Python 3.12</a:t>
            </a:r>
            <a:r>
              <a:rPr sz="800" b="0">
                <a:solidFill>
                  <a:srgbClr val="5F6368"/>
                </a:solidFill>
                <a:latin typeface="Google Sans Flex"/>
              </a:rPr>
              <a:t>  + uv</a:t>
            </a:r>
          </a:p>
        </p:txBody>
      </p:sp>
      <p:sp>
        <p:nvSpPr>
          <p:cNvPr id="181" name="Rounded Rectangle 180"/>
          <p:cNvSpPr/>
          <p:nvPr/>
        </p:nvSpPr>
        <p:spPr>
          <a:xfrm>
            <a:off x="4072128" y="3246119"/>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ounded Rectangle 181"/>
          <p:cNvSpPr/>
          <p:nvPr/>
        </p:nvSpPr>
        <p:spPr>
          <a:xfrm>
            <a:off x="4044696" y="32186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3" name="Picture 182" descr="s-fastapi.png"/>
          <p:cNvPicPr>
            <a:picLocks noChangeAspect="1"/>
          </p:cNvPicPr>
          <p:nvPr/>
        </p:nvPicPr>
        <p:blipFill>
          <a:blip r:embed="rId18"/>
          <a:stretch>
            <a:fillRect/>
          </a:stretch>
        </p:blipFill>
        <p:spPr>
          <a:xfrm>
            <a:off x="4126992" y="3282695"/>
            <a:ext cx="256032" cy="256032"/>
          </a:xfrm>
          <a:prstGeom prst="rect">
            <a:avLst/>
          </a:prstGeom>
        </p:spPr>
      </p:pic>
      <p:sp>
        <p:nvSpPr>
          <p:cNvPr id="184" name="TextBox 183"/>
          <p:cNvSpPr txBox="1"/>
          <p:nvPr/>
        </p:nvSpPr>
        <p:spPr>
          <a:xfrm>
            <a:off x="4465320" y="32186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FastAPI</a:t>
            </a:r>
            <a:r>
              <a:rPr sz="800" b="0">
                <a:solidFill>
                  <a:srgbClr val="5F6368"/>
                </a:solidFill>
                <a:latin typeface="Google Sans Flex"/>
              </a:rPr>
              <a:t>  API + live stream</a:t>
            </a:r>
          </a:p>
        </p:txBody>
      </p:sp>
      <p:sp>
        <p:nvSpPr>
          <p:cNvPr id="185" name="Rounded Rectangle 184"/>
          <p:cNvSpPr/>
          <p:nvPr/>
        </p:nvSpPr>
        <p:spPr>
          <a:xfrm>
            <a:off x="6516624" y="3246119"/>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ounded Rectangle 185"/>
          <p:cNvSpPr/>
          <p:nvPr/>
        </p:nvSpPr>
        <p:spPr>
          <a:xfrm>
            <a:off x="6489192" y="32186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7" name="Picture 186" descr="s-googlechrome.png"/>
          <p:cNvPicPr>
            <a:picLocks noChangeAspect="1"/>
          </p:cNvPicPr>
          <p:nvPr/>
        </p:nvPicPr>
        <p:blipFill>
          <a:blip r:embed="rId19"/>
          <a:stretch>
            <a:fillRect/>
          </a:stretch>
        </p:blipFill>
        <p:spPr>
          <a:xfrm>
            <a:off x="6571488" y="3282695"/>
            <a:ext cx="256032" cy="256032"/>
          </a:xfrm>
          <a:prstGeom prst="rect">
            <a:avLst/>
          </a:prstGeom>
        </p:spPr>
      </p:pic>
      <p:sp>
        <p:nvSpPr>
          <p:cNvPr id="188" name="TextBox 187"/>
          <p:cNvSpPr txBox="1"/>
          <p:nvPr/>
        </p:nvSpPr>
        <p:spPr>
          <a:xfrm>
            <a:off x="6909816" y="32186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Playwright</a:t>
            </a:r>
            <a:r>
              <a:rPr sz="800" b="0">
                <a:solidFill>
                  <a:srgbClr val="5F6368"/>
                </a:solidFill>
                <a:latin typeface="Google Sans Flex"/>
              </a:rPr>
              <a:t>  headless Chromium</a:t>
            </a:r>
          </a:p>
        </p:txBody>
      </p:sp>
      <p:sp>
        <p:nvSpPr>
          <p:cNvPr id="189" name="Rounded Rectangle 188"/>
          <p:cNvSpPr/>
          <p:nvPr/>
        </p:nvSpPr>
        <p:spPr>
          <a:xfrm>
            <a:off x="1627632" y="37033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Rounded Rectangle 189"/>
          <p:cNvSpPr/>
          <p:nvPr/>
        </p:nvSpPr>
        <p:spPr>
          <a:xfrm>
            <a:off x="1600200" y="36758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1" name="Picture 190" descr="s-pydantic.png"/>
          <p:cNvPicPr>
            <a:picLocks noChangeAspect="1"/>
          </p:cNvPicPr>
          <p:nvPr/>
        </p:nvPicPr>
        <p:blipFill>
          <a:blip r:embed="rId20"/>
          <a:stretch>
            <a:fillRect/>
          </a:stretch>
        </p:blipFill>
        <p:spPr>
          <a:xfrm>
            <a:off x="1682496" y="3739896"/>
            <a:ext cx="256032" cy="256032"/>
          </a:xfrm>
          <a:prstGeom prst="rect">
            <a:avLst/>
          </a:prstGeom>
        </p:spPr>
      </p:pic>
      <p:sp>
        <p:nvSpPr>
          <p:cNvPr id="192" name="TextBox 191"/>
          <p:cNvSpPr txBox="1"/>
          <p:nvPr/>
        </p:nvSpPr>
        <p:spPr>
          <a:xfrm>
            <a:off x="2020824" y="36758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Pydantic</a:t>
            </a:r>
            <a:r>
              <a:rPr sz="800" b="0">
                <a:solidFill>
                  <a:srgbClr val="5F6368"/>
                </a:solidFill>
                <a:latin typeface="Google Sans Flex"/>
              </a:rPr>
              <a:t>  typed model output</a:t>
            </a:r>
          </a:p>
        </p:txBody>
      </p:sp>
      <p:sp>
        <p:nvSpPr>
          <p:cNvPr id="193" name="Rounded Rectangle 192"/>
          <p:cNvSpPr/>
          <p:nvPr/>
        </p:nvSpPr>
        <p:spPr>
          <a:xfrm>
            <a:off x="4072128" y="37033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Rounded Rectangle 193"/>
          <p:cNvSpPr/>
          <p:nvPr/>
        </p:nvSpPr>
        <p:spPr>
          <a:xfrm>
            <a:off x="4044696" y="36758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5" name="Picture 194" descr="s-react.png"/>
          <p:cNvPicPr>
            <a:picLocks noChangeAspect="1"/>
          </p:cNvPicPr>
          <p:nvPr/>
        </p:nvPicPr>
        <p:blipFill>
          <a:blip r:embed="rId21"/>
          <a:stretch>
            <a:fillRect/>
          </a:stretch>
        </p:blipFill>
        <p:spPr>
          <a:xfrm>
            <a:off x="4126992" y="3739896"/>
            <a:ext cx="256032" cy="256032"/>
          </a:xfrm>
          <a:prstGeom prst="rect">
            <a:avLst/>
          </a:prstGeom>
        </p:spPr>
      </p:pic>
      <p:sp>
        <p:nvSpPr>
          <p:cNvPr id="196" name="TextBox 195"/>
          <p:cNvSpPr txBox="1"/>
          <p:nvPr/>
        </p:nvSpPr>
        <p:spPr>
          <a:xfrm>
            <a:off x="4465320" y="36758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React 19</a:t>
            </a:r>
            <a:r>
              <a:rPr sz="800" b="0">
                <a:solidFill>
                  <a:srgbClr val="5F6368"/>
                </a:solidFill>
                <a:latin typeface="Google Sans Flex"/>
              </a:rPr>
              <a:t>  dashboard</a:t>
            </a:r>
          </a:p>
        </p:txBody>
      </p:sp>
      <p:sp>
        <p:nvSpPr>
          <p:cNvPr id="197" name="Rounded Rectangle 196"/>
          <p:cNvSpPr/>
          <p:nvPr/>
        </p:nvSpPr>
        <p:spPr>
          <a:xfrm>
            <a:off x="6516624" y="37033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Rounded Rectangle 197"/>
          <p:cNvSpPr/>
          <p:nvPr/>
        </p:nvSpPr>
        <p:spPr>
          <a:xfrm>
            <a:off x="6489192" y="36758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9" name="Picture 198" descr="s-typescript.png"/>
          <p:cNvPicPr>
            <a:picLocks noChangeAspect="1"/>
          </p:cNvPicPr>
          <p:nvPr/>
        </p:nvPicPr>
        <p:blipFill>
          <a:blip r:embed="rId22"/>
          <a:stretch>
            <a:fillRect/>
          </a:stretch>
        </p:blipFill>
        <p:spPr>
          <a:xfrm>
            <a:off x="6571488" y="3739896"/>
            <a:ext cx="256032" cy="256032"/>
          </a:xfrm>
          <a:prstGeom prst="rect">
            <a:avLst/>
          </a:prstGeom>
        </p:spPr>
      </p:pic>
      <p:sp>
        <p:nvSpPr>
          <p:cNvPr id="200" name="TextBox 199"/>
          <p:cNvSpPr txBox="1"/>
          <p:nvPr/>
        </p:nvSpPr>
        <p:spPr>
          <a:xfrm>
            <a:off x="6909816" y="36758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TypeScript</a:t>
            </a:r>
            <a:r>
              <a:rPr sz="800" b="0">
                <a:solidFill>
                  <a:srgbClr val="5F6368"/>
                </a:solidFill>
                <a:latin typeface="Google Sans Flex"/>
              </a:rPr>
              <a:t>  web + shared contract</a:t>
            </a:r>
          </a:p>
        </p:txBody>
      </p:sp>
      <p:sp>
        <p:nvSpPr>
          <p:cNvPr id="201" name="Rounded Rectangle 200"/>
          <p:cNvSpPr/>
          <p:nvPr/>
        </p:nvSpPr>
        <p:spPr>
          <a:xfrm>
            <a:off x="1627632" y="41605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Rounded Rectangle 201"/>
          <p:cNvSpPr/>
          <p:nvPr/>
        </p:nvSpPr>
        <p:spPr>
          <a:xfrm>
            <a:off x="1600200" y="41330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3" name="Picture 202" descr="s-vite.png"/>
          <p:cNvPicPr>
            <a:picLocks noChangeAspect="1"/>
          </p:cNvPicPr>
          <p:nvPr/>
        </p:nvPicPr>
        <p:blipFill>
          <a:blip r:embed="rId23"/>
          <a:stretch>
            <a:fillRect/>
          </a:stretch>
        </p:blipFill>
        <p:spPr>
          <a:xfrm>
            <a:off x="1682496" y="4197096"/>
            <a:ext cx="256032" cy="256032"/>
          </a:xfrm>
          <a:prstGeom prst="rect">
            <a:avLst/>
          </a:prstGeom>
        </p:spPr>
      </p:pic>
      <p:sp>
        <p:nvSpPr>
          <p:cNvPr id="204" name="TextBox 203"/>
          <p:cNvSpPr txBox="1"/>
          <p:nvPr/>
        </p:nvSpPr>
        <p:spPr>
          <a:xfrm>
            <a:off x="2020824" y="41330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Vite</a:t>
            </a:r>
            <a:r>
              <a:rPr sz="800" b="0">
                <a:solidFill>
                  <a:srgbClr val="5F6368"/>
                </a:solidFill>
                <a:latin typeface="Google Sans Flex"/>
              </a:rPr>
              <a:t>  build</a:t>
            </a:r>
          </a:p>
        </p:txBody>
      </p:sp>
      <p:sp>
        <p:nvSpPr>
          <p:cNvPr id="205" name="Rounded Rectangle 204"/>
          <p:cNvSpPr/>
          <p:nvPr/>
        </p:nvSpPr>
        <p:spPr>
          <a:xfrm>
            <a:off x="4072128" y="41605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Rounded Rectangle 205"/>
          <p:cNvSpPr/>
          <p:nvPr/>
        </p:nvSpPr>
        <p:spPr>
          <a:xfrm>
            <a:off x="4044696" y="41330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7" name="Picture 206" descr="s-tailwindcss.png"/>
          <p:cNvPicPr>
            <a:picLocks noChangeAspect="1"/>
          </p:cNvPicPr>
          <p:nvPr/>
        </p:nvPicPr>
        <p:blipFill>
          <a:blip r:embed="rId24"/>
          <a:stretch>
            <a:fillRect/>
          </a:stretch>
        </p:blipFill>
        <p:spPr>
          <a:xfrm>
            <a:off x="4126992" y="4197096"/>
            <a:ext cx="256032" cy="256032"/>
          </a:xfrm>
          <a:prstGeom prst="rect">
            <a:avLst/>
          </a:prstGeom>
        </p:spPr>
      </p:pic>
      <p:sp>
        <p:nvSpPr>
          <p:cNvPr id="208" name="TextBox 207"/>
          <p:cNvSpPr txBox="1"/>
          <p:nvPr/>
        </p:nvSpPr>
        <p:spPr>
          <a:xfrm>
            <a:off x="4465320" y="41330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Tailwind CSS</a:t>
            </a:r>
            <a:r>
              <a:rPr sz="800" b="0">
                <a:solidFill>
                  <a:srgbClr val="5F6368"/>
                </a:solidFill>
                <a:latin typeface="Google Sans Flex"/>
              </a:rPr>
              <a:t>  styling</a:t>
            </a:r>
          </a:p>
        </p:txBody>
      </p:sp>
      <p:sp>
        <p:nvSpPr>
          <p:cNvPr id="209" name="Rounded Rectangle 208"/>
          <p:cNvSpPr/>
          <p:nvPr/>
        </p:nvSpPr>
        <p:spPr>
          <a:xfrm>
            <a:off x="6516624" y="4160520"/>
            <a:ext cx="2334768" cy="384048"/>
          </a:xfrm>
          <a:prstGeom prst="roundRect">
            <a:avLst>
              <a:gd name="adj" fmla="val 1904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Rounded Rectangle 209"/>
          <p:cNvSpPr/>
          <p:nvPr/>
        </p:nvSpPr>
        <p:spPr>
          <a:xfrm>
            <a:off x="6489192" y="4133087"/>
            <a:ext cx="2334768" cy="384048"/>
          </a:xfrm>
          <a:prstGeom prst="roundRect">
            <a:avLst>
              <a:gd name="adj" fmla="val 19047"/>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1" name="Picture 210" descr="s-threedotjs.png"/>
          <p:cNvPicPr>
            <a:picLocks noChangeAspect="1"/>
          </p:cNvPicPr>
          <p:nvPr/>
        </p:nvPicPr>
        <p:blipFill>
          <a:blip r:embed="rId25"/>
          <a:stretch>
            <a:fillRect/>
          </a:stretch>
        </p:blipFill>
        <p:spPr>
          <a:xfrm>
            <a:off x="6571488" y="4197096"/>
            <a:ext cx="256032" cy="256032"/>
          </a:xfrm>
          <a:prstGeom prst="rect">
            <a:avLst/>
          </a:prstGeom>
        </p:spPr>
      </p:pic>
      <p:sp>
        <p:nvSpPr>
          <p:cNvPr id="212" name="TextBox 211"/>
          <p:cNvSpPr txBox="1"/>
          <p:nvPr/>
        </p:nvSpPr>
        <p:spPr>
          <a:xfrm>
            <a:off x="6909816" y="4133087"/>
            <a:ext cx="1877568" cy="384048"/>
          </a:xfrm>
          <a:prstGeom prst="rect">
            <a:avLst/>
          </a:prstGeom>
          <a:noFill/>
        </p:spPr>
        <p:txBody>
          <a:bodyPr wrap="square" lIns="0" rIns="0" tIns="0" bIns="0" anchor="ctr">
            <a:noAutofit/>
          </a:bodyPr>
          <a:lstStyle/>
          <a:p>
            <a:pPr algn="l">
              <a:lnSpc>
                <a:spcPct val="100000"/>
              </a:lnSpc>
              <a:spcAft>
                <a:spcPts val="0"/>
              </a:spcAft>
            </a:pPr>
            <a:r>
              <a:rPr sz="950" b="1">
                <a:solidFill>
                  <a:srgbClr val="111111"/>
                </a:solidFill>
                <a:latin typeface="Google Sans Flex"/>
              </a:rPr>
              <a:t>three.js</a:t>
            </a:r>
            <a:r>
              <a:rPr sz="800" b="0">
                <a:solidFill>
                  <a:srgbClr val="5F6368"/>
                </a:solidFill>
                <a:latin typeface="Google Sans Flex"/>
              </a:rPr>
              <a:t>  3D hero</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Audit cost and operating limits</a:t>
            </a:r>
            <a:endParaRPr sz="1600">
              <a:latin typeface="Google Sans Flex Medium"/>
              <a:ea typeface="Google Sans Flex Medium"/>
              <a:cs typeface="Google Sans Flex Medium"/>
              <a:sym typeface="Google Sans Flex Medium"/>
            </a:endParaRPr>
          </a:p>
        </p:txBody>
      </p:sp>
      <p:sp>
        <p:nvSpPr>
          <p:cNvPr id="128" name="Rounded Rectangle 127"/>
          <p:cNvSpPr/>
          <p:nvPr/>
        </p:nvSpPr>
        <p:spPr>
          <a:xfrm>
            <a:off x="365759" y="1307592"/>
            <a:ext cx="3520440" cy="3538728"/>
          </a:xfrm>
          <a:prstGeom prst="roundRect">
            <a:avLst>
              <a:gd name="adj" fmla="val 363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ounded Rectangle 128"/>
          <p:cNvSpPr/>
          <p:nvPr/>
        </p:nvSpPr>
        <p:spPr>
          <a:xfrm>
            <a:off x="320040" y="1261872"/>
            <a:ext cx="3520440" cy="3538728"/>
          </a:xfrm>
          <a:prstGeom prst="roundRect">
            <a:avLst>
              <a:gd name="adj" fmla="val 3636"/>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548640" y="1371600"/>
            <a:ext cx="310896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PLANNING ASSUMPTION / AUDIT</a:t>
            </a:r>
          </a:p>
        </p:txBody>
      </p:sp>
      <p:sp>
        <p:nvSpPr>
          <p:cNvPr id="131" name="TextBox 130"/>
          <p:cNvSpPr txBox="1"/>
          <p:nvPr/>
        </p:nvSpPr>
        <p:spPr>
          <a:xfrm>
            <a:off x="548640" y="1572768"/>
            <a:ext cx="3108960" cy="731520"/>
          </a:xfrm>
          <a:prstGeom prst="rect">
            <a:avLst/>
          </a:prstGeom>
          <a:noFill/>
        </p:spPr>
        <p:txBody>
          <a:bodyPr wrap="square" lIns="0" rIns="0" tIns="0" bIns="0" anchor="t">
            <a:noAutofit/>
          </a:bodyPr>
          <a:lstStyle/>
          <a:p>
            <a:pPr algn="l">
              <a:lnSpc>
                <a:spcPct val="100000"/>
              </a:lnSpc>
              <a:spcAft>
                <a:spcPts val="0"/>
              </a:spcAft>
            </a:pPr>
            <a:r>
              <a:rPr sz="4600" b="1">
                <a:solidFill>
                  <a:srgbClr val="111111"/>
                </a:solidFill>
                <a:latin typeface="Google Sans Flex"/>
              </a:rPr>
              <a:t>≈ ₹2</a:t>
            </a:r>
          </a:p>
        </p:txBody>
      </p:sp>
      <p:sp>
        <p:nvSpPr>
          <p:cNvPr id="132" name="TextBox 131"/>
          <p:cNvSpPr txBox="1"/>
          <p:nvPr/>
        </p:nvSpPr>
        <p:spPr>
          <a:xfrm>
            <a:off x="548640" y="2286000"/>
            <a:ext cx="3108960" cy="274320"/>
          </a:xfrm>
          <a:prstGeom prst="rect">
            <a:avLst/>
          </a:prstGeom>
          <a:noFill/>
        </p:spPr>
        <p:txBody>
          <a:bodyPr wrap="square" lIns="0" rIns="0" tIns="0" bIns="0" anchor="t">
            <a:noAutofit/>
          </a:bodyPr>
          <a:lstStyle/>
          <a:p>
            <a:pPr algn="l">
              <a:lnSpc>
                <a:spcPct val="100000"/>
              </a:lnSpc>
              <a:spcAft>
                <a:spcPts val="0"/>
              </a:spcAft>
            </a:pPr>
            <a:r>
              <a:rPr sz="1000" b="0">
                <a:solidFill>
                  <a:srgbClr val="111111"/>
                </a:solidFill>
                <a:latin typeface="Google Sans Flex Medium"/>
              </a:rPr>
              <a:t>Indicative budget, not a current price quote</a:t>
            </a:r>
          </a:p>
        </p:txBody>
      </p:sp>
      <p:cxnSp>
        <p:nvCxnSpPr>
          <p:cNvPr id="133" name="Connector 132"/>
          <p:cNvCxnSpPr/>
          <p:nvPr/>
        </p:nvCxnSpPr>
        <p:spPr>
          <a:xfrm>
            <a:off x="548640" y="2651760"/>
            <a:ext cx="306324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48640" y="2715768"/>
            <a:ext cx="2194560" cy="411480"/>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Gemini 3.6 Flash</a:t>
            </a:r>
          </a:p>
          <a:p>
            <a:pPr algn="l">
              <a:lnSpc>
                <a:spcPct val="100000"/>
              </a:lnSpc>
              <a:spcAft>
                <a:spcPts val="0"/>
              </a:spcAft>
            </a:pPr>
            <a:r>
              <a:rPr sz="800" b="0">
                <a:solidFill>
                  <a:srgbClr val="3C4043"/>
                </a:solidFill>
                <a:latin typeface="Google Sans Flex"/>
              </a:rPr>
              <a:t>~21k in + 5k out tokens</a:t>
            </a:r>
          </a:p>
        </p:txBody>
      </p:sp>
      <p:sp>
        <p:nvSpPr>
          <p:cNvPr id="135" name="TextBox 134"/>
          <p:cNvSpPr txBox="1"/>
          <p:nvPr/>
        </p:nvSpPr>
        <p:spPr>
          <a:xfrm>
            <a:off x="2697480" y="2715768"/>
            <a:ext cx="914400" cy="365760"/>
          </a:xfrm>
          <a:prstGeom prst="rect">
            <a:avLst/>
          </a:prstGeom>
          <a:noFill/>
        </p:spPr>
        <p:txBody>
          <a:bodyPr wrap="square" lIns="0" rIns="0" tIns="0" bIns="0" anchor="ctr">
            <a:noAutofit/>
          </a:bodyPr>
          <a:lstStyle/>
          <a:p>
            <a:pPr algn="r">
              <a:lnSpc>
                <a:spcPct val="100000"/>
              </a:lnSpc>
              <a:spcAft>
                <a:spcPts val="0"/>
              </a:spcAft>
            </a:pPr>
            <a:r>
              <a:rPr sz="1200" b="1">
                <a:solidFill>
                  <a:srgbClr val="111111"/>
                </a:solidFill>
                <a:latin typeface="Google Sans Flex"/>
              </a:rPr>
              <a:t>variable</a:t>
            </a:r>
          </a:p>
        </p:txBody>
      </p:sp>
      <p:cxnSp>
        <p:nvCxnSpPr>
          <p:cNvPr id="136" name="Connector 135"/>
          <p:cNvCxnSpPr/>
          <p:nvPr/>
        </p:nvCxnSpPr>
        <p:spPr>
          <a:xfrm>
            <a:off x="548640" y="3163824"/>
            <a:ext cx="306324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548640" y="3227832"/>
            <a:ext cx="2194560" cy="411480"/>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Cloud Run</a:t>
            </a:r>
          </a:p>
          <a:p>
            <a:pPr algn="l">
              <a:lnSpc>
                <a:spcPct val="100000"/>
              </a:lnSpc>
              <a:spcAft>
                <a:spcPts val="0"/>
              </a:spcAft>
            </a:pPr>
            <a:r>
              <a:rPr sz="800" b="0">
                <a:solidFill>
                  <a:srgbClr val="3C4043"/>
                </a:solidFill>
                <a:latin typeface="Google Sans Flex"/>
              </a:rPr>
              <a:t>runtime varies by site</a:t>
            </a:r>
          </a:p>
        </p:txBody>
      </p:sp>
      <p:sp>
        <p:nvSpPr>
          <p:cNvPr id="138" name="TextBox 137"/>
          <p:cNvSpPr txBox="1"/>
          <p:nvPr/>
        </p:nvSpPr>
        <p:spPr>
          <a:xfrm>
            <a:off x="2697480" y="3227832"/>
            <a:ext cx="914400" cy="365760"/>
          </a:xfrm>
          <a:prstGeom prst="rect">
            <a:avLst/>
          </a:prstGeom>
          <a:noFill/>
        </p:spPr>
        <p:txBody>
          <a:bodyPr wrap="square" lIns="0" rIns="0" tIns="0" bIns="0" anchor="ctr">
            <a:noAutofit/>
          </a:bodyPr>
          <a:lstStyle/>
          <a:p>
            <a:pPr algn="r">
              <a:lnSpc>
                <a:spcPct val="100000"/>
              </a:lnSpc>
              <a:spcAft>
                <a:spcPts val="0"/>
              </a:spcAft>
            </a:pPr>
            <a:r>
              <a:rPr sz="1200" b="1">
                <a:solidFill>
                  <a:srgbClr val="111111"/>
                </a:solidFill>
                <a:latin typeface="Google Sans Flex"/>
              </a:rPr>
              <a:t>variable</a:t>
            </a:r>
          </a:p>
        </p:txBody>
      </p:sp>
      <p:cxnSp>
        <p:nvCxnSpPr>
          <p:cNvPr id="139" name="Connector 138"/>
          <p:cNvCxnSpPr/>
          <p:nvPr/>
        </p:nvCxnSpPr>
        <p:spPr>
          <a:xfrm>
            <a:off x="548640" y="3675887"/>
            <a:ext cx="306324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548640" y="3739896"/>
            <a:ext cx="2194560" cy="411480"/>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Firestore · Storage · BigQuery</a:t>
            </a:r>
          </a:p>
          <a:p>
            <a:pPr algn="l">
              <a:lnSpc>
                <a:spcPct val="100000"/>
              </a:lnSpc>
              <a:spcAft>
                <a:spcPts val="0"/>
              </a:spcAft>
            </a:pPr>
            <a:r>
              <a:rPr sz="800" b="0">
                <a:solidFill>
                  <a:srgbClr val="3C4043"/>
                </a:solidFill>
                <a:latin typeface="Google Sans Flex"/>
              </a:rPr>
              <a:t>events, screenshots, prices</a:t>
            </a:r>
          </a:p>
        </p:txBody>
      </p:sp>
      <p:sp>
        <p:nvSpPr>
          <p:cNvPr id="141" name="TextBox 140"/>
          <p:cNvSpPr txBox="1"/>
          <p:nvPr/>
        </p:nvSpPr>
        <p:spPr>
          <a:xfrm>
            <a:off x="2697480" y="3739896"/>
            <a:ext cx="914400" cy="365760"/>
          </a:xfrm>
          <a:prstGeom prst="rect">
            <a:avLst/>
          </a:prstGeom>
          <a:noFill/>
        </p:spPr>
        <p:txBody>
          <a:bodyPr wrap="square" lIns="0" rIns="0" tIns="0" bIns="0" anchor="ctr">
            <a:noAutofit/>
          </a:bodyPr>
          <a:lstStyle/>
          <a:p>
            <a:pPr algn="r">
              <a:lnSpc>
                <a:spcPct val="100000"/>
              </a:lnSpc>
              <a:spcAft>
                <a:spcPts val="0"/>
              </a:spcAft>
            </a:pPr>
            <a:r>
              <a:rPr sz="1200" b="1">
                <a:solidFill>
                  <a:srgbClr val="111111"/>
                </a:solidFill>
                <a:latin typeface="Google Sans Flex"/>
              </a:rPr>
              <a:t>low volume</a:t>
            </a:r>
          </a:p>
        </p:txBody>
      </p:sp>
      <p:cxnSp>
        <p:nvCxnSpPr>
          <p:cNvPr id="142" name="Connector 141"/>
          <p:cNvCxnSpPr/>
          <p:nvPr/>
        </p:nvCxnSpPr>
        <p:spPr>
          <a:xfrm>
            <a:off x="548640" y="4187952"/>
            <a:ext cx="306324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548640" y="4251960"/>
            <a:ext cx="2194560" cy="411480"/>
          </a:xfrm>
          <a:prstGeom prst="rect">
            <a:avLst/>
          </a:prstGeom>
          <a:noFill/>
        </p:spPr>
        <p:txBody>
          <a:bodyPr wrap="square" lIns="0" rIns="0" tIns="0" bIns="0" anchor="t">
            <a:noAutofit/>
          </a:bodyPr>
          <a:lstStyle/>
          <a:p>
            <a:pPr algn="l">
              <a:lnSpc>
                <a:spcPct val="100000"/>
              </a:lnSpc>
              <a:spcAft>
                <a:spcPts val="0"/>
              </a:spcAft>
            </a:pPr>
            <a:r>
              <a:rPr sz="950" b="1">
                <a:solidFill>
                  <a:srgbClr val="111111"/>
                </a:solidFill>
                <a:latin typeface="Google Sans Flex"/>
              </a:rPr>
              <a:t>Replays ("Scan it")</a:t>
            </a:r>
          </a:p>
          <a:p>
            <a:pPr algn="l">
              <a:lnSpc>
                <a:spcPct val="100000"/>
              </a:lnSpc>
              <a:spcAft>
                <a:spcPts val="0"/>
              </a:spcAft>
            </a:pPr>
            <a:r>
              <a:rPr sz="800" b="0">
                <a:solidFill>
                  <a:srgbClr val="3C4043"/>
                </a:solidFill>
                <a:latin typeface="Google Sans Flex"/>
              </a:rPr>
              <a:t>new model cost, with recorded plans</a:t>
            </a:r>
          </a:p>
        </p:txBody>
      </p:sp>
      <p:sp>
        <p:nvSpPr>
          <p:cNvPr id="144" name="TextBox 143"/>
          <p:cNvSpPr txBox="1"/>
          <p:nvPr/>
        </p:nvSpPr>
        <p:spPr>
          <a:xfrm>
            <a:off x="2697480" y="4251960"/>
            <a:ext cx="914400" cy="365760"/>
          </a:xfrm>
          <a:prstGeom prst="rect">
            <a:avLst/>
          </a:prstGeom>
          <a:noFill/>
        </p:spPr>
        <p:txBody>
          <a:bodyPr wrap="square" lIns="0" rIns="0" tIns="0" bIns="0" anchor="ctr">
            <a:noAutofit/>
          </a:bodyPr>
          <a:lstStyle/>
          <a:p>
            <a:pPr algn="r">
              <a:lnSpc>
                <a:spcPct val="100000"/>
              </a:lnSpc>
              <a:spcAft>
                <a:spcPts val="0"/>
              </a:spcAft>
            </a:pPr>
            <a:r>
              <a:rPr sz="1200" b="1">
                <a:solidFill>
                  <a:srgbClr val="111111"/>
                </a:solidFill>
                <a:latin typeface="Google Sans Flex"/>
              </a:rPr>
              <a:t>₹0</a:t>
            </a:r>
          </a:p>
        </p:txBody>
      </p:sp>
      <p:sp>
        <p:nvSpPr>
          <p:cNvPr id="145" name="TextBox 144"/>
          <p:cNvSpPr txBox="1"/>
          <p:nvPr/>
        </p:nvSpPr>
        <p:spPr>
          <a:xfrm>
            <a:off x="4069079" y="1243584"/>
            <a:ext cx="475488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MONTHLY ESTIMATE  </a:t>
            </a:r>
            <a:r>
              <a:rPr sz="900" b="0">
                <a:solidFill>
                  <a:srgbClr val="5F6368"/>
                </a:solidFill>
                <a:latin typeface="Google Sans Flex"/>
              </a:rPr>
              <a:t>at ₹2 / audit; excludes support and retained storage</a:t>
            </a:r>
          </a:p>
        </p:txBody>
      </p:sp>
      <p:sp>
        <p:nvSpPr>
          <p:cNvPr id="146" name="Rounded Rectangle 145"/>
          <p:cNvSpPr/>
          <p:nvPr/>
        </p:nvSpPr>
        <p:spPr>
          <a:xfrm>
            <a:off x="4105655" y="1572768"/>
            <a:ext cx="1499616" cy="1417320"/>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ounded Rectangle 146"/>
          <p:cNvSpPr/>
          <p:nvPr/>
        </p:nvSpPr>
        <p:spPr>
          <a:xfrm>
            <a:off x="4069079" y="1536192"/>
            <a:ext cx="1499616" cy="1417320"/>
          </a:xfrm>
          <a:prstGeom prst="roundRect">
            <a:avLst>
              <a:gd name="adj" fmla="val 6451"/>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4197095" y="1627632"/>
            <a:ext cx="1271016" cy="457200"/>
          </a:xfrm>
          <a:prstGeom prst="rect">
            <a:avLst/>
          </a:prstGeom>
          <a:noFill/>
        </p:spPr>
        <p:txBody>
          <a:bodyPr wrap="square" lIns="0" rIns="0" tIns="0" bIns="0" anchor="t">
            <a:noAutofit/>
          </a:bodyPr>
          <a:lstStyle/>
          <a:p>
            <a:pPr algn="l">
              <a:lnSpc>
                <a:spcPct val="100000"/>
              </a:lnSpc>
              <a:spcAft>
                <a:spcPts val="0"/>
              </a:spcAft>
            </a:pPr>
            <a:r>
              <a:rPr sz="1500" b="1">
                <a:solidFill>
                  <a:srgbClr val="111111"/>
                </a:solidFill>
                <a:latin typeface="Google Sans Flex"/>
              </a:rPr>
              <a:t>1,000</a:t>
            </a:r>
          </a:p>
          <a:p>
            <a:pPr algn="l">
              <a:lnSpc>
                <a:spcPct val="100000"/>
              </a:lnSpc>
              <a:spcAft>
                <a:spcPts val="0"/>
              </a:spcAft>
            </a:pPr>
            <a:r>
              <a:rPr sz="850" b="0">
                <a:solidFill>
                  <a:srgbClr val="3C4043"/>
                </a:solidFill>
                <a:latin typeface="Google Sans Flex"/>
              </a:rPr>
              <a:t>audits / month</a:t>
            </a:r>
          </a:p>
        </p:txBody>
      </p:sp>
      <p:sp>
        <p:nvSpPr>
          <p:cNvPr id="149" name="TextBox 148"/>
          <p:cNvSpPr txBox="1"/>
          <p:nvPr/>
        </p:nvSpPr>
        <p:spPr>
          <a:xfrm>
            <a:off x="4197095" y="2212848"/>
            <a:ext cx="1271016" cy="384048"/>
          </a:xfrm>
          <a:prstGeom prst="rect">
            <a:avLst/>
          </a:prstGeom>
          <a:noFill/>
        </p:spPr>
        <p:txBody>
          <a:bodyPr wrap="square" lIns="0" rIns="0" tIns="0" bIns="0" anchor="t">
            <a:noAutofit/>
          </a:bodyPr>
          <a:lstStyle/>
          <a:p>
            <a:pPr algn="l">
              <a:lnSpc>
                <a:spcPct val="100000"/>
              </a:lnSpc>
              <a:spcAft>
                <a:spcPts val="0"/>
              </a:spcAft>
            </a:pPr>
            <a:r>
              <a:rPr sz="1900" b="1">
                <a:solidFill>
                  <a:srgbClr val="111111"/>
                </a:solidFill>
                <a:latin typeface="Google Sans Flex"/>
              </a:rPr>
              <a:t>₹2,000</a:t>
            </a:r>
          </a:p>
        </p:txBody>
      </p:sp>
      <p:sp>
        <p:nvSpPr>
          <p:cNvPr id="150" name="TextBox 149"/>
          <p:cNvSpPr txBox="1"/>
          <p:nvPr/>
        </p:nvSpPr>
        <p:spPr>
          <a:xfrm>
            <a:off x="4197095" y="2615184"/>
            <a:ext cx="1271016" cy="274320"/>
          </a:xfrm>
          <a:prstGeom prst="rect">
            <a:avLst/>
          </a:prstGeom>
          <a:noFill/>
        </p:spPr>
        <p:txBody>
          <a:bodyPr wrap="square" lIns="0" rIns="0" tIns="0" bIns="0" anchor="t">
            <a:noAutofit/>
          </a:bodyPr>
          <a:lstStyle/>
          <a:p>
            <a:pPr algn="l">
              <a:lnSpc>
                <a:spcPct val="100000"/>
              </a:lnSpc>
              <a:spcAft>
                <a:spcPts val="0"/>
              </a:spcAft>
            </a:pPr>
            <a:r>
              <a:rPr sz="800" b="0">
                <a:solidFill>
                  <a:srgbClr val="3C4043"/>
                </a:solidFill>
                <a:latin typeface="Google Sans Flex Medium"/>
              </a:rPr>
              <a:t>a pilot with one platform</a:t>
            </a:r>
          </a:p>
        </p:txBody>
      </p:sp>
      <p:sp>
        <p:nvSpPr>
          <p:cNvPr id="151" name="Rounded Rectangle 150"/>
          <p:cNvSpPr/>
          <p:nvPr/>
        </p:nvSpPr>
        <p:spPr>
          <a:xfrm>
            <a:off x="5733287" y="1572768"/>
            <a:ext cx="1499616" cy="1417320"/>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ounded Rectangle 151"/>
          <p:cNvSpPr/>
          <p:nvPr/>
        </p:nvSpPr>
        <p:spPr>
          <a:xfrm>
            <a:off x="5696711" y="1536192"/>
            <a:ext cx="1499616" cy="1417320"/>
          </a:xfrm>
          <a:prstGeom prst="roundRect">
            <a:avLst>
              <a:gd name="adj" fmla="val 6451"/>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Box 152"/>
          <p:cNvSpPr txBox="1"/>
          <p:nvPr/>
        </p:nvSpPr>
        <p:spPr>
          <a:xfrm>
            <a:off x="5824727" y="1627632"/>
            <a:ext cx="1271016" cy="457200"/>
          </a:xfrm>
          <a:prstGeom prst="rect">
            <a:avLst/>
          </a:prstGeom>
          <a:noFill/>
        </p:spPr>
        <p:txBody>
          <a:bodyPr wrap="square" lIns="0" rIns="0" tIns="0" bIns="0" anchor="t">
            <a:noAutofit/>
          </a:bodyPr>
          <a:lstStyle/>
          <a:p>
            <a:pPr algn="l">
              <a:lnSpc>
                <a:spcPct val="100000"/>
              </a:lnSpc>
              <a:spcAft>
                <a:spcPts val="0"/>
              </a:spcAft>
            </a:pPr>
            <a:r>
              <a:rPr sz="1500" b="1">
                <a:solidFill>
                  <a:srgbClr val="111111"/>
                </a:solidFill>
                <a:latin typeface="Google Sans Flex"/>
              </a:rPr>
              <a:t>10,000</a:t>
            </a:r>
          </a:p>
          <a:p>
            <a:pPr algn="l">
              <a:lnSpc>
                <a:spcPct val="100000"/>
              </a:lnSpc>
              <a:spcAft>
                <a:spcPts val="0"/>
              </a:spcAft>
            </a:pPr>
            <a:r>
              <a:rPr sz="850" b="0">
                <a:solidFill>
                  <a:srgbClr val="3C4043"/>
                </a:solidFill>
                <a:latin typeface="Google Sans Flex"/>
              </a:rPr>
              <a:t>audits / month</a:t>
            </a:r>
          </a:p>
        </p:txBody>
      </p:sp>
      <p:sp>
        <p:nvSpPr>
          <p:cNvPr id="154" name="TextBox 153"/>
          <p:cNvSpPr txBox="1"/>
          <p:nvPr/>
        </p:nvSpPr>
        <p:spPr>
          <a:xfrm>
            <a:off x="5824727" y="2212848"/>
            <a:ext cx="1271016" cy="384048"/>
          </a:xfrm>
          <a:prstGeom prst="rect">
            <a:avLst/>
          </a:prstGeom>
          <a:noFill/>
        </p:spPr>
        <p:txBody>
          <a:bodyPr wrap="square" lIns="0" rIns="0" tIns="0" bIns="0" anchor="t">
            <a:noAutofit/>
          </a:bodyPr>
          <a:lstStyle/>
          <a:p>
            <a:pPr algn="l">
              <a:lnSpc>
                <a:spcPct val="100000"/>
              </a:lnSpc>
              <a:spcAft>
                <a:spcPts val="0"/>
              </a:spcAft>
            </a:pPr>
            <a:r>
              <a:rPr sz="1900" b="1">
                <a:solidFill>
                  <a:srgbClr val="111111"/>
                </a:solidFill>
                <a:latin typeface="Google Sans Flex"/>
              </a:rPr>
              <a:t>₹20,000</a:t>
            </a:r>
          </a:p>
        </p:txBody>
      </p:sp>
      <p:sp>
        <p:nvSpPr>
          <p:cNvPr id="155" name="TextBox 154"/>
          <p:cNvSpPr txBox="1"/>
          <p:nvPr/>
        </p:nvSpPr>
        <p:spPr>
          <a:xfrm>
            <a:off x="5824727" y="2615184"/>
            <a:ext cx="1271016" cy="274320"/>
          </a:xfrm>
          <a:prstGeom prst="rect">
            <a:avLst/>
          </a:prstGeom>
          <a:noFill/>
        </p:spPr>
        <p:txBody>
          <a:bodyPr wrap="square" lIns="0" rIns="0" tIns="0" bIns="0" anchor="t">
            <a:noAutofit/>
          </a:bodyPr>
          <a:lstStyle/>
          <a:p>
            <a:pPr algn="l">
              <a:lnSpc>
                <a:spcPct val="100000"/>
              </a:lnSpc>
              <a:spcAft>
                <a:spcPts val="0"/>
              </a:spcAft>
            </a:pPr>
            <a:r>
              <a:rPr sz="800" b="0">
                <a:solidFill>
                  <a:srgbClr val="3C4043"/>
                </a:solidFill>
                <a:latin typeface="Google Sans Flex Medium"/>
              </a:rPr>
              <a:t>daily checks on 300+ products</a:t>
            </a:r>
          </a:p>
        </p:txBody>
      </p:sp>
      <p:sp>
        <p:nvSpPr>
          <p:cNvPr id="156" name="Rounded Rectangle 155"/>
          <p:cNvSpPr/>
          <p:nvPr/>
        </p:nvSpPr>
        <p:spPr>
          <a:xfrm>
            <a:off x="7360919" y="1572768"/>
            <a:ext cx="1499616" cy="1417320"/>
          </a:xfrm>
          <a:prstGeom prst="roundRect">
            <a:avLst>
              <a:gd name="adj" fmla="val 6451"/>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ounded Rectangle 156"/>
          <p:cNvSpPr/>
          <p:nvPr/>
        </p:nvSpPr>
        <p:spPr>
          <a:xfrm>
            <a:off x="7324343" y="1536192"/>
            <a:ext cx="1499616" cy="1417320"/>
          </a:xfrm>
          <a:prstGeom prst="roundRect">
            <a:avLst>
              <a:gd name="adj" fmla="val 6451"/>
            </a:avLst>
          </a:prstGeom>
          <a:solidFill>
            <a:srgbClr val="FF5CA8"/>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7452359" y="1627632"/>
            <a:ext cx="1271016" cy="457200"/>
          </a:xfrm>
          <a:prstGeom prst="rect">
            <a:avLst/>
          </a:prstGeom>
          <a:noFill/>
        </p:spPr>
        <p:txBody>
          <a:bodyPr wrap="square" lIns="0" rIns="0" tIns="0" bIns="0" anchor="t">
            <a:noAutofit/>
          </a:bodyPr>
          <a:lstStyle/>
          <a:p>
            <a:pPr algn="l">
              <a:lnSpc>
                <a:spcPct val="100000"/>
              </a:lnSpc>
              <a:spcAft>
                <a:spcPts val="0"/>
              </a:spcAft>
            </a:pPr>
            <a:r>
              <a:rPr sz="1500" b="1">
                <a:solidFill>
                  <a:srgbClr val="111111"/>
                </a:solidFill>
                <a:latin typeface="Google Sans Flex"/>
              </a:rPr>
              <a:t>1 lakh</a:t>
            </a:r>
          </a:p>
          <a:p>
            <a:pPr algn="l">
              <a:lnSpc>
                <a:spcPct val="100000"/>
              </a:lnSpc>
              <a:spcAft>
                <a:spcPts val="0"/>
              </a:spcAft>
            </a:pPr>
            <a:r>
              <a:rPr sz="850" b="0">
                <a:solidFill>
                  <a:srgbClr val="3C4043"/>
                </a:solidFill>
                <a:latin typeface="Google Sans Flex"/>
              </a:rPr>
              <a:t>audits / month</a:t>
            </a:r>
          </a:p>
        </p:txBody>
      </p:sp>
      <p:sp>
        <p:nvSpPr>
          <p:cNvPr id="159" name="TextBox 158"/>
          <p:cNvSpPr txBox="1"/>
          <p:nvPr/>
        </p:nvSpPr>
        <p:spPr>
          <a:xfrm>
            <a:off x="7452359" y="2212848"/>
            <a:ext cx="1271016" cy="384048"/>
          </a:xfrm>
          <a:prstGeom prst="rect">
            <a:avLst/>
          </a:prstGeom>
          <a:noFill/>
        </p:spPr>
        <p:txBody>
          <a:bodyPr wrap="square" lIns="0" rIns="0" tIns="0" bIns="0" anchor="t">
            <a:noAutofit/>
          </a:bodyPr>
          <a:lstStyle/>
          <a:p>
            <a:pPr algn="l">
              <a:lnSpc>
                <a:spcPct val="100000"/>
              </a:lnSpc>
              <a:spcAft>
                <a:spcPts val="0"/>
              </a:spcAft>
            </a:pPr>
            <a:r>
              <a:rPr sz="1900" b="1">
                <a:solidFill>
                  <a:srgbClr val="111111"/>
                </a:solidFill>
                <a:latin typeface="Google Sans Flex"/>
              </a:rPr>
              <a:t>₹2 lakh</a:t>
            </a:r>
          </a:p>
        </p:txBody>
      </p:sp>
      <p:sp>
        <p:nvSpPr>
          <p:cNvPr id="160" name="TextBox 159"/>
          <p:cNvSpPr txBox="1"/>
          <p:nvPr/>
        </p:nvSpPr>
        <p:spPr>
          <a:xfrm>
            <a:off x="7452359" y="2615184"/>
            <a:ext cx="1271016" cy="274320"/>
          </a:xfrm>
          <a:prstGeom prst="rect">
            <a:avLst/>
          </a:prstGeom>
          <a:noFill/>
        </p:spPr>
        <p:txBody>
          <a:bodyPr wrap="square" lIns="0" rIns="0" tIns="0" bIns="0" anchor="t">
            <a:noAutofit/>
          </a:bodyPr>
          <a:lstStyle/>
          <a:p>
            <a:pPr algn="l">
              <a:lnSpc>
                <a:spcPct val="100000"/>
              </a:lnSpc>
              <a:spcAft>
                <a:spcPts val="0"/>
              </a:spcAft>
            </a:pPr>
            <a:r>
              <a:rPr sz="800" b="0">
                <a:solidFill>
                  <a:srgbClr val="3C4043"/>
                </a:solidFill>
                <a:latin typeface="Google Sans Flex Medium"/>
              </a:rPr>
              <a:t>illustrative scale scenario</a:t>
            </a:r>
          </a:p>
        </p:txBody>
      </p:sp>
      <p:sp>
        <p:nvSpPr>
          <p:cNvPr id="161" name="TextBox 160"/>
          <p:cNvSpPr txBox="1"/>
          <p:nvPr/>
        </p:nvSpPr>
        <p:spPr>
          <a:xfrm>
            <a:off x="4069079" y="3136392"/>
            <a:ext cx="475488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GUARDRAILS  </a:t>
            </a:r>
            <a:r>
              <a:rPr sz="900" b="0">
                <a:solidFill>
                  <a:srgbClr val="5F6368"/>
                </a:solidFill>
                <a:latin typeface="Google Sans Flex"/>
              </a:rPr>
              <a:t>caps and alerts for the public demo</a:t>
            </a:r>
          </a:p>
        </p:txBody>
      </p:sp>
      <p:sp>
        <p:nvSpPr>
          <p:cNvPr id="162" name="Rounded Rectangle 161"/>
          <p:cNvSpPr/>
          <p:nvPr/>
        </p:nvSpPr>
        <p:spPr>
          <a:xfrm>
            <a:off x="4096511" y="34564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ounded Rectangle 162"/>
          <p:cNvSpPr/>
          <p:nvPr/>
        </p:nvSpPr>
        <p:spPr>
          <a:xfrm>
            <a:off x="4069079" y="34290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4" name="Picture 163" descr="l-ban-ink.png"/>
          <p:cNvPicPr>
            <a:picLocks noChangeAspect="1"/>
          </p:cNvPicPr>
          <p:nvPr/>
        </p:nvPicPr>
        <p:blipFill>
          <a:blip r:embed="rId5"/>
          <a:stretch>
            <a:fillRect/>
          </a:stretch>
        </p:blipFill>
        <p:spPr>
          <a:xfrm>
            <a:off x="4160519" y="3502152"/>
            <a:ext cx="219456" cy="219456"/>
          </a:xfrm>
          <a:prstGeom prst="rect">
            <a:avLst/>
          </a:prstGeom>
        </p:spPr>
      </p:pic>
      <p:sp>
        <p:nvSpPr>
          <p:cNvPr id="165" name="TextBox 164"/>
          <p:cNvSpPr txBox="1"/>
          <p:nvPr/>
        </p:nvSpPr>
        <p:spPr>
          <a:xfrm>
            <a:off x="4471416" y="34290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100 live runs a day, site-wide</a:t>
            </a:r>
          </a:p>
        </p:txBody>
      </p:sp>
      <p:sp>
        <p:nvSpPr>
          <p:cNvPr id="166" name="Rounded Rectangle 165"/>
          <p:cNvSpPr/>
          <p:nvPr/>
        </p:nvSpPr>
        <p:spPr>
          <a:xfrm>
            <a:off x="6528816" y="34564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ounded Rectangle 166"/>
          <p:cNvSpPr/>
          <p:nvPr/>
        </p:nvSpPr>
        <p:spPr>
          <a:xfrm>
            <a:off x="6501383" y="34290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8" name="Picture 167" descr="l-coins-ink.png"/>
          <p:cNvPicPr>
            <a:picLocks noChangeAspect="1"/>
          </p:cNvPicPr>
          <p:nvPr/>
        </p:nvPicPr>
        <p:blipFill>
          <a:blip r:embed="rId6"/>
          <a:stretch>
            <a:fillRect/>
          </a:stretch>
        </p:blipFill>
        <p:spPr>
          <a:xfrm>
            <a:off x="6592823" y="3502152"/>
            <a:ext cx="219456" cy="219456"/>
          </a:xfrm>
          <a:prstGeom prst="rect">
            <a:avLst/>
          </a:prstGeom>
        </p:spPr>
      </p:pic>
      <p:sp>
        <p:nvSpPr>
          <p:cNvPr id="169" name="TextBox 168"/>
          <p:cNvSpPr txBox="1"/>
          <p:nvPr/>
        </p:nvSpPr>
        <p:spPr>
          <a:xfrm>
            <a:off x="6903720" y="34290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 400k tokens, 40 calls per audit</a:t>
            </a:r>
          </a:p>
        </p:txBody>
      </p:sp>
      <p:sp>
        <p:nvSpPr>
          <p:cNvPr id="170" name="Rounded Rectangle 169"/>
          <p:cNvSpPr/>
          <p:nvPr/>
        </p:nvSpPr>
        <p:spPr>
          <a:xfrm>
            <a:off x="4096511" y="39136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ounded Rectangle 170"/>
          <p:cNvSpPr/>
          <p:nvPr/>
        </p:nvSpPr>
        <p:spPr>
          <a:xfrm>
            <a:off x="4069079" y="38862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2" name="Picture 171" descr="l-timer-ink.png"/>
          <p:cNvPicPr>
            <a:picLocks noChangeAspect="1"/>
          </p:cNvPicPr>
          <p:nvPr/>
        </p:nvPicPr>
        <p:blipFill>
          <a:blip r:embed="rId7"/>
          <a:stretch>
            <a:fillRect/>
          </a:stretch>
        </p:blipFill>
        <p:spPr>
          <a:xfrm>
            <a:off x="4160519" y="3959352"/>
            <a:ext cx="219456" cy="219456"/>
          </a:xfrm>
          <a:prstGeom prst="rect">
            <a:avLst/>
          </a:prstGeom>
        </p:spPr>
      </p:pic>
      <p:sp>
        <p:nvSpPr>
          <p:cNvPr id="173" name="TextBox 172"/>
          <p:cNvSpPr txBox="1"/>
          <p:nvPr/>
        </p:nvSpPr>
        <p:spPr>
          <a:xfrm>
            <a:off x="4471416" y="38862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6-minute limit per audit</a:t>
            </a:r>
          </a:p>
        </p:txBody>
      </p:sp>
      <p:sp>
        <p:nvSpPr>
          <p:cNvPr id="174" name="Rounded Rectangle 173"/>
          <p:cNvSpPr/>
          <p:nvPr/>
        </p:nvSpPr>
        <p:spPr>
          <a:xfrm>
            <a:off x="6528816" y="39136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ounded Rectangle 174"/>
          <p:cNvSpPr/>
          <p:nvPr/>
        </p:nvSpPr>
        <p:spPr>
          <a:xfrm>
            <a:off x="6501383" y="38862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6" name="Picture 175" descr="l-flag-ink.png"/>
          <p:cNvPicPr>
            <a:picLocks noChangeAspect="1"/>
          </p:cNvPicPr>
          <p:nvPr/>
        </p:nvPicPr>
        <p:blipFill>
          <a:blip r:embed="rId8"/>
          <a:stretch>
            <a:fillRect/>
          </a:stretch>
        </p:blipFill>
        <p:spPr>
          <a:xfrm>
            <a:off x="6592823" y="3959352"/>
            <a:ext cx="219456" cy="219456"/>
          </a:xfrm>
          <a:prstGeom prst="rect">
            <a:avLst/>
          </a:prstGeom>
        </p:spPr>
      </p:pic>
      <p:sp>
        <p:nvSpPr>
          <p:cNvPr id="177" name="TextBox 176"/>
          <p:cNvSpPr txBox="1"/>
          <p:nvPr/>
        </p:nvSpPr>
        <p:spPr>
          <a:xfrm>
            <a:off x="6903720" y="38862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Budget alerts at ₹2,000 / month</a:t>
            </a:r>
          </a:p>
        </p:txBody>
      </p:sp>
      <p:sp>
        <p:nvSpPr>
          <p:cNvPr id="178" name="Rounded Rectangle 177"/>
          <p:cNvSpPr/>
          <p:nvPr/>
        </p:nvSpPr>
        <p:spPr>
          <a:xfrm>
            <a:off x="4096511" y="43708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ounded Rectangle 178"/>
          <p:cNvSpPr/>
          <p:nvPr/>
        </p:nvSpPr>
        <p:spPr>
          <a:xfrm>
            <a:off x="4069079" y="43434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0" name="Picture 179" descr="l-layers-ink.png"/>
          <p:cNvPicPr>
            <a:picLocks noChangeAspect="1"/>
          </p:cNvPicPr>
          <p:nvPr/>
        </p:nvPicPr>
        <p:blipFill>
          <a:blip r:embed="rId9"/>
          <a:stretch>
            <a:fillRect/>
          </a:stretch>
        </p:blipFill>
        <p:spPr>
          <a:xfrm>
            <a:off x="4160519" y="4416552"/>
            <a:ext cx="219456" cy="219456"/>
          </a:xfrm>
          <a:prstGeom prst="rect">
            <a:avLst/>
          </a:prstGeom>
        </p:spPr>
      </p:pic>
      <p:sp>
        <p:nvSpPr>
          <p:cNvPr id="181" name="TextBox 180"/>
          <p:cNvSpPr txBox="1"/>
          <p:nvPr/>
        </p:nvSpPr>
        <p:spPr>
          <a:xfrm>
            <a:off x="4471416" y="43434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Keeps only the 3 newest images</a:t>
            </a:r>
          </a:p>
        </p:txBody>
      </p:sp>
      <p:sp>
        <p:nvSpPr>
          <p:cNvPr id="182" name="Rounded Rectangle 181"/>
          <p:cNvSpPr/>
          <p:nvPr/>
        </p:nvSpPr>
        <p:spPr>
          <a:xfrm>
            <a:off x="6528816" y="4370832"/>
            <a:ext cx="2322576" cy="36576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ounded Rectangle 182"/>
          <p:cNvSpPr/>
          <p:nvPr/>
        </p:nvSpPr>
        <p:spPr>
          <a:xfrm>
            <a:off x="6501383" y="4343400"/>
            <a:ext cx="2322576" cy="365760"/>
          </a:xfrm>
          <a:prstGeom prst="roundRect">
            <a:avLst>
              <a:gd name="adj" fmla="val 2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4" name="Picture 183" descr="l-zap-ink.png"/>
          <p:cNvPicPr>
            <a:picLocks noChangeAspect="1"/>
          </p:cNvPicPr>
          <p:nvPr/>
        </p:nvPicPr>
        <p:blipFill>
          <a:blip r:embed="rId10"/>
          <a:stretch>
            <a:fillRect/>
          </a:stretch>
        </p:blipFill>
        <p:spPr>
          <a:xfrm>
            <a:off x="6592823" y="4416552"/>
            <a:ext cx="219456" cy="219456"/>
          </a:xfrm>
          <a:prstGeom prst="rect">
            <a:avLst/>
          </a:prstGeom>
        </p:spPr>
      </p:pic>
      <p:sp>
        <p:nvSpPr>
          <p:cNvPr id="185" name="TextBox 184"/>
          <p:cNvSpPr txBox="1"/>
          <p:nvPr/>
        </p:nvSpPr>
        <p:spPr>
          <a:xfrm>
            <a:off x="6903720" y="4343400"/>
            <a:ext cx="1865376" cy="365760"/>
          </a:xfrm>
          <a:prstGeom prst="rect">
            <a:avLst/>
          </a:prstGeom>
          <a:noFill/>
        </p:spPr>
        <p:txBody>
          <a:bodyPr wrap="square" lIns="0" rIns="0" tIns="0" bIns="0" anchor="ctr">
            <a:noAutofit/>
          </a:bodyPr>
          <a:lstStyle/>
          <a:p>
            <a:pPr algn="l">
              <a:lnSpc>
                <a:spcPct val="100000"/>
              </a:lnSpc>
              <a:spcAft>
                <a:spcPts val="0"/>
              </a:spcAft>
            </a:pPr>
            <a:r>
              <a:rPr sz="900" b="0">
                <a:solidFill>
                  <a:srgbClr val="111111"/>
                </a:solidFill>
                <a:latin typeface="Google Sans Flex Medium"/>
              </a:rPr>
              <a:t>Scales to zero when idle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Evidence from the prototype</a:t>
            </a:r>
            <a:endParaRPr sz="1600">
              <a:latin typeface="Google Sans Flex Medium"/>
              <a:ea typeface="Google Sans Flex Medium"/>
              <a:cs typeface="Google Sans Flex Medium"/>
              <a:sym typeface="Google Sans Flex Medium"/>
            </a:endParaRPr>
          </a:p>
        </p:txBody>
      </p:sp>
      <p:sp>
        <p:nvSpPr>
          <p:cNvPr id="136" name="Rectangle 135"/>
          <p:cNvSpPr/>
          <p:nvPr/>
        </p:nvSpPr>
        <p:spPr>
          <a:xfrm>
            <a:off x="431122" y="1289304"/>
            <a:ext cx="3984074" cy="1581912"/>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7" name="Picture 136" descr="Verdict: trust score, overcharge, fine risk"/>
          <p:cNvPicPr>
            <a:picLocks noChangeAspect="1"/>
          </p:cNvPicPr>
          <p:nvPr/>
        </p:nvPicPr>
        <p:blipFill>
          <a:blip r:embed="rId5"/>
          <a:stretch>
            <a:fillRect/>
          </a:stretch>
        </p:blipFill>
        <p:spPr>
          <a:xfrm>
            <a:off x="385402" y="1243584"/>
            <a:ext cx="3984074" cy="1581912"/>
          </a:xfrm>
          <a:prstGeom prst="rect">
            <a:avLst/>
          </a:prstGeom>
          <a:ln w="19050">
            <a:solidFill>
              <a:srgbClr val="111111"/>
            </a:solidFill>
          </a:ln>
        </p:spPr>
      </p:pic>
      <p:sp>
        <p:nvSpPr>
          <p:cNvPr id="138" name="Rounded Rectangle 137"/>
          <p:cNvSpPr/>
          <p:nvPr/>
        </p:nvSpPr>
        <p:spPr>
          <a:xfrm>
            <a:off x="312250" y="2642615"/>
            <a:ext cx="2887675" cy="274320"/>
          </a:xfrm>
          <a:prstGeom prst="roundRect">
            <a:avLst>
              <a:gd name="adj" fmla="val 50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50" b="1">
                <a:solidFill>
                  <a:srgbClr val="111111"/>
                </a:solidFill>
                <a:latin typeface="Google Sans Flex"/>
              </a:rPr>
              <a:t>Verdict, bill, evidence and Fix it</a:t>
            </a:r>
          </a:p>
        </p:txBody>
      </p:sp>
      <p:sp>
        <p:nvSpPr>
          <p:cNvPr id="139" name="Rectangle 138"/>
          <p:cNvSpPr/>
          <p:nvPr/>
        </p:nvSpPr>
        <p:spPr>
          <a:xfrm>
            <a:off x="5225181" y="1289304"/>
            <a:ext cx="3174197" cy="1581912"/>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0" name="Picture 139" descr="The bill: ₹1,499 shown, ₹1,894 charged"/>
          <p:cNvPicPr>
            <a:picLocks noChangeAspect="1"/>
          </p:cNvPicPr>
          <p:nvPr/>
        </p:nvPicPr>
        <p:blipFill>
          <a:blip r:embed="rId6"/>
          <a:stretch>
            <a:fillRect/>
          </a:stretch>
        </p:blipFill>
        <p:spPr>
          <a:xfrm>
            <a:off x="5179461" y="1243584"/>
            <a:ext cx="3174197" cy="1581912"/>
          </a:xfrm>
          <a:prstGeom prst="rect">
            <a:avLst/>
          </a:prstGeom>
          <a:ln w="19050">
            <a:solidFill>
              <a:srgbClr val="111111"/>
            </a:solidFill>
          </a:ln>
        </p:spPr>
      </p:pic>
      <p:sp>
        <p:nvSpPr>
          <p:cNvPr id="141" name="Rounded Rectangle 140"/>
          <p:cNvSpPr/>
          <p:nvPr/>
        </p:nvSpPr>
        <p:spPr>
          <a:xfrm>
            <a:off x="5106309" y="2642615"/>
            <a:ext cx="2585923" cy="274320"/>
          </a:xfrm>
          <a:prstGeom prst="roundRect">
            <a:avLst>
              <a:gd name="adj" fmla="val 50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50" b="1">
                <a:solidFill>
                  <a:srgbClr val="111111"/>
                </a:solidFill>
                <a:latin typeface="Google Sans Flex"/>
              </a:rPr>
              <a:t>The bill: ₹1,499 shown, ₹1,894 charged</a:t>
            </a:r>
          </a:p>
        </p:txBody>
      </p:sp>
      <p:sp>
        <p:nvSpPr>
          <p:cNvPr id="142" name="Rectangle 141"/>
          <p:cNvSpPr/>
          <p:nvPr/>
        </p:nvSpPr>
        <p:spPr>
          <a:xfrm>
            <a:off x="988893" y="3099815"/>
            <a:ext cx="2868533" cy="1581912"/>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3" name="Picture 142" descr="Evidence: the countdown restarts on reload"/>
          <p:cNvPicPr>
            <a:picLocks noChangeAspect="1"/>
          </p:cNvPicPr>
          <p:nvPr/>
        </p:nvPicPr>
        <p:blipFill>
          <a:blip r:embed="rId7"/>
          <a:stretch>
            <a:fillRect/>
          </a:stretch>
        </p:blipFill>
        <p:spPr>
          <a:xfrm>
            <a:off x="943173" y="3054096"/>
            <a:ext cx="2868533" cy="1581912"/>
          </a:xfrm>
          <a:prstGeom prst="rect">
            <a:avLst/>
          </a:prstGeom>
          <a:ln w="19050">
            <a:solidFill>
              <a:srgbClr val="111111"/>
            </a:solidFill>
          </a:ln>
        </p:spPr>
      </p:pic>
      <p:sp>
        <p:nvSpPr>
          <p:cNvPr id="144" name="Rounded Rectangle 143"/>
          <p:cNvSpPr/>
          <p:nvPr/>
        </p:nvSpPr>
        <p:spPr>
          <a:xfrm>
            <a:off x="870021" y="4453128"/>
            <a:ext cx="2827324" cy="274320"/>
          </a:xfrm>
          <a:prstGeom prst="roundRect">
            <a:avLst>
              <a:gd name="adj" fmla="val 50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50" b="1">
                <a:solidFill>
                  <a:srgbClr val="111111"/>
                </a:solidFill>
                <a:latin typeface="Google Sans Flex"/>
              </a:rPr>
              <a:t>Evidence: the countdown restarts on reload</a:t>
            </a:r>
          </a:p>
        </p:txBody>
      </p:sp>
      <p:sp>
        <p:nvSpPr>
          <p:cNvPr id="145" name="Rectangle 144"/>
          <p:cNvSpPr/>
          <p:nvPr/>
        </p:nvSpPr>
        <p:spPr>
          <a:xfrm>
            <a:off x="5024867" y="3099815"/>
            <a:ext cx="3574825" cy="1581912"/>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6" name="Picture 145" descr="A real pharmacy, logged out: 2 claims for review"/>
          <p:cNvPicPr>
            <a:picLocks noChangeAspect="1"/>
          </p:cNvPicPr>
          <p:nvPr/>
        </p:nvPicPr>
        <p:blipFill>
          <a:blip r:embed="rId8"/>
          <a:stretch>
            <a:fillRect/>
          </a:stretch>
        </p:blipFill>
        <p:spPr>
          <a:xfrm>
            <a:off x="4979147" y="3054096"/>
            <a:ext cx="3574825" cy="1581912"/>
          </a:xfrm>
          <a:prstGeom prst="rect">
            <a:avLst/>
          </a:prstGeom>
          <a:ln w="19050">
            <a:solidFill>
              <a:srgbClr val="111111"/>
            </a:solidFill>
          </a:ln>
        </p:spPr>
      </p:pic>
      <p:sp>
        <p:nvSpPr>
          <p:cNvPr id="147" name="Rounded Rectangle 146"/>
          <p:cNvSpPr/>
          <p:nvPr/>
        </p:nvSpPr>
        <p:spPr>
          <a:xfrm>
            <a:off x="4905995" y="4453128"/>
            <a:ext cx="2827324" cy="274320"/>
          </a:xfrm>
          <a:prstGeom prst="roundRect">
            <a:avLst>
              <a:gd name="adj" fmla="val 50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50" b="1">
                <a:solidFill>
                  <a:srgbClr val="111111"/>
                </a:solidFill>
                <a:latin typeface="Google Sans Flex"/>
              </a:rPr>
              <a:t>1mg: 2 claims for review · live site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Results and benchmarks</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320040" y="1216152"/>
            <a:ext cx="271272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PLANTED TRICKS  </a:t>
            </a:r>
            <a:r>
              <a:rPr sz="900" b="0">
                <a:solidFill>
                  <a:srgbClr val="5F6368"/>
                </a:solidFill>
                <a:latin typeface="Google Sans Flex"/>
              </a:rPr>
              <a:t>3 live runs per store, 15–16 Oct</a:t>
            </a:r>
          </a:p>
        </p:txBody>
      </p:sp>
      <p:sp>
        <p:nvSpPr>
          <p:cNvPr id="145" name="Rounded Rectangle 144"/>
          <p:cNvSpPr/>
          <p:nvPr/>
        </p:nvSpPr>
        <p:spPr>
          <a:xfrm>
            <a:off x="356615" y="1517904"/>
            <a:ext cx="2712720" cy="877824"/>
          </a:xfrm>
          <a:prstGeom prst="roundRect">
            <a:avLst>
              <a:gd name="adj" fmla="val 1041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ounded Rectangle 145"/>
          <p:cNvSpPr/>
          <p:nvPr/>
        </p:nvSpPr>
        <p:spPr>
          <a:xfrm>
            <a:off x="320040" y="1481328"/>
            <a:ext cx="2712720" cy="877824"/>
          </a:xfrm>
          <a:prstGeom prst="roundRect">
            <a:avLst>
              <a:gd name="adj" fmla="val 10416"/>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Box 146"/>
          <p:cNvSpPr txBox="1"/>
          <p:nvPr/>
        </p:nvSpPr>
        <p:spPr>
          <a:xfrm>
            <a:off x="457200" y="1481328"/>
            <a:ext cx="960120" cy="877824"/>
          </a:xfrm>
          <a:prstGeom prst="rect">
            <a:avLst/>
          </a:prstGeom>
          <a:noFill/>
        </p:spPr>
        <p:txBody>
          <a:bodyPr wrap="square" lIns="0" rIns="0" tIns="0" bIns="0" anchor="ctr">
            <a:noAutofit/>
          </a:bodyPr>
          <a:lstStyle/>
          <a:p>
            <a:pPr algn="l">
              <a:lnSpc>
                <a:spcPct val="100000"/>
              </a:lnSpc>
              <a:spcAft>
                <a:spcPts val="0"/>
              </a:spcAft>
            </a:pPr>
            <a:r>
              <a:rPr sz="2600" b="1">
                <a:solidFill>
                  <a:srgbClr val="111111"/>
                </a:solidFill>
                <a:latin typeface="Google Sans Flex"/>
              </a:rPr>
              <a:t>9/9</a:t>
            </a:r>
          </a:p>
        </p:txBody>
      </p:sp>
      <p:sp>
        <p:nvSpPr>
          <p:cNvPr id="148" name="TextBox 147"/>
          <p:cNvSpPr txBox="1"/>
          <p:nvPr/>
        </p:nvSpPr>
        <p:spPr>
          <a:xfrm>
            <a:off x="1417319" y="1609344"/>
            <a:ext cx="1524000" cy="65836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tricks caught · Store A</a:t>
            </a:r>
          </a:p>
          <a:p>
            <a:pPr algn="l">
              <a:lnSpc>
                <a:spcPct val="100000"/>
              </a:lnSpc>
              <a:spcAft>
                <a:spcPts val="0"/>
              </a:spcAft>
            </a:pPr>
            <a:r>
              <a:rPr sz="850" b="0">
                <a:solidFill>
                  <a:srgbClr val="3C4043"/>
                </a:solidFill>
                <a:latin typeface="Google Sans Flex"/>
              </a:rPr>
              <a:t>the borderline claim went to human review</a:t>
            </a:r>
          </a:p>
        </p:txBody>
      </p:sp>
      <p:sp>
        <p:nvSpPr>
          <p:cNvPr id="149" name="Rounded Rectangle 148"/>
          <p:cNvSpPr/>
          <p:nvPr/>
        </p:nvSpPr>
        <p:spPr>
          <a:xfrm>
            <a:off x="356615" y="2523744"/>
            <a:ext cx="2712720" cy="877824"/>
          </a:xfrm>
          <a:prstGeom prst="roundRect">
            <a:avLst>
              <a:gd name="adj" fmla="val 1041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ounded Rectangle 149"/>
          <p:cNvSpPr/>
          <p:nvPr/>
        </p:nvSpPr>
        <p:spPr>
          <a:xfrm>
            <a:off x="320040" y="2487168"/>
            <a:ext cx="2712720" cy="877824"/>
          </a:xfrm>
          <a:prstGeom prst="roundRect">
            <a:avLst>
              <a:gd name="adj" fmla="val 10416"/>
            </a:avLst>
          </a:prstGeom>
          <a:solidFill>
            <a:srgbClr val="4ADE9A"/>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457200" y="2487168"/>
            <a:ext cx="960120" cy="877824"/>
          </a:xfrm>
          <a:prstGeom prst="rect">
            <a:avLst/>
          </a:prstGeom>
          <a:noFill/>
        </p:spPr>
        <p:txBody>
          <a:bodyPr wrap="square" lIns="0" rIns="0" tIns="0" bIns="0" anchor="ctr">
            <a:noAutofit/>
          </a:bodyPr>
          <a:lstStyle/>
          <a:p>
            <a:pPr algn="l">
              <a:lnSpc>
                <a:spcPct val="100000"/>
              </a:lnSpc>
              <a:spcAft>
                <a:spcPts val="0"/>
              </a:spcAft>
            </a:pPr>
            <a:r>
              <a:rPr sz="2600" b="1">
                <a:solidFill>
                  <a:srgbClr val="111111"/>
                </a:solidFill>
                <a:latin typeface="Google Sans Flex"/>
              </a:rPr>
              <a:t>0</a:t>
            </a:r>
          </a:p>
        </p:txBody>
      </p:sp>
      <p:sp>
        <p:nvSpPr>
          <p:cNvPr id="152" name="TextBox 151"/>
          <p:cNvSpPr txBox="1"/>
          <p:nvPr/>
        </p:nvSpPr>
        <p:spPr>
          <a:xfrm>
            <a:off x="1417319" y="2615184"/>
            <a:ext cx="1524000" cy="65836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false alarms · Store B</a:t>
            </a:r>
          </a:p>
          <a:p>
            <a:pPr algn="l">
              <a:lnSpc>
                <a:spcPct val="100000"/>
              </a:lnSpc>
              <a:spcAft>
                <a:spcPts val="0"/>
              </a:spcAft>
            </a:pPr>
            <a:r>
              <a:rPr sz="850" b="0">
                <a:solidFill>
                  <a:srgbClr val="3C4043"/>
                </a:solidFill>
                <a:latin typeface="Google Sans Flex"/>
              </a:rPr>
              <a:t>the honest control store</a:t>
            </a:r>
          </a:p>
        </p:txBody>
      </p:sp>
      <p:sp>
        <p:nvSpPr>
          <p:cNvPr id="153" name="Rounded Rectangle 152"/>
          <p:cNvSpPr/>
          <p:nvPr/>
        </p:nvSpPr>
        <p:spPr>
          <a:xfrm>
            <a:off x="356615" y="3529584"/>
            <a:ext cx="2712720" cy="877824"/>
          </a:xfrm>
          <a:prstGeom prst="roundRect">
            <a:avLst>
              <a:gd name="adj" fmla="val 10416"/>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ounded Rectangle 153"/>
          <p:cNvSpPr/>
          <p:nvPr/>
        </p:nvSpPr>
        <p:spPr>
          <a:xfrm>
            <a:off x="320040" y="3493008"/>
            <a:ext cx="2712720" cy="877824"/>
          </a:xfrm>
          <a:prstGeom prst="roundRect">
            <a:avLst>
              <a:gd name="adj" fmla="val 10416"/>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Box 154"/>
          <p:cNvSpPr txBox="1"/>
          <p:nvPr/>
        </p:nvSpPr>
        <p:spPr>
          <a:xfrm>
            <a:off x="457200" y="3493008"/>
            <a:ext cx="960120" cy="877824"/>
          </a:xfrm>
          <a:prstGeom prst="rect">
            <a:avLst/>
          </a:prstGeom>
          <a:noFill/>
        </p:spPr>
        <p:txBody>
          <a:bodyPr wrap="square" lIns="0" rIns="0" tIns="0" bIns="0" anchor="ctr">
            <a:noAutofit/>
          </a:bodyPr>
          <a:lstStyle/>
          <a:p>
            <a:pPr algn="l">
              <a:lnSpc>
                <a:spcPct val="100000"/>
              </a:lnSpc>
              <a:spcAft>
                <a:spcPts val="0"/>
              </a:spcAft>
            </a:pPr>
            <a:r>
              <a:rPr sz="2600" b="1">
                <a:solidFill>
                  <a:srgbClr val="111111"/>
                </a:solidFill>
                <a:latin typeface="Google Sans Flex"/>
              </a:rPr>
              <a:t>6/6</a:t>
            </a:r>
          </a:p>
        </p:txBody>
      </p:sp>
      <p:sp>
        <p:nvSpPr>
          <p:cNvPr id="156" name="TextBox 155"/>
          <p:cNvSpPr txBox="1"/>
          <p:nvPr/>
        </p:nvSpPr>
        <p:spPr>
          <a:xfrm>
            <a:off x="1417319" y="3621024"/>
            <a:ext cx="1524000" cy="65836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caught before the wall · Store C</a:t>
            </a:r>
          </a:p>
          <a:p>
            <a:pPr algn="l">
              <a:lnSpc>
                <a:spcPct val="100000"/>
              </a:lnSpc>
              <a:spcAft>
                <a:spcPts val="0"/>
              </a:spcAft>
            </a:pPr>
            <a:r>
              <a:rPr sz="850" b="0">
                <a:solidFill>
                  <a:srgbClr val="3C4043"/>
                </a:solidFill>
                <a:latin typeface="Google Sans Flex"/>
              </a:rPr>
              <a:t>then stops honestly at sign-in</a:t>
            </a:r>
          </a:p>
        </p:txBody>
      </p:sp>
      <p:sp>
        <p:nvSpPr>
          <p:cNvPr id="157" name="TextBox 156"/>
          <p:cNvSpPr txBox="1"/>
          <p:nvPr/>
        </p:nvSpPr>
        <p:spPr>
          <a:xfrm>
            <a:off x="3215640" y="1216152"/>
            <a:ext cx="271272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PUBLIC DATASET  </a:t>
            </a:r>
            <a:r>
              <a:rPr sz="900" b="0">
                <a:solidFill>
                  <a:srgbClr val="5F6368"/>
                </a:solidFill>
                <a:latin typeface="Google Sans Flex"/>
              </a:rPr>
              <a:t>2,356 texts; F1 scale 0–1</a:t>
            </a:r>
          </a:p>
        </p:txBody>
      </p:sp>
      <p:sp>
        <p:nvSpPr>
          <p:cNvPr id="158" name="Rounded Rectangle 157"/>
          <p:cNvSpPr/>
          <p:nvPr/>
        </p:nvSpPr>
        <p:spPr>
          <a:xfrm>
            <a:off x="3252216" y="1517904"/>
            <a:ext cx="2712720" cy="2798064"/>
          </a:xfrm>
          <a:prstGeom prst="roundRect">
            <a:avLst>
              <a:gd name="adj" fmla="val 337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ounded Rectangle 158"/>
          <p:cNvSpPr/>
          <p:nvPr/>
        </p:nvSpPr>
        <p:spPr>
          <a:xfrm>
            <a:off x="3215640" y="1481328"/>
            <a:ext cx="2712720" cy="2798064"/>
          </a:xfrm>
          <a:prstGeom prst="roundRect">
            <a:avLst>
              <a:gd name="adj" fmla="val 3370"/>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60" name="Chart 159"/>
          <p:cNvGraphicFramePr>
            <a:graphicFrameLocks noGrp="1"/>
          </p:cNvGraphicFramePr>
          <p:nvPr/>
        </p:nvGraphicFramePr>
        <p:xfrm>
          <a:off x="3261360" y="1554480"/>
          <a:ext cx="2602992" cy="1508760"/>
        </p:xfrm>
        <a:graphic>
          <a:graphicData uri="http://schemas.openxmlformats.org/drawingml/2006/chart">
            <c:chart r:id="rId5"/>
          </a:graphicData>
        </a:graphic>
      </p:graphicFrame>
      <p:sp>
        <p:nvSpPr>
          <p:cNvPr id="161" name="TextBox 160"/>
          <p:cNvSpPr txBox="1"/>
          <p:nvPr/>
        </p:nvSpPr>
        <p:spPr>
          <a:xfrm>
            <a:off x="3352800" y="3090672"/>
            <a:ext cx="2438400" cy="1143000"/>
          </a:xfrm>
          <a:prstGeom prst="rect">
            <a:avLst/>
          </a:prstGeom>
          <a:noFill/>
        </p:spPr>
        <p:txBody>
          <a:bodyPr wrap="square" lIns="0" rIns="0" tIns="0" bIns="0" anchor="t">
            <a:noAutofit/>
          </a:bodyPr>
          <a:lstStyle/>
          <a:p>
            <a:pPr algn="l">
              <a:lnSpc>
                <a:spcPct val="100000"/>
              </a:lnSpc>
              <a:spcAft>
                <a:spcPts val="0"/>
              </a:spcAft>
            </a:pPr>
            <a:r>
              <a:rPr sz="2000" b="1">
                <a:solidFill>
                  <a:srgbClr val="FF5CA8"/>
                </a:solidFill>
                <a:latin typeface="Google Sans Flex"/>
              </a:rPr>
              <a:t>0.997</a:t>
            </a:r>
            <a:r>
              <a:rPr sz="1000" b="0">
                <a:solidFill>
                  <a:srgbClr val="111111"/>
                </a:solidFill>
                <a:latin typeface="Google Sans Flex SemiBold"/>
              </a:rPr>
              <a:t>  precision</a:t>
            </a:r>
          </a:p>
          <a:p>
            <a:pPr algn="l">
              <a:lnSpc>
                <a:spcPct val="100000"/>
              </a:lnSpc>
              <a:spcAft>
                <a:spcPts val="0"/>
              </a:spcAft>
            </a:pPr>
            <a:r>
              <a:rPr sz="850" b="0">
                <a:solidFill>
                  <a:srgbClr val="5F6368"/>
                </a:solidFill>
                <a:latin typeface="Google Sans Flex"/>
              </a:rPr>
              <a:t>3 false alarms, 89 misses. No task-specific training or examples. Published baselines use a different evaluation setup.</a:t>
            </a:r>
          </a:p>
        </p:txBody>
      </p:sp>
      <p:sp>
        <p:nvSpPr>
          <p:cNvPr id="162" name="TextBox 161"/>
          <p:cNvSpPr txBox="1"/>
          <p:nvPr/>
        </p:nvSpPr>
        <p:spPr>
          <a:xfrm>
            <a:off x="6111240" y="1216152"/>
            <a:ext cx="2712720" cy="228600"/>
          </a:xfrm>
          <a:prstGeom prst="rect">
            <a:avLst/>
          </a:prstGeom>
          <a:noFill/>
        </p:spPr>
        <p:txBody>
          <a:bodyPr wrap="square" lIns="0" rIns="0" tIns="0" bIns="0" anchor="t">
            <a:noAutofit/>
          </a:bodyPr>
          <a:lstStyle/>
          <a:p>
            <a:pPr algn="l">
              <a:lnSpc>
                <a:spcPct val="100000"/>
              </a:lnSpc>
              <a:spcAft>
                <a:spcPts val="0"/>
              </a:spcAft>
            </a:pPr>
            <a:r>
              <a:rPr sz="900" b="0">
                <a:solidFill>
                  <a:srgbClr val="111111"/>
                </a:solidFill>
                <a:latin typeface="Google Sans Flex SemiBold"/>
              </a:rPr>
              <a:t>EVERY LAYER COUNTS  </a:t>
            </a:r>
            <a:r>
              <a:rPr sz="900" b="0">
                <a:solidFill>
                  <a:srgbClr val="5F6368"/>
                </a:solidFill>
                <a:latin typeface="Google Sans Flex"/>
              </a:rPr>
              <a:t>Store A recall</a:t>
            </a:r>
          </a:p>
        </p:txBody>
      </p:sp>
      <p:sp>
        <p:nvSpPr>
          <p:cNvPr id="163" name="Rounded Rectangle 162"/>
          <p:cNvSpPr/>
          <p:nvPr/>
        </p:nvSpPr>
        <p:spPr>
          <a:xfrm>
            <a:off x="6147816" y="1517904"/>
            <a:ext cx="2712720" cy="2798064"/>
          </a:xfrm>
          <a:prstGeom prst="roundRect">
            <a:avLst>
              <a:gd name="adj" fmla="val 337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ounded Rectangle 163"/>
          <p:cNvSpPr/>
          <p:nvPr/>
        </p:nvSpPr>
        <p:spPr>
          <a:xfrm>
            <a:off x="6111240" y="1481328"/>
            <a:ext cx="2712720" cy="2798064"/>
          </a:xfrm>
          <a:prstGeom prst="roundRect">
            <a:avLst>
              <a:gd name="adj" fmla="val 3370"/>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65" name="Chart 164"/>
          <p:cNvGraphicFramePr>
            <a:graphicFrameLocks noGrp="1"/>
          </p:cNvGraphicFramePr>
          <p:nvPr/>
        </p:nvGraphicFramePr>
        <p:xfrm>
          <a:off x="6156960" y="1554480"/>
          <a:ext cx="2602992" cy="1508760"/>
        </p:xfrm>
        <a:graphic>
          <a:graphicData uri="http://schemas.openxmlformats.org/drawingml/2006/chart">
            <c:chart r:id="rId6"/>
          </a:graphicData>
        </a:graphic>
      </p:graphicFrame>
      <p:sp>
        <p:nvSpPr>
          <p:cNvPr id="166" name="TextBox 165"/>
          <p:cNvSpPr txBox="1"/>
          <p:nvPr/>
        </p:nvSpPr>
        <p:spPr>
          <a:xfrm>
            <a:off x="6248400" y="3090672"/>
            <a:ext cx="2438400" cy="1143000"/>
          </a:xfrm>
          <a:prstGeom prst="rect">
            <a:avLst/>
          </a:prstGeom>
          <a:noFill/>
        </p:spPr>
        <p:txBody>
          <a:bodyPr wrap="square" lIns="0" rIns="0" tIns="0" bIns="0" anchor="t">
            <a:noAutofit/>
          </a:bodyPr>
          <a:lstStyle/>
          <a:p>
            <a:pPr algn="l">
              <a:lnSpc>
                <a:spcPct val="100000"/>
              </a:lnSpc>
              <a:spcAft>
                <a:spcPts val="0"/>
              </a:spcAft>
            </a:pPr>
            <a:r>
              <a:rPr sz="2000" b="1">
                <a:solidFill>
                  <a:srgbClr val="111111"/>
                </a:solidFill>
                <a:latin typeface="Google Sans Flex"/>
              </a:rPr>
              <a:t>27–69 s</a:t>
            </a:r>
            <a:r>
              <a:rPr sz="1000" b="0">
                <a:solidFill>
                  <a:srgbClr val="111111"/>
                </a:solidFill>
                <a:latin typeface="Google Sans Flex SemiBold"/>
              </a:rPr>
              <a:t>  Store A, 3 runs</a:t>
            </a:r>
          </a:p>
          <a:p>
            <a:pPr algn="l">
              <a:lnSpc>
                <a:spcPct val="100000"/>
              </a:lnSpc>
              <a:spcAft>
                <a:spcPts val="0"/>
              </a:spcAft>
            </a:pPr>
            <a:r>
              <a:rPr sz="850" b="0">
                <a:solidFill>
                  <a:srgbClr val="5F6368"/>
                </a:solidFill>
                <a:latin typeface="Google Sans Flex"/>
              </a:rPr>
              <a:t>All 9 planted patterns matched in each run. Extra findings are tracked separately. Real-site accuracy is not established.</a:t>
            </a:r>
          </a:p>
        </p:txBody>
      </p:sp>
      <p:sp>
        <p:nvSpPr>
          <p:cNvPr id="167" name="Rounded Rectangle 166"/>
          <p:cNvSpPr/>
          <p:nvPr/>
        </p:nvSpPr>
        <p:spPr>
          <a:xfrm>
            <a:off x="320040" y="4425696"/>
            <a:ext cx="8503920" cy="384048"/>
          </a:xfrm>
          <a:prstGeom prst="roundRect">
            <a:avLst>
              <a:gd name="adj" fmla="val 23809"/>
            </a:avLst>
          </a:prstGeom>
          <a:solidFill>
            <a:srgbClr val="111111"/>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Box 167"/>
          <p:cNvSpPr txBox="1"/>
          <p:nvPr/>
        </p:nvSpPr>
        <p:spPr>
          <a:xfrm>
            <a:off x="502920" y="4425696"/>
            <a:ext cx="8138160" cy="384048"/>
          </a:xfrm>
          <a:prstGeom prst="rect">
            <a:avLst/>
          </a:prstGeom>
          <a:noFill/>
        </p:spPr>
        <p:txBody>
          <a:bodyPr wrap="square" lIns="0" rIns="0" tIns="0" bIns="0" anchor="ctr">
            <a:noAutofit/>
          </a:bodyPr>
          <a:lstStyle/>
          <a:p>
            <a:pPr algn="ctr">
              <a:lnSpc>
                <a:spcPct val="100000"/>
              </a:lnSpc>
              <a:spcAft>
                <a:spcPts val="0"/>
              </a:spcAft>
            </a:pPr>
            <a:r>
              <a:rPr sz="950" b="1">
                <a:solidFill>
                  <a:srgbClr val="C6F432"/>
                </a:solidFill>
                <a:latin typeface="Google Sans Flex"/>
              </a:rPr>
              <a:t>Also tested:  </a:t>
            </a:r>
            <a:r>
              <a:rPr sz="950" b="0">
                <a:solidFill>
                  <a:srgbClr val="FFFFFF"/>
                </a:solidFill>
                <a:latin typeface="Google Sans Flex"/>
              </a:rPr>
              <a:t>214 backend + 49 web passed (8 skipped) · 9 selected fixes verified · pre-flight 6/6 on 16 Oct</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Next: a pilot inside a platform</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365759" y="1325880"/>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ounded Rectangle 152"/>
          <p:cNvSpPr/>
          <p:nvPr/>
        </p:nvSpPr>
        <p:spPr>
          <a:xfrm>
            <a:off x="320040" y="1280160"/>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ounded Rectangle 153"/>
          <p:cNvSpPr/>
          <p:nvPr/>
        </p:nvSpPr>
        <p:spPr>
          <a:xfrm>
            <a:off x="493776" y="14630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ounded Rectangle 154"/>
          <p:cNvSpPr/>
          <p:nvPr/>
        </p:nvSpPr>
        <p:spPr>
          <a:xfrm>
            <a:off x="466344" y="1435607"/>
            <a:ext cx="475488" cy="475488"/>
          </a:xfrm>
          <a:prstGeom prst="roundRect">
            <a:avLst>
              <a:gd name="adj" fmla="val 24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6" name="Picture 155" descr="l-list-checks-ink.png"/>
          <p:cNvPicPr>
            <a:picLocks noChangeAspect="1"/>
          </p:cNvPicPr>
          <p:nvPr/>
        </p:nvPicPr>
        <p:blipFill>
          <a:blip r:embed="rId5"/>
          <a:stretch>
            <a:fillRect/>
          </a:stretch>
        </p:blipFill>
        <p:spPr>
          <a:xfrm>
            <a:off x="561441" y="1530705"/>
            <a:ext cx="285292" cy="285292"/>
          </a:xfrm>
          <a:prstGeom prst="rect">
            <a:avLst/>
          </a:prstGeom>
        </p:spPr>
      </p:pic>
      <p:sp>
        <p:nvSpPr>
          <p:cNvPr id="157" name="Rounded Rectangle 156"/>
          <p:cNvSpPr/>
          <p:nvPr/>
        </p:nvSpPr>
        <p:spPr>
          <a:xfrm>
            <a:off x="2331720" y="1463039"/>
            <a:ext cx="566928" cy="219456"/>
          </a:xfrm>
          <a:prstGeom prst="roundRect">
            <a:avLst>
              <a:gd name="adj" fmla="val 50000"/>
            </a:avLst>
          </a:prstGeom>
          <a:solidFill>
            <a:srgbClr val="111111"/>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FFFFFF"/>
                </a:solidFill>
                <a:latin typeface="Google Sans Flex"/>
              </a:rPr>
              <a:t>NEXT</a:t>
            </a:r>
          </a:p>
        </p:txBody>
      </p:sp>
      <p:sp>
        <p:nvSpPr>
          <p:cNvPr id="158" name="TextBox 157"/>
          <p:cNvSpPr txBox="1"/>
          <p:nvPr/>
        </p:nvSpPr>
        <p:spPr>
          <a:xfrm>
            <a:off x="466344" y="2029967"/>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Pilot with a platform</a:t>
            </a:r>
          </a:p>
        </p:txBody>
      </p:sp>
      <p:sp>
        <p:nvSpPr>
          <p:cNvPr id="159" name="TextBox 158"/>
          <p:cNvSpPr txBox="1"/>
          <p:nvPr/>
        </p:nvSpPr>
        <p:spPr>
          <a:xfrm>
            <a:off x="466344" y="2322576"/>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Audit selected journeys in staging, confirm findings with the team, then measure fixes.</a:t>
            </a:r>
          </a:p>
        </p:txBody>
      </p:sp>
      <p:sp>
        <p:nvSpPr>
          <p:cNvPr id="160" name="Rounded Rectangle 159"/>
          <p:cNvSpPr/>
          <p:nvPr/>
        </p:nvSpPr>
        <p:spPr>
          <a:xfrm>
            <a:off x="3255264" y="1325880"/>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ounded Rectangle 160"/>
          <p:cNvSpPr/>
          <p:nvPr/>
        </p:nvSpPr>
        <p:spPr>
          <a:xfrm>
            <a:off x="3209544" y="1280160"/>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ounded Rectangle 161"/>
          <p:cNvSpPr/>
          <p:nvPr/>
        </p:nvSpPr>
        <p:spPr>
          <a:xfrm>
            <a:off x="3383280" y="14630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ounded Rectangle 162"/>
          <p:cNvSpPr/>
          <p:nvPr/>
        </p:nvSpPr>
        <p:spPr>
          <a:xfrm>
            <a:off x="3355848" y="1435607"/>
            <a:ext cx="475488" cy="475488"/>
          </a:xfrm>
          <a:prstGeom prst="roundRect">
            <a:avLst>
              <a:gd name="adj" fmla="val 24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4" name="Picture 163" descr="l-log-in-ink.png"/>
          <p:cNvPicPr>
            <a:picLocks noChangeAspect="1"/>
          </p:cNvPicPr>
          <p:nvPr/>
        </p:nvPicPr>
        <p:blipFill>
          <a:blip r:embed="rId6"/>
          <a:stretch>
            <a:fillRect/>
          </a:stretch>
        </p:blipFill>
        <p:spPr>
          <a:xfrm>
            <a:off x="3450945" y="1530705"/>
            <a:ext cx="285292" cy="285292"/>
          </a:xfrm>
          <a:prstGeom prst="rect">
            <a:avLst/>
          </a:prstGeom>
        </p:spPr>
      </p:pic>
      <p:sp>
        <p:nvSpPr>
          <p:cNvPr id="165" name="Rounded Rectangle 164"/>
          <p:cNvSpPr/>
          <p:nvPr/>
        </p:nvSpPr>
        <p:spPr>
          <a:xfrm>
            <a:off x="5221224" y="1463039"/>
            <a:ext cx="566928" cy="219456"/>
          </a:xfrm>
          <a:prstGeom prst="roundRect">
            <a:avLst>
              <a:gd name="adj" fmla="val 50000"/>
            </a:avLst>
          </a:prstGeom>
          <a:solidFill>
            <a:srgbClr val="111111"/>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FFFFFF"/>
                </a:solidFill>
                <a:latin typeface="Google Sans Flex"/>
              </a:rPr>
              <a:t>NEXT</a:t>
            </a:r>
          </a:p>
        </p:txBody>
      </p:sp>
      <p:sp>
        <p:nvSpPr>
          <p:cNvPr id="166" name="TextBox 165"/>
          <p:cNvSpPr txBox="1"/>
          <p:nvPr/>
        </p:nvSpPr>
        <p:spPr>
          <a:xfrm>
            <a:off x="3355848" y="2029967"/>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Logged-in journeys</a:t>
            </a:r>
          </a:p>
        </p:txBody>
      </p:sp>
      <p:sp>
        <p:nvSpPr>
          <p:cNvPr id="167" name="TextBox 166"/>
          <p:cNvSpPr txBox="1"/>
          <p:nvPr/>
        </p:nvSpPr>
        <p:spPr>
          <a:xfrm>
            <a:off x="3355848" y="2322576"/>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Platform-authorized test accounts to reach checkout, with credentials in Secret Manager.</a:t>
            </a:r>
          </a:p>
        </p:txBody>
      </p:sp>
      <p:sp>
        <p:nvSpPr>
          <p:cNvPr id="168" name="Rounded Rectangle 167"/>
          <p:cNvSpPr/>
          <p:nvPr/>
        </p:nvSpPr>
        <p:spPr>
          <a:xfrm>
            <a:off x="6144768" y="1325880"/>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ounded Rectangle 168"/>
          <p:cNvSpPr/>
          <p:nvPr/>
        </p:nvSpPr>
        <p:spPr>
          <a:xfrm>
            <a:off x="6099048" y="1280160"/>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ounded Rectangle 169"/>
          <p:cNvSpPr/>
          <p:nvPr/>
        </p:nvSpPr>
        <p:spPr>
          <a:xfrm>
            <a:off x="6272784" y="14630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ounded Rectangle 170"/>
          <p:cNvSpPr/>
          <p:nvPr/>
        </p:nvSpPr>
        <p:spPr>
          <a:xfrm>
            <a:off x="6245352" y="1435607"/>
            <a:ext cx="475488" cy="475488"/>
          </a:xfrm>
          <a:prstGeom prst="roundRect">
            <a:avLst>
              <a:gd name="adj" fmla="val 24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2" name="Picture 171" descr="l-calendar-clock-ink.png"/>
          <p:cNvPicPr>
            <a:picLocks noChangeAspect="1"/>
          </p:cNvPicPr>
          <p:nvPr/>
        </p:nvPicPr>
        <p:blipFill>
          <a:blip r:embed="rId7"/>
          <a:stretch>
            <a:fillRect/>
          </a:stretch>
        </p:blipFill>
        <p:spPr>
          <a:xfrm>
            <a:off x="6340449" y="1530705"/>
            <a:ext cx="285292" cy="285292"/>
          </a:xfrm>
          <a:prstGeom prst="rect">
            <a:avLst/>
          </a:prstGeom>
        </p:spPr>
      </p:pic>
      <p:sp>
        <p:nvSpPr>
          <p:cNvPr id="173" name="Rounded Rectangle 172"/>
          <p:cNvSpPr/>
          <p:nvPr/>
        </p:nvSpPr>
        <p:spPr>
          <a:xfrm>
            <a:off x="8110728" y="1463039"/>
            <a:ext cx="566928" cy="219456"/>
          </a:xfrm>
          <a:prstGeom prst="roundRect">
            <a:avLst>
              <a:gd name="adj" fmla="val 50000"/>
            </a:avLst>
          </a:prstGeom>
          <a:solidFill>
            <a:srgbClr val="111111"/>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FFFFFF"/>
                </a:solidFill>
                <a:latin typeface="Google Sans Flex"/>
              </a:rPr>
              <a:t>NEXT</a:t>
            </a:r>
          </a:p>
        </p:txBody>
      </p:sp>
      <p:sp>
        <p:nvSpPr>
          <p:cNvPr id="174" name="TextBox 173"/>
          <p:cNvSpPr txBox="1"/>
          <p:nvPr/>
        </p:nvSpPr>
        <p:spPr>
          <a:xfrm>
            <a:off x="6245352" y="2029967"/>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Scheduled monitoring</a:t>
            </a:r>
          </a:p>
        </p:txBody>
      </p:sp>
      <p:sp>
        <p:nvSpPr>
          <p:cNvPr id="175" name="TextBox 174"/>
          <p:cNvSpPr txBox="1"/>
          <p:nvPr/>
        </p:nvSpPr>
        <p:spPr>
          <a:xfrm>
            <a:off x="6245352" y="2322576"/>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Nightly re-audits and a CI gate for confirmed regressions, with human review.</a:t>
            </a:r>
          </a:p>
        </p:txBody>
      </p:sp>
      <p:sp>
        <p:nvSpPr>
          <p:cNvPr id="176" name="Rounded Rectangle 175"/>
          <p:cNvSpPr/>
          <p:nvPr/>
        </p:nvSpPr>
        <p:spPr>
          <a:xfrm>
            <a:off x="365759" y="3136391"/>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ounded Rectangle 176"/>
          <p:cNvSpPr/>
          <p:nvPr/>
        </p:nvSpPr>
        <p:spPr>
          <a:xfrm>
            <a:off x="320040" y="3090672"/>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ounded Rectangle 177"/>
          <p:cNvSpPr/>
          <p:nvPr/>
        </p:nvSpPr>
        <p:spPr>
          <a:xfrm>
            <a:off x="493776" y="32735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ounded Rectangle 178"/>
          <p:cNvSpPr/>
          <p:nvPr/>
        </p:nvSpPr>
        <p:spPr>
          <a:xfrm>
            <a:off x="466344" y="3246120"/>
            <a:ext cx="475488" cy="475488"/>
          </a:xfrm>
          <a:prstGeom prst="roundRect">
            <a:avLst>
              <a:gd name="adj" fmla="val 24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0" name="Picture 179" descr="l-puzzle-ink.png"/>
          <p:cNvPicPr>
            <a:picLocks noChangeAspect="1"/>
          </p:cNvPicPr>
          <p:nvPr/>
        </p:nvPicPr>
        <p:blipFill>
          <a:blip r:embed="rId8"/>
          <a:stretch>
            <a:fillRect/>
          </a:stretch>
        </p:blipFill>
        <p:spPr>
          <a:xfrm>
            <a:off x="561441" y="3341217"/>
            <a:ext cx="285292" cy="285292"/>
          </a:xfrm>
          <a:prstGeom prst="rect">
            <a:avLst/>
          </a:prstGeom>
        </p:spPr>
      </p:pic>
      <p:sp>
        <p:nvSpPr>
          <p:cNvPr id="181" name="Rounded Rectangle 180"/>
          <p:cNvSpPr/>
          <p:nvPr/>
        </p:nvSpPr>
        <p:spPr>
          <a:xfrm>
            <a:off x="2331720" y="3273552"/>
            <a:ext cx="566928" cy="219456"/>
          </a:xfrm>
          <a:prstGeom prst="roundRect">
            <a:avLst>
              <a:gd name="adj" fmla="val 5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111111"/>
                </a:solidFill>
                <a:latin typeface="Google Sans Flex"/>
              </a:rPr>
              <a:t>LATER</a:t>
            </a:r>
          </a:p>
        </p:txBody>
      </p:sp>
      <p:sp>
        <p:nvSpPr>
          <p:cNvPr id="182" name="TextBox 181"/>
          <p:cNvSpPr txBox="1"/>
          <p:nvPr/>
        </p:nvSpPr>
        <p:spPr>
          <a:xfrm>
            <a:off x="466344" y="3840480"/>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Shopper extension</a:t>
            </a:r>
          </a:p>
        </p:txBody>
      </p:sp>
      <p:sp>
        <p:nvSpPr>
          <p:cNvPr id="183" name="TextBox 182"/>
          <p:cNvSpPr txBox="1"/>
          <p:nvPr/>
        </p:nvSpPr>
        <p:spPr>
          <a:xfrm>
            <a:off x="466344" y="4133087"/>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A browser extension that flags tricks while you shop, with the real price.</a:t>
            </a:r>
          </a:p>
        </p:txBody>
      </p:sp>
      <p:sp>
        <p:nvSpPr>
          <p:cNvPr id="184" name="Rounded Rectangle 183"/>
          <p:cNvSpPr/>
          <p:nvPr/>
        </p:nvSpPr>
        <p:spPr>
          <a:xfrm>
            <a:off x="3255264" y="3136391"/>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ounded Rectangle 184"/>
          <p:cNvSpPr/>
          <p:nvPr/>
        </p:nvSpPr>
        <p:spPr>
          <a:xfrm>
            <a:off x="3209544" y="3090672"/>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ounded Rectangle 185"/>
          <p:cNvSpPr/>
          <p:nvPr/>
        </p:nvSpPr>
        <p:spPr>
          <a:xfrm>
            <a:off x="3383280" y="32735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ounded Rectangle 186"/>
          <p:cNvSpPr/>
          <p:nvPr/>
        </p:nvSpPr>
        <p:spPr>
          <a:xfrm>
            <a:off x="3355848" y="3246120"/>
            <a:ext cx="475488" cy="475488"/>
          </a:xfrm>
          <a:prstGeom prst="roundRect">
            <a:avLst>
              <a:gd name="adj" fmla="val 24000"/>
            </a:avLst>
          </a:prstGeom>
          <a:solidFill>
            <a:srgbClr val="4ADE9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8" name="Picture 187" descr="l-layout-dashboard-ink.png"/>
          <p:cNvPicPr>
            <a:picLocks noChangeAspect="1"/>
          </p:cNvPicPr>
          <p:nvPr/>
        </p:nvPicPr>
        <p:blipFill>
          <a:blip r:embed="rId9"/>
          <a:stretch>
            <a:fillRect/>
          </a:stretch>
        </p:blipFill>
        <p:spPr>
          <a:xfrm>
            <a:off x="3450945" y="3341217"/>
            <a:ext cx="285292" cy="285292"/>
          </a:xfrm>
          <a:prstGeom prst="rect">
            <a:avLst/>
          </a:prstGeom>
        </p:spPr>
      </p:pic>
      <p:sp>
        <p:nvSpPr>
          <p:cNvPr id="189" name="Rounded Rectangle 188"/>
          <p:cNvSpPr/>
          <p:nvPr/>
        </p:nvSpPr>
        <p:spPr>
          <a:xfrm>
            <a:off x="5221224" y="3273552"/>
            <a:ext cx="566928" cy="219456"/>
          </a:xfrm>
          <a:prstGeom prst="roundRect">
            <a:avLst>
              <a:gd name="adj" fmla="val 5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111111"/>
                </a:solidFill>
                <a:latin typeface="Google Sans Flex"/>
              </a:rPr>
              <a:t>LATER</a:t>
            </a:r>
          </a:p>
        </p:txBody>
      </p:sp>
      <p:sp>
        <p:nvSpPr>
          <p:cNvPr id="190" name="TextBox 189"/>
          <p:cNvSpPr txBox="1"/>
          <p:nvPr/>
        </p:nvSpPr>
        <p:spPr>
          <a:xfrm>
            <a:off x="3355848" y="3840480"/>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Regulator dashboard</a:t>
            </a:r>
          </a:p>
        </p:txBody>
      </p:sp>
      <p:sp>
        <p:nvSpPr>
          <p:cNvPr id="191" name="TextBox 190"/>
          <p:cNvSpPr txBox="1"/>
          <p:nvPr/>
        </p:nvSpPr>
        <p:spPr>
          <a:xfrm>
            <a:off x="3355848" y="4133087"/>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BigQuery + Looker Studio trends across platforms, ready for CCPA filings.</a:t>
            </a:r>
          </a:p>
        </p:txBody>
      </p:sp>
      <p:sp>
        <p:nvSpPr>
          <p:cNvPr id="192" name="Rounded Rectangle 191"/>
          <p:cNvSpPr/>
          <p:nvPr/>
        </p:nvSpPr>
        <p:spPr>
          <a:xfrm>
            <a:off x="6144768" y="3136391"/>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3" name="Rounded Rectangle 192"/>
          <p:cNvSpPr/>
          <p:nvPr/>
        </p:nvSpPr>
        <p:spPr>
          <a:xfrm>
            <a:off x="6099048" y="3090672"/>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Rounded Rectangle 193"/>
          <p:cNvSpPr/>
          <p:nvPr/>
        </p:nvSpPr>
        <p:spPr>
          <a:xfrm>
            <a:off x="6272784" y="32735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Rounded Rectangle 194"/>
          <p:cNvSpPr/>
          <p:nvPr/>
        </p:nvSpPr>
        <p:spPr>
          <a:xfrm>
            <a:off x="6245352" y="3246120"/>
            <a:ext cx="475488" cy="475488"/>
          </a:xfrm>
          <a:prstGeom prst="roundRect">
            <a:avLst>
              <a:gd name="adj" fmla="val 24000"/>
            </a:avLst>
          </a:prstGeom>
          <a:solidFill>
            <a:srgbClr val="FFB38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6" name="Picture 195" descr="l-languages-ink.png"/>
          <p:cNvPicPr>
            <a:picLocks noChangeAspect="1"/>
          </p:cNvPicPr>
          <p:nvPr/>
        </p:nvPicPr>
        <p:blipFill>
          <a:blip r:embed="rId10"/>
          <a:stretch>
            <a:fillRect/>
          </a:stretch>
        </p:blipFill>
        <p:spPr>
          <a:xfrm>
            <a:off x="6340449" y="3341217"/>
            <a:ext cx="285292" cy="285292"/>
          </a:xfrm>
          <a:prstGeom prst="rect">
            <a:avLst/>
          </a:prstGeom>
        </p:spPr>
      </p:pic>
      <p:sp>
        <p:nvSpPr>
          <p:cNvPr id="197" name="Rounded Rectangle 196"/>
          <p:cNvSpPr/>
          <p:nvPr/>
        </p:nvSpPr>
        <p:spPr>
          <a:xfrm>
            <a:off x="8110728" y="3273552"/>
            <a:ext cx="566928" cy="219456"/>
          </a:xfrm>
          <a:prstGeom prst="roundRect">
            <a:avLst>
              <a:gd name="adj" fmla="val 5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111111"/>
                </a:solidFill>
                <a:latin typeface="Google Sans Flex"/>
              </a:rPr>
              <a:t>LATER</a:t>
            </a:r>
          </a:p>
        </p:txBody>
      </p:sp>
      <p:sp>
        <p:nvSpPr>
          <p:cNvPr id="198" name="TextBox 197"/>
          <p:cNvSpPr txBox="1"/>
          <p:nvPr/>
        </p:nvSpPr>
        <p:spPr>
          <a:xfrm>
            <a:off x="6245352" y="3840480"/>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Apps &amp; Indian languages</a:t>
            </a:r>
          </a:p>
        </p:txBody>
      </p:sp>
      <p:sp>
        <p:nvSpPr>
          <p:cNvPr id="199" name="TextBox 198"/>
          <p:cNvSpPr txBox="1"/>
          <p:nvPr/>
        </p:nvSpPr>
        <p:spPr>
          <a:xfrm>
            <a:off x="6245352" y="4133087"/>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Mobile app journeys, and pages in Hindi and other Indian languages.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Try Shop Honest</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365759" y="1344168"/>
            <a:ext cx="2682240" cy="3474720"/>
          </a:xfrm>
          <a:prstGeom prst="roundRect">
            <a:avLst>
              <a:gd name="adj" fmla="val 4772"/>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ounded Rectangle 160"/>
          <p:cNvSpPr/>
          <p:nvPr/>
        </p:nvSpPr>
        <p:spPr>
          <a:xfrm>
            <a:off x="320040" y="1298448"/>
            <a:ext cx="2682240" cy="3474720"/>
          </a:xfrm>
          <a:prstGeom prst="roundRect">
            <a:avLst>
              <a:gd name="adj" fmla="val 4772"/>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ounded Rectangle 161"/>
          <p:cNvSpPr/>
          <p:nvPr/>
        </p:nvSpPr>
        <p:spPr>
          <a:xfrm>
            <a:off x="320040" y="1298448"/>
            <a:ext cx="2682240" cy="685800"/>
          </a:xfrm>
          <a:prstGeom prst="roundRect">
            <a:avLst>
              <a:gd name="adj" fmla="val 18666"/>
            </a:avLst>
          </a:prstGeom>
          <a:solidFill>
            <a:srgbClr val="C4B5FD"/>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329184" y="1737360"/>
            <a:ext cx="2663952" cy="246888"/>
          </a:xfrm>
          <a:prstGeom prst="rect">
            <a:avLst/>
          </a:prstGeom>
          <a:solidFill>
            <a:srgbClr val="C4B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4" name="Connector 163"/>
          <p:cNvCxnSpPr/>
          <p:nvPr/>
        </p:nvCxnSpPr>
        <p:spPr>
          <a:xfrm>
            <a:off x="320040" y="1984248"/>
            <a:ext cx="268224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pic>
        <p:nvPicPr>
          <p:cNvPr id="165" name="Picture 164" descr="s-github.png"/>
          <p:cNvPicPr>
            <a:picLocks noChangeAspect="1"/>
          </p:cNvPicPr>
          <p:nvPr/>
        </p:nvPicPr>
        <p:blipFill>
          <a:blip r:embed="rId5"/>
          <a:stretch>
            <a:fillRect/>
          </a:stretch>
        </p:blipFill>
        <p:spPr>
          <a:xfrm>
            <a:off x="484632" y="1463040"/>
            <a:ext cx="365760" cy="365760"/>
          </a:xfrm>
          <a:prstGeom prst="rect">
            <a:avLst/>
          </a:prstGeom>
        </p:spPr>
      </p:pic>
      <p:sp>
        <p:nvSpPr>
          <p:cNvPr id="166" name="TextBox 165"/>
          <p:cNvSpPr txBox="1"/>
          <p:nvPr/>
        </p:nvSpPr>
        <p:spPr>
          <a:xfrm>
            <a:off x="960119" y="1298448"/>
            <a:ext cx="1950720" cy="685800"/>
          </a:xfrm>
          <a:prstGeom prst="rect">
            <a:avLst/>
          </a:prstGeom>
          <a:noFill/>
        </p:spPr>
        <p:txBody>
          <a:bodyPr wrap="square" lIns="0" rIns="0" tIns="0" bIns="0" anchor="ctr">
            <a:noAutofit/>
          </a:bodyPr>
          <a:lstStyle/>
          <a:p>
            <a:pPr algn="l">
              <a:lnSpc>
                <a:spcPct val="100000"/>
              </a:lnSpc>
              <a:spcAft>
                <a:spcPts val="0"/>
              </a:spcAft>
            </a:pPr>
            <a:r>
              <a:rPr sz="1100" b="1">
                <a:solidFill>
                  <a:srgbClr val="111111"/>
                </a:solidFill>
                <a:latin typeface="Google Sans Flex"/>
              </a:rPr>
              <a:t>GitHub Public Repository</a:t>
            </a:r>
          </a:p>
        </p:txBody>
      </p:sp>
      <p:pic>
        <p:nvPicPr>
          <p:cNvPr id="167" name="Picture 166" descr="QR code for https://github.com/saubhagyaashish/shop-honest"/>
          <p:cNvPicPr>
            <a:picLocks noChangeAspect="1"/>
          </p:cNvPicPr>
          <p:nvPr/>
        </p:nvPicPr>
        <p:blipFill>
          <a:blip r:embed="rId6"/>
          <a:stretch>
            <a:fillRect/>
          </a:stretch>
        </p:blipFill>
        <p:spPr>
          <a:xfrm>
            <a:off x="883920" y="2176272"/>
            <a:ext cx="1554480" cy="1554480"/>
          </a:xfrm>
          <a:prstGeom prst="rect">
            <a:avLst/>
          </a:prstGeom>
        </p:spPr>
      </p:pic>
      <p:sp>
        <p:nvSpPr>
          <p:cNvPr id="168" name="TextBox 167"/>
          <p:cNvSpPr txBox="1"/>
          <p:nvPr/>
        </p:nvSpPr>
        <p:spPr>
          <a:xfrm>
            <a:off x="429768" y="3840480"/>
            <a:ext cx="2462784" cy="411480"/>
          </a:xfrm>
          <a:prstGeom prst="rect">
            <a:avLst/>
          </a:prstGeom>
          <a:noFill/>
        </p:spPr>
        <p:txBody>
          <a:bodyPr wrap="square" lIns="0" rIns="0" tIns="0" bIns="0" anchor="ctr">
            <a:noAutofit/>
          </a:bodyPr>
          <a:lstStyle/>
          <a:p>
            <a:pPr algn="ctr">
              <a:lnSpc>
                <a:spcPct val="100000"/>
              </a:lnSpc>
              <a:spcAft>
                <a:spcPts val="0"/>
              </a:spcAft>
            </a:pPr>
            <a:r>
              <a:rPr sz="1000" b="0">
                <a:solidFill>
                  <a:srgbClr val="3B5BFF"/>
                </a:solidFill>
                <a:latin typeface="Google Sans Flex SemiBold"/>
                <a:hlinkClick r:id="rId7"/>
              </a:rPr>
              <a:t>github.com/saubhagyaashish/</a:t>
            </a:r>
          </a:p>
          <a:p>
            <a:pPr algn="ctr">
              <a:lnSpc>
                <a:spcPct val="100000"/>
              </a:lnSpc>
              <a:spcAft>
                <a:spcPts val="0"/>
              </a:spcAft>
            </a:pPr>
            <a:r>
              <a:rPr sz="1000" b="0">
                <a:solidFill>
                  <a:srgbClr val="3B5BFF"/>
                </a:solidFill>
                <a:latin typeface="Google Sans Flex SemiBold"/>
                <a:hlinkClick r:id="rId7"/>
              </a:rPr>
              <a:t>shop-honest</a:t>
            </a:r>
          </a:p>
        </p:txBody>
      </p:sp>
      <p:sp>
        <p:nvSpPr>
          <p:cNvPr id="169" name="TextBox 168"/>
          <p:cNvSpPr txBox="1"/>
          <p:nvPr/>
        </p:nvSpPr>
        <p:spPr>
          <a:xfrm>
            <a:off x="429768" y="4297680"/>
            <a:ext cx="2462784" cy="274320"/>
          </a:xfrm>
          <a:prstGeom prst="rect">
            <a:avLst/>
          </a:prstGeom>
          <a:noFill/>
        </p:spPr>
        <p:txBody>
          <a:bodyPr wrap="square" lIns="0" rIns="0" tIns="0" bIns="0" anchor="t">
            <a:noAutofit/>
          </a:bodyPr>
          <a:lstStyle/>
          <a:p>
            <a:pPr algn="ctr">
              <a:lnSpc>
                <a:spcPct val="100000"/>
              </a:lnSpc>
              <a:spcAft>
                <a:spcPts val="0"/>
              </a:spcAft>
            </a:pPr>
            <a:r>
              <a:rPr sz="900" b="0">
                <a:solidFill>
                  <a:srgbClr val="5F6368"/>
                </a:solidFill>
                <a:latin typeface="Google Sans Flex Medium"/>
              </a:rPr>
              <a:t>Code, docs, design decisions and evals</a:t>
            </a:r>
          </a:p>
        </p:txBody>
      </p:sp>
      <p:sp>
        <p:nvSpPr>
          <p:cNvPr id="170" name="Rounded Rectangle 169"/>
          <p:cNvSpPr/>
          <p:nvPr/>
        </p:nvSpPr>
        <p:spPr>
          <a:xfrm>
            <a:off x="3276600" y="1344168"/>
            <a:ext cx="2682240" cy="3474720"/>
          </a:xfrm>
          <a:prstGeom prst="roundRect">
            <a:avLst>
              <a:gd name="adj" fmla="val 4772"/>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ounded Rectangle 170"/>
          <p:cNvSpPr/>
          <p:nvPr/>
        </p:nvSpPr>
        <p:spPr>
          <a:xfrm>
            <a:off x="3230880" y="1298448"/>
            <a:ext cx="2682240" cy="3474720"/>
          </a:xfrm>
          <a:prstGeom prst="roundRect">
            <a:avLst>
              <a:gd name="adj" fmla="val 4772"/>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ounded Rectangle 171"/>
          <p:cNvSpPr/>
          <p:nvPr/>
        </p:nvSpPr>
        <p:spPr>
          <a:xfrm>
            <a:off x="3230880" y="1298448"/>
            <a:ext cx="2682240" cy="685800"/>
          </a:xfrm>
          <a:prstGeom prst="roundRect">
            <a:avLst>
              <a:gd name="adj" fmla="val 18666"/>
            </a:avLst>
          </a:prstGeom>
          <a:solidFill>
            <a:srgbClr val="FFD23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3240024" y="1737360"/>
            <a:ext cx="2663952" cy="246888"/>
          </a:xfrm>
          <a:prstGeom prst="rect">
            <a:avLst/>
          </a:prstGeom>
          <a:solidFill>
            <a:srgbClr val="FFD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74" name="Connector 173"/>
          <p:cNvCxnSpPr/>
          <p:nvPr/>
        </p:nvCxnSpPr>
        <p:spPr>
          <a:xfrm>
            <a:off x="3230880" y="1984248"/>
            <a:ext cx="268224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pic>
        <p:nvPicPr>
          <p:cNvPr id="175" name="Picture 174" descr="s-youtube.png"/>
          <p:cNvPicPr>
            <a:picLocks noChangeAspect="1"/>
          </p:cNvPicPr>
          <p:nvPr/>
        </p:nvPicPr>
        <p:blipFill>
          <a:blip r:embed="rId8"/>
          <a:stretch>
            <a:fillRect/>
          </a:stretch>
        </p:blipFill>
        <p:spPr>
          <a:xfrm>
            <a:off x="3395472" y="1463040"/>
            <a:ext cx="365760" cy="365760"/>
          </a:xfrm>
          <a:prstGeom prst="rect">
            <a:avLst/>
          </a:prstGeom>
        </p:spPr>
      </p:pic>
      <p:sp>
        <p:nvSpPr>
          <p:cNvPr id="176" name="TextBox 175"/>
          <p:cNvSpPr txBox="1"/>
          <p:nvPr/>
        </p:nvSpPr>
        <p:spPr>
          <a:xfrm>
            <a:off x="3870960" y="1298448"/>
            <a:ext cx="1950720" cy="685800"/>
          </a:xfrm>
          <a:prstGeom prst="rect">
            <a:avLst/>
          </a:prstGeom>
          <a:noFill/>
        </p:spPr>
        <p:txBody>
          <a:bodyPr wrap="square" lIns="0" rIns="0" tIns="0" bIns="0" anchor="ctr">
            <a:noAutofit/>
          </a:bodyPr>
          <a:lstStyle/>
          <a:p>
            <a:pPr algn="l">
              <a:lnSpc>
                <a:spcPct val="100000"/>
              </a:lnSpc>
              <a:spcAft>
                <a:spcPts val="0"/>
              </a:spcAft>
            </a:pPr>
            <a:r>
              <a:rPr sz="1100" b="1">
                <a:solidFill>
                  <a:srgbClr val="111111"/>
                </a:solidFill>
                <a:latin typeface="Google Sans Flex"/>
              </a:rPr>
              <a:t>3-minute demo video</a:t>
            </a:r>
          </a:p>
        </p:txBody>
      </p:sp>
      <p:sp>
        <p:nvSpPr>
          <p:cNvPr id="177" name="Rounded Rectangle 176"/>
          <p:cNvSpPr/>
          <p:nvPr/>
        </p:nvSpPr>
        <p:spPr>
          <a:xfrm>
            <a:off x="3794760" y="2176272"/>
            <a:ext cx="1554480" cy="1554480"/>
          </a:xfrm>
          <a:prstGeom prst="roundRect">
            <a:avLst>
              <a:gd name="adj" fmla="val 5882"/>
            </a:avLst>
          </a:prstGeom>
          <a:solidFill>
            <a:srgbClr val="FFF8EC"/>
          </a:solidFill>
          <a:ln w="15875">
            <a:solidFill>
              <a:srgbClr val="9AA0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8" name="Picture 177" descr="l-play-ink.png"/>
          <p:cNvPicPr>
            <a:picLocks noChangeAspect="1"/>
          </p:cNvPicPr>
          <p:nvPr/>
        </p:nvPicPr>
        <p:blipFill>
          <a:blip r:embed="rId9"/>
          <a:stretch>
            <a:fillRect/>
          </a:stretch>
        </p:blipFill>
        <p:spPr>
          <a:xfrm>
            <a:off x="4297680" y="2679192"/>
            <a:ext cx="548640" cy="548640"/>
          </a:xfrm>
          <a:prstGeom prst="rect">
            <a:avLst/>
          </a:prstGeom>
        </p:spPr>
      </p:pic>
      <p:sp>
        <p:nvSpPr>
          <p:cNvPr id="179" name="TextBox 178"/>
          <p:cNvSpPr txBox="1"/>
          <p:nvPr/>
        </p:nvSpPr>
        <p:spPr>
          <a:xfrm>
            <a:off x="3340608" y="3840480"/>
            <a:ext cx="2462784" cy="411480"/>
          </a:xfrm>
          <a:prstGeom prst="rect">
            <a:avLst/>
          </a:prstGeom>
          <a:noFill/>
        </p:spPr>
        <p:txBody>
          <a:bodyPr wrap="square" lIns="0" rIns="0" tIns="0" bIns="0" anchor="ctr">
            <a:noAutofit/>
          </a:bodyPr>
          <a:lstStyle/>
          <a:p>
            <a:pPr algn="ctr">
              <a:lnSpc>
                <a:spcPct val="100000"/>
              </a:lnSpc>
              <a:spcAft>
                <a:spcPts val="0"/>
              </a:spcAft>
            </a:pPr>
            <a:r>
              <a:rPr sz="1000" b="0">
                <a:solidFill>
                  <a:srgbClr val="5F6368"/>
                </a:solidFill>
                <a:latin typeface="Google Sans Flex SemiBold"/>
              </a:rPr>
              <a:t>Video link pending</a:t>
            </a:r>
          </a:p>
        </p:txBody>
      </p:sp>
      <p:sp>
        <p:nvSpPr>
          <p:cNvPr id="180" name="TextBox 179"/>
          <p:cNvSpPr txBox="1"/>
          <p:nvPr/>
        </p:nvSpPr>
        <p:spPr>
          <a:xfrm>
            <a:off x="3340608" y="4297680"/>
            <a:ext cx="2462784" cy="274320"/>
          </a:xfrm>
          <a:prstGeom prst="rect">
            <a:avLst/>
          </a:prstGeom>
          <a:noFill/>
        </p:spPr>
        <p:txBody>
          <a:bodyPr wrap="square" lIns="0" rIns="0" tIns="0" bIns="0" anchor="t">
            <a:noAutofit/>
          </a:bodyPr>
          <a:lstStyle/>
          <a:p>
            <a:pPr algn="ctr">
              <a:lnSpc>
                <a:spcPct val="100000"/>
              </a:lnSpc>
              <a:spcAft>
                <a:spcPts val="0"/>
              </a:spcAft>
            </a:pPr>
            <a:r>
              <a:rPr sz="900" b="0">
                <a:solidFill>
                  <a:srgbClr val="5F6368"/>
                </a:solidFill>
                <a:latin typeface="Google Sans Flex Medium"/>
              </a:rPr>
              <a:t>A 3-minute walkthrough</a:t>
            </a:r>
          </a:p>
        </p:txBody>
      </p:sp>
      <p:sp>
        <p:nvSpPr>
          <p:cNvPr id="181" name="Rounded Rectangle 180"/>
          <p:cNvSpPr/>
          <p:nvPr/>
        </p:nvSpPr>
        <p:spPr>
          <a:xfrm>
            <a:off x="6187440" y="1344168"/>
            <a:ext cx="2682240" cy="3474720"/>
          </a:xfrm>
          <a:prstGeom prst="roundRect">
            <a:avLst>
              <a:gd name="adj" fmla="val 4772"/>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ounded Rectangle 181"/>
          <p:cNvSpPr/>
          <p:nvPr/>
        </p:nvSpPr>
        <p:spPr>
          <a:xfrm>
            <a:off x="6141720" y="1298448"/>
            <a:ext cx="2682240" cy="3474720"/>
          </a:xfrm>
          <a:prstGeom prst="roundRect">
            <a:avLst>
              <a:gd name="adj" fmla="val 4772"/>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ounded Rectangle 182"/>
          <p:cNvSpPr/>
          <p:nvPr/>
        </p:nvSpPr>
        <p:spPr>
          <a:xfrm>
            <a:off x="6141720" y="1298448"/>
            <a:ext cx="2682240" cy="685800"/>
          </a:xfrm>
          <a:prstGeom prst="roundRect">
            <a:avLst>
              <a:gd name="adj" fmla="val 18666"/>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Rectangle 183"/>
          <p:cNvSpPr/>
          <p:nvPr/>
        </p:nvSpPr>
        <p:spPr>
          <a:xfrm>
            <a:off x="6150864" y="1737360"/>
            <a:ext cx="2663952" cy="246888"/>
          </a:xfrm>
          <a:prstGeom prst="rect">
            <a:avLst/>
          </a:prstGeom>
          <a:solidFill>
            <a:srgbClr val="C6F4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85" name="Connector 184"/>
          <p:cNvCxnSpPr/>
          <p:nvPr/>
        </p:nvCxnSpPr>
        <p:spPr>
          <a:xfrm>
            <a:off x="6141720" y="1984248"/>
            <a:ext cx="2682240"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pic>
        <p:nvPicPr>
          <p:cNvPr id="186" name="Picture 185" descr="l-globe-ink.png"/>
          <p:cNvPicPr>
            <a:picLocks noChangeAspect="1"/>
          </p:cNvPicPr>
          <p:nvPr/>
        </p:nvPicPr>
        <p:blipFill>
          <a:blip r:embed="rId10"/>
          <a:stretch>
            <a:fillRect/>
          </a:stretch>
        </p:blipFill>
        <p:spPr>
          <a:xfrm>
            <a:off x="6306312" y="1463040"/>
            <a:ext cx="365760" cy="365760"/>
          </a:xfrm>
          <a:prstGeom prst="rect">
            <a:avLst/>
          </a:prstGeom>
        </p:spPr>
      </p:pic>
      <p:sp>
        <p:nvSpPr>
          <p:cNvPr id="187" name="TextBox 186"/>
          <p:cNvSpPr txBox="1"/>
          <p:nvPr/>
        </p:nvSpPr>
        <p:spPr>
          <a:xfrm>
            <a:off x="6781800" y="1298448"/>
            <a:ext cx="1950720" cy="685800"/>
          </a:xfrm>
          <a:prstGeom prst="rect">
            <a:avLst/>
          </a:prstGeom>
          <a:noFill/>
        </p:spPr>
        <p:txBody>
          <a:bodyPr wrap="square" lIns="0" rIns="0" tIns="0" bIns="0" anchor="ctr">
            <a:noAutofit/>
          </a:bodyPr>
          <a:lstStyle/>
          <a:p>
            <a:pPr algn="l">
              <a:lnSpc>
                <a:spcPct val="100000"/>
              </a:lnSpc>
              <a:spcAft>
                <a:spcPts val="0"/>
              </a:spcAft>
            </a:pPr>
            <a:r>
              <a:rPr sz="1100" b="1">
                <a:solidFill>
                  <a:srgbClr val="111111"/>
                </a:solidFill>
                <a:latin typeface="Google Sans Flex"/>
              </a:rPr>
              <a:t>Final Product Link</a:t>
            </a:r>
          </a:p>
        </p:txBody>
      </p:sp>
      <p:pic>
        <p:nvPicPr>
          <p:cNvPr id="188" name="Picture 187" descr="QR code for https://shop-honest-ai.web.app"/>
          <p:cNvPicPr>
            <a:picLocks noChangeAspect="1"/>
          </p:cNvPicPr>
          <p:nvPr/>
        </p:nvPicPr>
        <p:blipFill>
          <a:blip r:embed="rId11"/>
          <a:stretch>
            <a:fillRect/>
          </a:stretch>
        </p:blipFill>
        <p:spPr>
          <a:xfrm>
            <a:off x="6705600" y="2176272"/>
            <a:ext cx="1554480" cy="1554480"/>
          </a:xfrm>
          <a:prstGeom prst="rect">
            <a:avLst/>
          </a:prstGeom>
        </p:spPr>
      </p:pic>
      <p:sp>
        <p:nvSpPr>
          <p:cNvPr id="189" name="TextBox 188"/>
          <p:cNvSpPr txBox="1"/>
          <p:nvPr/>
        </p:nvSpPr>
        <p:spPr>
          <a:xfrm>
            <a:off x="6251448" y="3840480"/>
            <a:ext cx="2462784" cy="411480"/>
          </a:xfrm>
          <a:prstGeom prst="rect">
            <a:avLst/>
          </a:prstGeom>
          <a:noFill/>
        </p:spPr>
        <p:txBody>
          <a:bodyPr wrap="square" lIns="0" rIns="0" tIns="0" bIns="0" anchor="ctr">
            <a:noAutofit/>
          </a:bodyPr>
          <a:lstStyle/>
          <a:p>
            <a:pPr algn="ctr">
              <a:lnSpc>
                <a:spcPct val="100000"/>
              </a:lnSpc>
              <a:spcAft>
                <a:spcPts val="0"/>
              </a:spcAft>
            </a:pPr>
            <a:r>
              <a:rPr sz="1000" b="0">
                <a:solidFill>
                  <a:srgbClr val="3B5BFF"/>
                </a:solidFill>
                <a:latin typeface="Google Sans Flex SemiBold"/>
                <a:hlinkClick r:id="rId12"/>
              </a:rPr>
              <a:t>shop-honest-ai.web.app</a:t>
            </a:r>
          </a:p>
        </p:txBody>
      </p:sp>
      <p:sp>
        <p:nvSpPr>
          <p:cNvPr id="190" name="TextBox 189"/>
          <p:cNvSpPr txBox="1"/>
          <p:nvPr/>
        </p:nvSpPr>
        <p:spPr>
          <a:xfrm>
            <a:off x="6251448" y="4297680"/>
            <a:ext cx="2462784" cy="274320"/>
          </a:xfrm>
          <a:prstGeom prst="rect">
            <a:avLst/>
          </a:prstGeom>
          <a:noFill/>
        </p:spPr>
        <p:txBody>
          <a:bodyPr wrap="square" lIns="0" rIns="0" tIns="0" bIns="0" anchor="t">
            <a:noAutofit/>
          </a:bodyPr>
          <a:lstStyle/>
          <a:p>
            <a:pPr algn="ctr">
              <a:lnSpc>
                <a:spcPct val="100000"/>
              </a:lnSpc>
              <a:spcAft>
                <a:spcPts val="0"/>
              </a:spcAft>
            </a:pPr>
            <a:r>
              <a:rPr sz="900" b="0">
                <a:solidFill>
                  <a:srgbClr val="5F6368"/>
                </a:solidFill>
                <a:latin typeface="Google Sans Flex Medium"/>
              </a:rPr>
              <a:t>Sample stores, live runs and real stores</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Responsible by design</a:t>
            </a:r>
            <a:endParaRPr sz="1600">
              <a:latin typeface="Google Sans Flex Medium"/>
              <a:ea typeface="Google Sans Flex Medium"/>
              <a:cs typeface="Google Sans Flex Medium"/>
              <a:sym typeface="Google Sans Flex Medium"/>
            </a:endParaRPr>
          </a:p>
        </p:txBody>
      </p:sp>
      <p:sp>
        <p:nvSpPr>
          <p:cNvPr id="168" name="Rounded Rectangle 167"/>
          <p:cNvSpPr/>
          <p:nvPr/>
        </p:nvSpPr>
        <p:spPr>
          <a:xfrm>
            <a:off x="320040" y="1261872"/>
            <a:ext cx="4160520" cy="3017520"/>
          </a:xfrm>
          <a:prstGeom prst="roundRect">
            <a:avLst>
              <a:gd name="adj" fmla="val 4242"/>
            </a:avLst>
          </a:prstGeom>
          <a:solidFill>
            <a:srgbClr val="111111"/>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TextBox 168"/>
          <p:cNvSpPr txBox="1"/>
          <p:nvPr/>
        </p:nvSpPr>
        <p:spPr>
          <a:xfrm>
            <a:off x="548640" y="1389888"/>
            <a:ext cx="3794760" cy="320040"/>
          </a:xfrm>
          <a:prstGeom prst="rect">
            <a:avLst/>
          </a:prstGeom>
          <a:noFill/>
        </p:spPr>
        <p:txBody>
          <a:bodyPr wrap="square" lIns="0" rIns="0" tIns="0" bIns="0" anchor="t">
            <a:noAutofit/>
          </a:bodyPr>
          <a:lstStyle/>
          <a:p>
            <a:pPr algn="l">
              <a:lnSpc>
                <a:spcPct val="100000"/>
              </a:lnSpc>
              <a:spcAft>
                <a:spcPts val="0"/>
              </a:spcAft>
            </a:pPr>
            <a:r>
              <a:rPr sz="1500" b="1">
                <a:solidFill>
                  <a:srgbClr val="FFFFFF"/>
                </a:solidFill>
                <a:latin typeface="Google Sans Flex"/>
              </a:rPr>
              <a:t>The agent will </a:t>
            </a:r>
            <a:r>
              <a:rPr sz="1500" b="1">
                <a:solidFill>
                  <a:srgbClr val="FF5CA8"/>
                </a:solidFill>
                <a:latin typeface="Google Sans Flex"/>
              </a:rPr>
              <a:t>never</a:t>
            </a:r>
          </a:p>
        </p:txBody>
      </p:sp>
      <p:pic>
        <p:nvPicPr>
          <p:cNvPr id="170" name="Picture 169" descr="l-ban-white.png"/>
          <p:cNvPicPr>
            <a:picLocks noChangeAspect="1"/>
          </p:cNvPicPr>
          <p:nvPr/>
        </p:nvPicPr>
        <p:blipFill>
          <a:blip r:embed="rId5"/>
          <a:stretch>
            <a:fillRect/>
          </a:stretch>
        </p:blipFill>
        <p:spPr>
          <a:xfrm>
            <a:off x="576072" y="1865376"/>
            <a:ext cx="274320" cy="274320"/>
          </a:xfrm>
          <a:prstGeom prst="rect">
            <a:avLst/>
          </a:prstGeom>
        </p:spPr>
      </p:pic>
      <p:sp>
        <p:nvSpPr>
          <p:cNvPr id="171" name="TextBox 170"/>
          <p:cNvSpPr txBox="1"/>
          <p:nvPr/>
        </p:nvSpPr>
        <p:spPr>
          <a:xfrm>
            <a:off x="978407" y="1828800"/>
            <a:ext cx="3337560" cy="347472"/>
          </a:xfrm>
          <a:prstGeom prst="rect">
            <a:avLst/>
          </a:prstGeom>
          <a:noFill/>
        </p:spPr>
        <p:txBody>
          <a:bodyPr wrap="square" lIns="0" rIns="0" tIns="0" bIns="0" anchor="ctr">
            <a:noAutofit/>
          </a:bodyPr>
          <a:lstStyle/>
          <a:p>
            <a:pPr algn="l">
              <a:lnSpc>
                <a:spcPct val="100000"/>
              </a:lnSpc>
              <a:spcAft>
                <a:spcPts val="0"/>
              </a:spcAft>
            </a:pPr>
            <a:r>
              <a:rPr sz="1100" b="0">
                <a:solidFill>
                  <a:srgbClr val="FFFFFF"/>
                </a:solidFill>
                <a:latin typeface="Google Sans Flex Medium"/>
              </a:rPr>
              <a:t>Pay, buy now or place an order</a:t>
            </a:r>
          </a:p>
        </p:txBody>
      </p:sp>
      <p:pic>
        <p:nvPicPr>
          <p:cNvPr id="172" name="Picture 171" descr="l-ban-white.png"/>
          <p:cNvPicPr>
            <a:picLocks noChangeAspect="1"/>
          </p:cNvPicPr>
          <p:nvPr/>
        </p:nvPicPr>
        <p:blipFill>
          <a:blip r:embed="rId5"/>
          <a:stretch>
            <a:fillRect/>
          </a:stretch>
        </p:blipFill>
        <p:spPr>
          <a:xfrm>
            <a:off x="576072" y="2322576"/>
            <a:ext cx="274320" cy="274320"/>
          </a:xfrm>
          <a:prstGeom prst="rect">
            <a:avLst/>
          </a:prstGeom>
        </p:spPr>
      </p:pic>
      <p:sp>
        <p:nvSpPr>
          <p:cNvPr id="173" name="TextBox 172"/>
          <p:cNvSpPr txBox="1"/>
          <p:nvPr/>
        </p:nvSpPr>
        <p:spPr>
          <a:xfrm>
            <a:off x="978407" y="2286000"/>
            <a:ext cx="3337560" cy="347472"/>
          </a:xfrm>
          <a:prstGeom prst="rect">
            <a:avLst/>
          </a:prstGeom>
          <a:noFill/>
        </p:spPr>
        <p:txBody>
          <a:bodyPr wrap="square" lIns="0" rIns="0" tIns="0" bIns="0" anchor="ctr">
            <a:noAutofit/>
          </a:bodyPr>
          <a:lstStyle/>
          <a:p>
            <a:pPr algn="l">
              <a:lnSpc>
                <a:spcPct val="100000"/>
              </a:lnSpc>
              <a:spcAft>
                <a:spcPts val="0"/>
              </a:spcAft>
            </a:pPr>
            <a:r>
              <a:rPr sz="1100" b="0">
                <a:solidFill>
                  <a:srgbClr val="FFFFFF"/>
                </a:solidFill>
                <a:latin typeface="Google Sans Flex Medium"/>
              </a:rPr>
              <a:t>Sign in, register or subscribe</a:t>
            </a:r>
          </a:p>
        </p:txBody>
      </p:sp>
      <p:pic>
        <p:nvPicPr>
          <p:cNvPr id="174" name="Picture 173" descr="l-ban-white.png"/>
          <p:cNvPicPr>
            <a:picLocks noChangeAspect="1"/>
          </p:cNvPicPr>
          <p:nvPr/>
        </p:nvPicPr>
        <p:blipFill>
          <a:blip r:embed="rId5"/>
          <a:stretch>
            <a:fillRect/>
          </a:stretch>
        </p:blipFill>
        <p:spPr>
          <a:xfrm>
            <a:off x="576072" y="2779776"/>
            <a:ext cx="274320" cy="274320"/>
          </a:xfrm>
          <a:prstGeom prst="rect">
            <a:avLst/>
          </a:prstGeom>
        </p:spPr>
      </p:pic>
      <p:sp>
        <p:nvSpPr>
          <p:cNvPr id="175" name="TextBox 174"/>
          <p:cNvSpPr txBox="1"/>
          <p:nvPr/>
        </p:nvSpPr>
        <p:spPr>
          <a:xfrm>
            <a:off x="978407" y="2743200"/>
            <a:ext cx="3337560" cy="347472"/>
          </a:xfrm>
          <a:prstGeom prst="rect">
            <a:avLst/>
          </a:prstGeom>
          <a:noFill/>
        </p:spPr>
        <p:txBody>
          <a:bodyPr wrap="square" lIns="0" rIns="0" tIns="0" bIns="0" anchor="ctr">
            <a:noAutofit/>
          </a:bodyPr>
          <a:lstStyle/>
          <a:p>
            <a:pPr algn="l">
              <a:lnSpc>
                <a:spcPct val="100000"/>
              </a:lnSpc>
              <a:spcAft>
                <a:spcPts val="0"/>
              </a:spcAft>
            </a:pPr>
            <a:r>
              <a:rPr sz="1100" b="0">
                <a:solidFill>
                  <a:srgbClr val="FFFFFF"/>
                </a:solidFill>
                <a:latin typeface="Google Sans Flex Medium"/>
              </a:rPr>
              <a:t>Type into any field</a:t>
            </a:r>
          </a:p>
        </p:txBody>
      </p:sp>
      <p:pic>
        <p:nvPicPr>
          <p:cNvPr id="176" name="Picture 175" descr="l-ban-white.png"/>
          <p:cNvPicPr>
            <a:picLocks noChangeAspect="1"/>
          </p:cNvPicPr>
          <p:nvPr/>
        </p:nvPicPr>
        <p:blipFill>
          <a:blip r:embed="rId5"/>
          <a:stretch>
            <a:fillRect/>
          </a:stretch>
        </p:blipFill>
        <p:spPr>
          <a:xfrm>
            <a:off x="576072" y="3236976"/>
            <a:ext cx="274320" cy="274320"/>
          </a:xfrm>
          <a:prstGeom prst="rect">
            <a:avLst/>
          </a:prstGeom>
        </p:spPr>
      </p:pic>
      <p:sp>
        <p:nvSpPr>
          <p:cNvPr id="177" name="TextBox 176"/>
          <p:cNvSpPr txBox="1"/>
          <p:nvPr/>
        </p:nvSpPr>
        <p:spPr>
          <a:xfrm>
            <a:off x="978407" y="3200400"/>
            <a:ext cx="3337560" cy="347472"/>
          </a:xfrm>
          <a:prstGeom prst="rect">
            <a:avLst/>
          </a:prstGeom>
          <a:noFill/>
        </p:spPr>
        <p:txBody>
          <a:bodyPr wrap="square" lIns="0" rIns="0" tIns="0" bIns="0" anchor="ctr">
            <a:noAutofit/>
          </a:bodyPr>
          <a:lstStyle/>
          <a:p>
            <a:pPr algn="l">
              <a:lnSpc>
                <a:spcPct val="100000"/>
              </a:lnSpc>
              <a:spcAft>
                <a:spcPts val="0"/>
              </a:spcAft>
            </a:pPr>
            <a:r>
              <a:rPr sz="1100" b="0">
                <a:solidFill>
                  <a:srgbClr val="FFFFFF"/>
                </a:solidFill>
                <a:latin typeface="Google Sans Flex Medium"/>
              </a:rPr>
              <a:t>Accept cookies or terms (it declines or closes)</a:t>
            </a:r>
          </a:p>
        </p:txBody>
      </p:sp>
      <p:pic>
        <p:nvPicPr>
          <p:cNvPr id="178" name="Picture 177" descr="l-ban-white.png"/>
          <p:cNvPicPr>
            <a:picLocks noChangeAspect="1"/>
          </p:cNvPicPr>
          <p:nvPr/>
        </p:nvPicPr>
        <p:blipFill>
          <a:blip r:embed="rId5"/>
          <a:stretch>
            <a:fillRect/>
          </a:stretch>
        </p:blipFill>
        <p:spPr>
          <a:xfrm>
            <a:off x="576072" y="3694176"/>
            <a:ext cx="274320" cy="274320"/>
          </a:xfrm>
          <a:prstGeom prst="rect">
            <a:avLst/>
          </a:prstGeom>
        </p:spPr>
      </p:pic>
      <p:sp>
        <p:nvSpPr>
          <p:cNvPr id="179" name="TextBox 178"/>
          <p:cNvSpPr txBox="1"/>
          <p:nvPr/>
        </p:nvSpPr>
        <p:spPr>
          <a:xfrm>
            <a:off x="978407" y="3657600"/>
            <a:ext cx="3337560" cy="347472"/>
          </a:xfrm>
          <a:prstGeom prst="rect">
            <a:avLst/>
          </a:prstGeom>
          <a:noFill/>
        </p:spPr>
        <p:txBody>
          <a:bodyPr wrap="square" lIns="0" rIns="0" tIns="0" bIns="0" anchor="ctr">
            <a:noAutofit/>
          </a:bodyPr>
          <a:lstStyle/>
          <a:p>
            <a:pPr algn="l">
              <a:lnSpc>
                <a:spcPct val="100000"/>
              </a:lnSpc>
              <a:spcAft>
                <a:spcPts val="0"/>
              </a:spcAft>
            </a:pPr>
            <a:r>
              <a:rPr sz="1100" b="0">
                <a:solidFill>
                  <a:srgbClr val="FFFFFF"/>
                </a:solidFill>
                <a:latin typeface="Google Sans Flex Medium"/>
              </a:rPr>
              <a:t>Get around a CAPTCHA or bot protection</a:t>
            </a:r>
          </a:p>
        </p:txBody>
      </p:sp>
      <p:sp>
        <p:nvSpPr>
          <p:cNvPr id="180" name="Rounded Rectangle 179"/>
          <p:cNvSpPr/>
          <p:nvPr/>
        </p:nvSpPr>
        <p:spPr>
          <a:xfrm>
            <a:off x="4709160" y="1307592"/>
            <a:ext cx="4160520" cy="3017520"/>
          </a:xfrm>
          <a:prstGeom prst="roundRect">
            <a:avLst>
              <a:gd name="adj" fmla="val 4242"/>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ounded Rectangle 180"/>
          <p:cNvSpPr/>
          <p:nvPr/>
        </p:nvSpPr>
        <p:spPr>
          <a:xfrm>
            <a:off x="4663440" y="1261872"/>
            <a:ext cx="4160520" cy="3017520"/>
          </a:xfrm>
          <a:prstGeom prst="roundRect">
            <a:avLst>
              <a:gd name="adj" fmla="val 4242"/>
            </a:avLst>
          </a:prstGeom>
          <a:solidFill>
            <a:srgbClr val="FFF8EC"/>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TextBox 181"/>
          <p:cNvSpPr txBox="1"/>
          <p:nvPr/>
        </p:nvSpPr>
        <p:spPr>
          <a:xfrm>
            <a:off x="4892040" y="1389888"/>
            <a:ext cx="3794760" cy="320040"/>
          </a:xfrm>
          <a:prstGeom prst="rect">
            <a:avLst/>
          </a:prstGeom>
          <a:noFill/>
        </p:spPr>
        <p:txBody>
          <a:bodyPr wrap="square" lIns="0" rIns="0" tIns="0" bIns="0" anchor="t">
            <a:noAutofit/>
          </a:bodyPr>
          <a:lstStyle/>
          <a:p>
            <a:pPr algn="l">
              <a:lnSpc>
                <a:spcPct val="100000"/>
              </a:lnSpc>
              <a:spcAft>
                <a:spcPts val="0"/>
              </a:spcAft>
            </a:pPr>
            <a:r>
              <a:rPr sz="1500" b="1">
                <a:solidFill>
                  <a:srgbClr val="111111"/>
                </a:solidFill>
                <a:latin typeface="Google Sans Flex"/>
              </a:rPr>
              <a:t>Findings stay honest</a:t>
            </a:r>
          </a:p>
        </p:txBody>
      </p:sp>
      <p:pic>
        <p:nvPicPr>
          <p:cNvPr id="183" name="Picture 182" descr="l-circle-check-ink.png"/>
          <p:cNvPicPr>
            <a:picLocks noChangeAspect="1"/>
          </p:cNvPicPr>
          <p:nvPr/>
        </p:nvPicPr>
        <p:blipFill>
          <a:blip r:embed="rId6"/>
          <a:stretch>
            <a:fillRect/>
          </a:stretch>
        </p:blipFill>
        <p:spPr>
          <a:xfrm>
            <a:off x="4919472" y="1865376"/>
            <a:ext cx="274320" cy="274320"/>
          </a:xfrm>
          <a:prstGeom prst="rect">
            <a:avLst/>
          </a:prstGeom>
        </p:spPr>
      </p:pic>
      <p:sp>
        <p:nvSpPr>
          <p:cNvPr id="184" name="TextBox 183"/>
          <p:cNvSpPr txBox="1"/>
          <p:nvPr/>
        </p:nvSpPr>
        <p:spPr>
          <a:xfrm>
            <a:off x="5321808" y="1828800"/>
            <a:ext cx="3337560" cy="38404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Grounded: </a:t>
            </a:r>
            <a:r>
              <a:rPr sz="1000" b="0">
                <a:solidFill>
                  <a:srgbClr val="111111"/>
                </a:solidFill>
                <a:latin typeface="Google Sans Flex"/>
              </a:rPr>
              <a:t>every claim must cite an element measured on the page.</a:t>
            </a:r>
          </a:p>
        </p:txBody>
      </p:sp>
      <p:pic>
        <p:nvPicPr>
          <p:cNvPr id="185" name="Picture 184" descr="l-circle-check-ink.png"/>
          <p:cNvPicPr>
            <a:picLocks noChangeAspect="1"/>
          </p:cNvPicPr>
          <p:nvPr/>
        </p:nvPicPr>
        <p:blipFill>
          <a:blip r:embed="rId6"/>
          <a:stretch>
            <a:fillRect/>
          </a:stretch>
        </p:blipFill>
        <p:spPr>
          <a:xfrm>
            <a:off x="4919472" y="2322576"/>
            <a:ext cx="274320" cy="274320"/>
          </a:xfrm>
          <a:prstGeom prst="rect">
            <a:avLst/>
          </a:prstGeom>
        </p:spPr>
      </p:pic>
      <p:sp>
        <p:nvSpPr>
          <p:cNvPr id="186" name="TextBox 185"/>
          <p:cNvSpPr txBox="1"/>
          <p:nvPr/>
        </p:nvSpPr>
        <p:spPr>
          <a:xfrm>
            <a:off x="5321808" y="2286000"/>
            <a:ext cx="3337560" cy="38404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Double-checked: </a:t>
            </a:r>
            <a:r>
              <a:rPr sz="1000" b="0">
                <a:solidFill>
                  <a:srgbClr val="111111"/>
                </a:solidFill>
                <a:latin typeface="Google Sans Flex"/>
              </a:rPr>
              <a:t>a second agent re-checks the evidence with tools.</a:t>
            </a:r>
          </a:p>
        </p:txBody>
      </p:sp>
      <p:pic>
        <p:nvPicPr>
          <p:cNvPr id="187" name="Picture 186" descr="l-circle-check-ink.png"/>
          <p:cNvPicPr>
            <a:picLocks noChangeAspect="1"/>
          </p:cNvPicPr>
          <p:nvPr/>
        </p:nvPicPr>
        <p:blipFill>
          <a:blip r:embed="rId6"/>
          <a:stretch>
            <a:fillRect/>
          </a:stretch>
        </p:blipFill>
        <p:spPr>
          <a:xfrm>
            <a:off x="4919472" y="2779776"/>
            <a:ext cx="274320" cy="274320"/>
          </a:xfrm>
          <a:prstGeom prst="rect">
            <a:avLst/>
          </a:prstGeom>
        </p:spPr>
      </p:pic>
      <p:sp>
        <p:nvSpPr>
          <p:cNvPr id="188" name="TextBox 187"/>
          <p:cNvSpPr txBox="1"/>
          <p:nvPr/>
        </p:nvSpPr>
        <p:spPr>
          <a:xfrm>
            <a:off x="5321808" y="2743200"/>
            <a:ext cx="3337560" cy="38404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Unsure? Human review, </a:t>
            </a:r>
            <a:r>
              <a:rPr sz="1000" b="0">
                <a:solidFill>
                  <a:srgbClr val="111111"/>
                </a:solidFill>
                <a:latin typeface="Google Sans Flex"/>
              </a:rPr>
              <a:t>never asserted as fact.</a:t>
            </a:r>
          </a:p>
        </p:txBody>
      </p:sp>
      <p:pic>
        <p:nvPicPr>
          <p:cNvPr id="189" name="Picture 188" descr="l-circle-check-ink.png"/>
          <p:cNvPicPr>
            <a:picLocks noChangeAspect="1"/>
          </p:cNvPicPr>
          <p:nvPr/>
        </p:nvPicPr>
        <p:blipFill>
          <a:blip r:embed="rId6"/>
          <a:stretch>
            <a:fillRect/>
          </a:stretch>
        </p:blipFill>
        <p:spPr>
          <a:xfrm>
            <a:off x="4919472" y="3236976"/>
            <a:ext cx="274320" cy="274320"/>
          </a:xfrm>
          <a:prstGeom prst="rect">
            <a:avLst/>
          </a:prstGeom>
        </p:spPr>
      </p:pic>
      <p:sp>
        <p:nvSpPr>
          <p:cNvPr id="190" name="TextBox 189"/>
          <p:cNvSpPr txBox="1"/>
          <p:nvPr/>
        </p:nvSpPr>
        <p:spPr>
          <a:xfrm>
            <a:off x="5321808" y="3200400"/>
            <a:ext cx="3337560" cy="38404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Real stores: </a:t>
            </a:r>
            <a:r>
              <a:rPr sz="1000" b="0">
                <a:solidFill>
                  <a:srgbClr val="111111"/>
                </a:solidFill>
                <a:latin typeface="Google Sans Flex"/>
              </a:rPr>
              <a:t>layout-based findings go to review; reports say "not a legal finding".</a:t>
            </a:r>
          </a:p>
        </p:txBody>
      </p:sp>
      <p:pic>
        <p:nvPicPr>
          <p:cNvPr id="191" name="Picture 190" descr="l-circle-check-ink.png"/>
          <p:cNvPicPr>
            <a:picLocks noChangeAspect="1"/>
          </p:cNvPicPr>
          <p:nvPr/>
        </p:nvPicPr>
        <p:blipFill>
          <a:blip r:embed="rId6"/>
          <a:stretch>
            <a:fillRect/>
          </a:stretch>
        </p:blipFill>
        <p:spPr>
          <a:xfrm>
            <a:off x="4919472" y="3694176"/>
            <a:ext cx="274320" cy="274320"/>
          </a:xfrm>
          <a:prstGeom prst="rect">
            <a:avLst/>
          </a:prstGeom>
        </p:spPr>
      </p:pic>
      <p:sp>
        <p:nvSpPr>
          <p:cNvPr id="192" name="TextBox 191"/>
          <p:cNvSpPr txBox="1"/>
          <p:nvPr/>
        </p:nvSpPr>
        <p:spPr>
          <a:xfrm>
            <a:off x="5321808" y="3657600"/>
            <a:ext cx="3337560" cy="384048"/>
          </a:xfrm>
          <a:prstGeom prst="rect">
            <a:avLst/>
          </a:prstGeom>
          <a:noFill/>
        </p:spPr>
        <p:txBody>
          <a:bodyPr wrap="square" lIns="0" rIns="0" tIns="0" bIns="0" anchor="ctr">
            <a:noAutofit/>
          </a:bodyPr>
          <a:lstStyle/>
          <a:p>
            <a:pPr algn="l">
              <a:lnSpc>
                <a:spcPct val="100000"/>
              </a:lnSpc>
              <a:spcAft>
                <a:spcPts val="0"/>
              </a:spcAft>
            </a:pPr>
            <a:r>
              <a:rPr sz="1000" b="1">
                <a:solidFill>
                  <a:srgbClr val="111111"/>
                </a:solidFill>
                <a:latin typeface="Google Sans Flex"/>
              </a:rPr>
              <a:t>Partial audits </a:t>
            </a:r>
            <a:r>
              <a:rPr sz="1000" b="0">
                <a:solidFill>
                  <a:srgbClr val="111111"/>
                </a:solidFill>
                <a:latin typeface="Google Sans Flex"/>
              </a:rPr>
              <a:t>say exactly which steps weren't seen.</a:t>
            </a:r>
          </a:p>
        </p:txBody>
      </p:sp>
      <p:sp>
        <p:nvSpPr>
          <p:cNvPr id="193" name="Rounded Rectangle 192"/>
          <p:cNvSpPr/>
          <p:nvPr/>
        </p:nvSpPr>
        <p:spPr>
          <a:xfrm>
            <a:off x="356615" y="4462272"/>
            <a:ext cx="8503920" cy="384048"/>
          </a:xfrm>
          <a:prstGeom prst="roundRect">
            <a:avLst>
              <a:gd name="adj" fmla="val 23809"/>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Rounded Rectangle 193"/>
          <p:cNvSpPr/>
          <p:nvPr/>
        </p:nvSpPr>
        <p:spPr>
          <a:xfrm>
            <a:off x="320040" y="4425696"/>
            <a:ext cx="8503920" cy="384048"/>
          </a:xfrm>
          <a:prstGeom prst="roundRect">
            <a:avLst>
              <a:gd name="adj" fmla="val 23809"/>
            </a:avLst>
          </a:prstGeom>
          <a:solidFill>
            <a:srgbClr val="C6F432"/>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TextBox 194"/>
          <p:cNvSpPr txBox="1"/>
          <p:nvPr/>
        </p:nvSpPr>
        <p:spPr>
          <a:xfrm>
            <a:off x="502920" y="4425696"/>
            <a:ext cx="8138160" cy="384048"/>
          </a:xfrm>
          <a:prstGeom prst="rect">
            <a:avLst/>
          </a:prstGeom>
          <a:noFill/>
        </p:spPr>
        <p:txBody>
          <a:bodyPr wrap="square" lIns="0" rIns="0" tIns="0" bIns="0" anchor="ctr">
            <a:noAutofit/>
          </a:bodyPr>
          <a:lstStyle/>
          <a:p>
            <a:pPr algn="ctr">
              <a:lnSpc>
                <a:spcPct val="100000"/>
              </a:lnSpc>
              <a:spcAft>
                <a:spcPts val="0"/>
              </a:spcAft>
            </a:pPr>
            <a:r>
              <a:rPr sz="1000" b="1">
                <a:solidFill>
                  <a:srgbClr val="111111"/>
                </a:solidFill>
                <a:latin typeface="Google Sans Flex"/>
              </a:rPr>
              <a:t>Guardrails:  </a:t>
            </a:r>
            <a:r>
              <a:rPr sz="1000" b="0">
                <a:solidFill>
                  <a:srgbClr val="111111"/>
                </a:solidFill>
                <a:latin typeface="Google Sans Flex"/>
              </a:rPr>
              <a:t>SSRF guard  ·  ad networks blocked  ·  per-audit budgets  ·  daily cap  ·  Fix it runs only on a copy, in our own browser</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
        <p:nvSpPr>
          <p:cNvPr id="300" name="Closing line"/>
          <p:cNvSpPr txBox="1"/>
          <p:nvPr/>
        </p:nvSpPr>
        <p:spPr>
          <a:xfrm>
            <a:off x="4754880" y="2148840"/>
            <a:ext cx="4114800" cy="777240"/>
          </a:xfrm>
          <a:prstGeom prst="rect">
            <a:avLst/>
          </a:prstGeom>
          <a:noFill/>
        </p:spPr>
        <p:txBody>
          <a:bodyPr wrap="square" lIns="0" tIns="0" rIns="0" bIns="0">
            <a:noAutofit/>
          </a:bodyPr>
          <a:lstStyle/>
          <a:p>
            <a:pPr algn="l">
              <a:spcAft>
                <a:spcPts val="600"/>
              </a:spcAft>
            </a:pPr>
            <a:r>
              <a:rPr sz="1300" b="1">
                <a:solidFill>
                  <a:srgbClr val="C6F432"/>
                </a:solidFill>
                <a:latin typeface="Google Sans Flex"/>
              </a:rPr>
              <a:t>Find dark patterns before your next release.</a:t>
            </a:r>
          </a:p>
          <a:p>
            <a:pPr algn="l">
              <a:spcAft>
                <a:spcPts val="600"/>
              </a:spcAft>
            </a:pPr>
            <a:r>
              <a:rPr sz="1150" b="1">
                <a:solidFill>
                  <a:srgbClr val="FFFFFF"/>
                </a:solidFill>
                <a:latin typeface="Google Sans Flex"/>
              </a:rPr>
              <a:t>shop-honest-ai.web.app</a:t>
            </a:r>
          </a:p>
          <a:p>
            <a:pPr algn="l">
              <a:spcAft>
                <a:spcPts val="0"/>
              </a:spcAft>
            </a:pPr>
            <a:r>
              <a:rPr sz="1050" b="0">
                <a:solidFill>
                  <a:srgbClr val="D9D9D9"/>
                </a:solidFill>
                <a:latin typeface="Google Sans Flex"/>
              </a:rPr>
              <a:t>Team Zero Context · Saubhagya Ashish · Suvojit Konar</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From a finding to a verified fix</a:t>
            </a:r>
            <a:endParaRPr sz="1600">
              <a:latin typeface="Google Sans Flex Medium"/>
              <a:ea typeface="Google Sans Flex Medium"/>
              <a:cs typeface="Google Sans Flex Medium"/>
              <a:sym typeface="Google Sans Flex Medium"/>
            </a:endParaRPr>
          </a:p>
        </p:txBody>
      </p:sp>
      <p:sp>
        <p:nvSpPr>
          <p:cNvPr id="136" name="Rectangle 135"/>
          <p:cNvSpPr/>
          <p:nvPr/>
        </p:nvSpPr>
        <p:spPr>
          <a:xfrm>
            <a:off x="431122" y="1289304"/>
            <a:ext cx="2249578" cy="33800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7" name="Picture 136" descr="Fix it: what each fix is worth, projected"/>
          <p:cNvPicPr>
            <a:picLocks noChangeAspect="1"/>
          </p:cNvPicPr>
          <p:nvPr/>
        </p:nvPicPr>
        <p:blipFill>
          <a:blip r:embed="rId5"/>
          <a:stretch>
            <a:fillRect/>
          </a:stretch>
        </p:blipFill>
        <p:spPr>
          <a:xfrm>
            <a:off x="385402" y="1243584"/>
            <a:ext cx="2249578" cy="3380000"/>
          </a:xfrm>
          <a:prstGeom prst="rect">
            <a:avLst/>
          </a:prstGeom>
          <a:ln w="19050">
            <a:solidFill>
              <a:srgbClr val="111111"/>
            </a:solidFill>
          </a:ln>
        </p:spPr>
      </p:pic>
      <p:sp>
        <p:nvSpPr>
          <p:cNvPr id="138" name="Rounded Rectangle 137"/>
          <p:cNvSpPr/>
          <p:nvPr/>
        </p:nvSpPr>
        <p:spPr>
          <a:xfrm>
            <a:off x="312250" y="4393584"/>
            <a:ext cx="2399578" cy="274320"/>
          </a:xfrm>
          <a:prstGeom prst="roundRect">
            <a:avLst>
              <a:gd name="adj" fmla="val 50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50" b="1">
                <a:solidFill>
                  <a:srgbClr val="111111"/>
                </a:solidFill>
                <a:latin typeface="Google Sans Flex"/>
              </a:rPr>
              <a:t>Fix it: projected impact</a:t>
            </a:r>
          </a:p>
        </p:txBody>
      </p:sp>
      <p:sp>
        <p:nvSpPr>
          <p:cNvPr id="139" name="Rectangle 138"/>
          <p:cNvSpPr/>
          <p:nvPr/>
        </p:nvSpPr>
        <p:spPr>
          <a:xfrm>
            <a:off x="3010700" y="1289304"/>
            <a:ext cx="5793020" cy="3223535"/>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0" name="Picture 139" descr="Verified on a copy: 9 of 9 fixes verified, ₹1,894 → ₹1,596"/>
          <p:cNvPicPr>
            <a:picLocks noChangeAspect="1"/>
          </p:cNvPicPr>
          <p:nvPr/>
        </p:nvPicPr>
        <p:blipFill>
          <a:blip r:embed="rId6"/>
          <a:stretch>
            <a:fillRect/>
          </a:stretch>
        </p:blipFill>
        <p:spPr>
          <a:xfrm>
            <a:off x="2964980" y="1243584"/>
            <a:ext cx="5793020" cy="3223535"/>
          </a:xfrm>
          <a:prstGeom prst="rect">
            <a:avLst/>
          </a:prstGeom>
          <a:ln w="19050">
            <a:solidFill>
              <a:srgbClr val="111111"/>
            </a:solidFill>
          </a:ln>
        </p:spPr>
      </p:pic>
      <p:sp>
        <p:nvSpPr>
          <p:cNvPr id="141" name="Rounded Rectangle 140"/>
          <p:cNvSpPr/>
          <p:nvPr/>
        </p:nvSpPr>
        <p:spPr>
          <a:xfrm>
            <a:off x="2891980" y="4327119"/>
            <a:ext cx="3300000" cy="274320"/>
          </a:xfrm>
          <a:prstGeom prst="roundRect">
            <a:avLst>
              <a:gd name="adj" fmla="val 50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950" b="1">
                <a:solidFill>
                  <a:srgbClr val="111111"/>
                </a:solidFill>
                <a:latin typeface="Google Sans Flex"/>
              </a:rPr>
              <a:t>9 selected fixes verified: ₹1,894 → ₹1,596</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Six real platforms, audited logged out</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365759" y="1325880"/>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ounded Rectangle 152"/>
          <p:cNvSpPr/>
          <p:nvPr/>
        </p:nvSpPr>
        <p:spPr>
          <a:xfrm>
            <a:off x="320040" y="1280160"/>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ounded Rectangle 153"/>
          <p:cNvSpPr/>
          <p:nvPr/>
        </p:nvSpPr>
        <p:spPr>
          <a:xfrm>
            <a:off x="493776" y="14630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ounded Rectangle 154"/>
          <p:cNvSpPr/>
          <p:nvPr/>
        </p:nvSpPr>
        <p:spPr>
          <a:xfrm>
            <a:off x="466344" y="1435607"/>
            <a:ext cx="475488" cy="475488"/>
          </a:xfrm>
          <a:prstGeom prst="roundRect">
            <a:avLst>
              <a:gd name="adj" fmla="val 24000"/>
            </a:avLst>
          </a:prstGeom>
          <a:solidFill>
            <a:srgbClr val="C6F432"/>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6" name="Picture 155" descr="l-list-checks-ink.png"/>
          <p:cNvPicPr>
            <a:picLocks noChangeAspect="1"/>
          </p:cNvPicPr>
          <p:nvPr/>
        </p:nvPicPr>
        <p:blipFill>
          <a:blip r:embed="rId5"/>
          <a:stretch>
            <a:fillRect/>
          </a:stretch>
        </p:blipFill>
        <p:spPr>
          <a:xfrm>
            <a:off x="561441" y="1530705"/>
            <a:ext cx="285292" cy="285292"/>
          </a:xfrm>
          <a:prstGeom prst="rect">
            <a:avLst/>
          </a:prstGeom>
        </p:spPr>
      </p:pic>
      <p:sp>
        <p:nvSpPr>
          <p:cNvPr id="157" name="Rounded Rectangle 156"/>
          <p:cNvSpPr/>
          <p:nvPr/>
        </p:nvSpPr>
        <p:spPr>
          <a:xfrm>
            <a:off x="2071720" y="1463039"/>
            <a:ext cx="826928" cy="219456"/>
          </a:xfrm>
          <a:prstGeom prst="roundRect">
            <a:avLst>
              <a:gd name="adj" fmla="val 50000"/>
            </a:avLst>
          </a:prstGeom>
          <a:solidFill>
            <a:srgbClr val="111111"/>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FFFFFF"/>
                </a:solidFill>
                <a:latin typeface="Google Sans Flex"/>
              </a:rPr>
              <a:t>CART</a:t>
            </a:r>
          </a:p>
        </p:txBody>
      </p:sp>
      <p:sp>
        <p:nvSpPr>
          <p:cNvPr id="158" name="TextBox 157"/>
          <p:cNvSpPr txBox="1"/>
          <p:nvPr/>
        </p:nvSpPr>
        <p:spPr>
          <a:xfrm>
            <a:off x="466344" y="2029967"/>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Tata 1mg</a:t>
            </a:r>
          </a:p>
        </p:txBody>
      </p:sp>
      <p:sp>
        <p:nvSpPr>
          <p:cNvPr id="159" name="TextBox 158"/>
          <p:cNvSpPr txBox="1"/>
          <p:nvPr/>
        </p:nvSpPr>
        <p:spPr>
          <a:xfrm>
            <a:off x="466344" y="2322576"/>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Reached the cart, then its sign-in popup. A ₹12 handling charge first shown in the cart: sent for review.</a:t>
            </a:r>
          </a:p>
        </p:txBody>
      </p:sp>
      <p:sp>
        <p:nvSpPr>
          <p:cNvPr id="160" name="Rounded Rectangle 159"/>
          <p:cNvSpPr/>
          <p:nvPr/>
        </p:nvSpPr>
        <p:spPr>
          <a:xfrm>
            <a:off x="3255264" y="1325880"/>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ounded Rectangle 160"/>
          <p:cNvSpPr/>
          <p:nvPr/>
        </p:nvSpPr>
        <p:spPr>
          <a:xfrm>
            <a:off x="3209544" y="1280160"/>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ounded Rectangle 161"/>
          <p:cNvSpPr/>
          <p:nvPr/>
        </p:nvSpPr>
        <p:spPr>
          <a:xfrm>
            <a:off x="3383280" y="14630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ounded Rectangle 162"/>
          <p:cNvSpPr/>
          <p:nvPr/>
        </p:nvSpPr>
        <p:spPr>
          <a:xfrm>
            <a:off x="3355848" y="1435607"/>
            <a:ext cx="475488" cy="475488"/>
          </a:xfrm>
          <a:prstGeom prst="roundRect">
            <a:avLst>
              <a:gd name="adj" fmla="val 24000"/>
            </a:avLst>
          </a:prstGeom>
          <a:solidFill>
            <a:srgbClr val="FFD23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4" name="Picture 163" descr="l-log-in-ink.png"/>
          <p:cNvPicPr>
            <a:picLocks noChangeAspect="1"/>
          </p:cNvPicPr>
          <p:nvPr/>
        </p:nvPicPr>
        <p:blipFill>
          <a:blip r:embed="rId6"/>
          <a:stretch>
            <a:fillRect/>
          </a:stretch>
        </p:blipFill>
        <p:spPr>
          <a:xfrm>
            <a:off x="3450945" y="1530705"/>
            <a:ext cx="285292" cy="285292"/>
          </a:xfrm>
          <a:prstGeom prst="rect">
            <a:avLst/>
          </a:prstGeom>
        </p:spPr>
      </p:pic>
      <p:sp>
        <p:nvSpPr>
          <p:cNvPr id="165" name="Rounded Rectangle 164"/>
          <p:cNvSpPr/>
          <p:nvPr/>
        </p:nvSpPr>
        <p:spPr>
          <a:xfrm>
            <a:off x="4961224" y="1463039"/>
            <a:ext cx="826928" cy="219456"/>
          </a:xfrm>
          <a:prstGeom prst="roundRect">
            <a:avLst>
              <a:gd name="adj" fmla="val 50000"/>
            </a:avLst>
          </a:prstGeom>
          <a:solidFill>
            <a:srgbClr val="111111"/>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FFFFFF"/>
                </a:solidFill>
                <a:latin typeface="Google Sans Flex"/>
              </a:rPr>
              <a:t>CART</a:t>
            </a:r>
          </a:p>
        </p:txBody>
      </p:sp>
      <p:sp>
        <p:nvSpPr>
          <p:cNvPr id="166" name="TextBox 165"/>
          <p:cNvSpPr txBox="1"/>
          <p:nvPr/>
        </p:nvSpPr>
        <p:spPr>
          <a:xfrm>
            <a:off x="3355848" y="2029967"/>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Flipkart</a:t>
            </a:r>
          </a:p>
        </p:txBody>
      </p:sp>
      <p:sp>
        <p:nvSpPr>
          <p:cNvPr id="167" name="TextBox 166"/>
          <p:cNvSpPr txBox="1"/>
          <p:nvPr/>
        </p:nvSpPr>
        <p:spPr>
          <a:xfrm>
            <a:off x="3355848" y="2322576"/>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Reached the cart: a ₹10 platform fee the product page didn't show, sent for review. Later visits got an error page.</a:t>
            </a:r>
          </a:p>
        </p:txBody>
      </p:sp>
      <p:sp>
        <p:nvSpPr>
          <p:cNvPr id="168" name="Rounded Rectangle 167"/>
          <p:cNvSpPr/>
          <p:nvPr/>
        </p:nvSpPr>
        <p:spPr>
          <a:xfrm>
            <a:off x="6144768" y="1325880"/>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ounded Rectangle 168"/>
          <p:cNvSpPr/>
          <p:nvPr/>
        </p:nvSpPr>
        <p:spPr>
          <a:xfrm>
            <a:off x="6099048" y="1280160"/>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ounded Rectangle 169"/>
          <p:cNvSpPr/>
          <p:nvPr/>
        </p:nvSpPr>
        <p:spPr>
          <a:xfrm>
            <a:off x="6272784" y="1463039"/>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ounded Rectangle 170"/>
          <p:cNvSpPr/>
          <p:nvPr/>
        </p:nvSpPr>
        <p:spPr>
          <a:xfrm>
            <a:off x="6245352" y="1435607"/>
            <a:ext cx="475488" cy="475488"/>
          </a:xfrm>
          <a:prstGeom prst="roundRect">
            <a:avLst>
              <a:gd name="adj" fmla="val 24000"/>
            </a:avLst>
          </a:prstGeom>
          <a:solidFill>
            <a:srgbClr val="C4B5FD"/>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2" name="Picture 171" descr="l-calendar-clock-ink.png"/>
          <p:cNvPicPr>
            <a:picLocks noChangeAspect="1"/>
          </p:cNvPicPr>
          <p:nvPr/>
        </p:nvPicPr>
        <p:blipFill>
          <a:blip r:embed="rId7"/>
          <a:stretch>
            <a:fillRect/>
          </a:stretch>
        </p:blipFill>
        <p:spPr>
          <a:xfrm>
            <a:off x="6340449" y="1530705"/>
            <a:ext cx="285292" cy="285292"/>
          </a:xfrm>
          <a:prstGeom prst="rect">
            <a:avLst/>
          </a:prstGeom>
        </p:spPr>
      </p:pic>
      <p:sp>
        <p:nvSpPr>
          <p:cNvPr id="173" name="Rounded Rectangle 172"/>
          <p:cNvSpPr/>
          <p:nvPr/>
        </p:nvSpPr>
        <p:spPr>
          <a:xfrm>
            <a:off x="7850728" y="1463039"/>
            <a:ext cx="826928" cy="219456"/>
          </a:xfrm>
          <a:prstGeom prst="roundRect">
            <a:avLst>
              <a:gd name="adj" fmla="val 50000"/>
            </a:avLst>
          </a:prstGeom>
          <a:solidFill>
            <a:srgbClr val="111111"/>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FFFFFF"/>
                </a:solidFill>
                <a:latin typeface="Google Sans Flex"/>
              </a:rPr>
              <a:t>SOLD OUT</a:t>
            </a:r>
          </a:p>
        </p:txBody>
      </p:sp>
      <p:sp>
        <p:nvSpPr>
          <p:cNvPr id="174" name="TextBox 173"/>
          <p:cNvSpPr txBox="1"/>
          <p:nvPr/>
        </p:nvSpPr>
        <p:spPr>
          <a:xfrm>
            <a:off x="6245352" y="2029967"/>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Blinkit</a:t>
            </a:r>
          </a:p>
        </p:txBody>
      </p:sp>
      <p:sp>
        <p:nvSpPr>
          <p:cNvPr id="175" name="TextBox 174"/>
          <p:cNvSpPr txBox="1"/>
          <p:nvPr/>
        </p:nvSpPr>
        <p:spPr>
          <a:xfrm>
            <a:off x="6245352" y="2322576"/>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The product was out of stock, so the agent stopped instead of adding a similar one.</a:t>
            </a:r>
          </a:p>
        </p:txBody>
      </p:sp>
      <p:sp>
        <p:nvSpPr>
          <p:cNvPr id="176" name="Rounded Rectangle 175"/>
          <p:cNvSpPr/>
          <p:nvPr/>
        </p:nvSpPr>
        <p:spPr>
          <a:xfrm>
            <a:off x="365759" y="3136391"/>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ounded Rectangle 176"/>
          <p:cNvSpPr/>
          <p:nvPr/>
        </p:nvSpPr>
        <p:spPr>
          <a:xfrm>
            <a:off x="320040" y="3090672"/>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ounded Rectangle 177"/>
          <p:cNvSpPr/>
          <p:nvPr/>
        </p:nvSpPr>
        <p:spPr>
          <a:xfrm>
            <a:off x="493776" y="32735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ounded Rectangle 178"/>
          <p:cNvSpPr/>
          <p:nvPr/>
        </p:nvSpPr>
        <p:spPr>
          <a:xfrm>
            <a:off x="466344" y="3246120"/>
            <a:ext cx="475488" cy="475488"/>
          </a:xfrm>
          <a:prstGeom prst="roundRect">
            <a:avLst>
              <a:gd name="adj" fmla="val 24000"/>
            </a:avLst>
          </a:prstGeom>
          <a:solidFill>
            <a:srgbClr val="FF5CA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0" name="Picture 179" descr="l-puzzle-ink.png"/>
          <p:cNvPicPr>
            <a:picLocks noChangeAspect="1"/>
          </p:cNvPicPr>
          <p:nvPr/>
        </p:nvPicPr>
        <p:blipFill>
          <a:blip r:embed="rId8"/>
          <a:stretch>
            <a:fillRect/>
          </a:stretch>
        </p:blipFill>
        <p:spPr>
          <a:xfrm>
            <a:off x="561441" y="3341217"/>
            <a:ext cx="285292" cy="285292"/>
          </a:xfrm>
          <a:prstGeom prst="rect">
            <a:avLst/>
          </a:prstGeom>
        </p:spPr>
      </p:pic>
      <p:sp>
        <p:nvSpPr>
          <p:cNvPr id="181" name="Rounded Rectangle 180"/>
          <p:cNvSpPr/>
          <p:nvPr/>
        </p:nvSpPr>
        <p:spPr>
          <a:xfrm>
            <a:off x="2071720" y="3273552"/>
            <a:ext cx="826928" cy="219456"/>
          </a:xfrm>
          <a:prstGeom prst="roundRect">
            <a:avLst>
              <a:gd name="adj" fmla="val 5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111111"/>
                </a:solidFill>
                <a:latin typeface="Google Sans Flex"/>
              </a:rPr>
              <a:t>EMPTY</a:t>
            </a:r>
          </a:p>
        </p:txBody>
      </p:sp>
      <p:sp>
        <p:nvSpPr>
          <p:cNvPr id="182" name="TextBox 181"/>
          <p:cNvSpPr txBox="1"/>
          <p:nvPr/>
        </p:nvSpPr>
        <p:spPr>
          <a:xfrm>
            <a:off x="466344" y="3840480"/>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Zepto</a:t>
            </a:r>
          </a:p>
        </p:txBody>
      </p:sp>
      <p:sp>
        <p:nvSpPr>
          <p:cNvPr id="183" name="TextBox 182"/>
          <p:cNvSpPr txBox="1"/>
          <p:nvPr/>
        </p:nvSpPr>
        <p:spPr>
          <a:xfrm>
            <a:off x="466344" y="4133087"/>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Served our browser an empty product page. The audit reports that it could not check the page.</a:t>
            </a:r>
          </a:p>
        </p:txBody>
      </p:sp>
      <p:sp>
        <p:nvSpPr>
          <p:cNvPr id="184" name="Rounded Rectangle 183"/>
          <p:cNvSpPr/>
          <p:nvPr/>
        </p:nvSpPr>
        <p:spPr>
          <a:xfrm>
            <a:off x="3255264" y="3136391"/>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ounded Rectangle 184"/>
          <p:cNvSpPr/>
          <p:nvPr/>
        </p:nvSpPr>
        <p:spPr>
          <a:xfrm>
            <a:off x="3209544" y="3090672"/>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ounded Rectangle 185"/>
          <p:cNvSpPr/>
          <p:nvPr/>
        </p:nvSpPr>
        <p:spPr>
          <a:xfrm>
            <a:off x="3383280" y="32735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ounded Rectangle 186"/>
          <p:cNvSpPr/>
          <p:nvPr/>
        </p:nvSpPr>
        <p:spPr>
          <a:xfrm>
            <a:off x="3355848" y="3246120"/>
            <a:ext cx="475488" cy="475488"/>
          </a:xfrm>
          <a:prstGeom prst="roundRect">
            <a:avLst>
              <a:gd name="adj" fmla="val 24000"/>
            </a:avLst>
          </a:prstGeom>
          <a:solidFill>
            <a:srgbClr val="4ADE9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8" name="Picture 187" descr="l-layout-dashboard-ink.png"/>
          <p:cNvPicPr>
            <a:picLocks noChangeAspect="1"/>
          </p:cNvPicPr>
          <p:nvPr/>
        </p:nvPicPr>
        <p:blipFill>
          <a:blip r:embed="rId9"/>
          <a:stretch>
            <a:fillRect/>
          </a:stretch>
        </p:blipFill>
        <p:spPr>
          <a:xfrm>
            <a:off x="3450945" y="3341217"/>
            <a:ext cx="285292" cy="285292"/>
          </a:xfrm>
          <a:prstGeom prst="rect">
            <a:avLst/>
          </a:prstGeom>
        </p:spPr>
      </p:pic>
      <p:sp>
        <p:nvSpPr>
          <p:cNvPr id="189" name="Rounded Rectangle 188"/>
          <p:cNvSpPr/>
          <p:nvPr/>
        </p:nvSpPr>
        <p:spPr>
          <a:xfrm>
            <a:off x="4961224" y="3273552"/>
            <a:ext cx="826928" cy="219456"/>
          </a:xfrm>
          <a:prstGeom prst="roundRect">
            <a:avLst>
              <a:gd name="adj" fmla="val 5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111111"/>
                </a:solidFill>
                <a:latin typeface="Google Sans Flex"/>
              </a:rPr>
              <a:t>REFUSED</a:t>
            </a:r>
          </a:p>
        </p:txBody>
      </p:sp>
      <p:sp>
        <p:nvSpPr>
          <p:cNvPr id="190" name="TextBox 189"/>
          <p:cNvSpPr txBox="1"/>
          <p:nvPr/>
        </p:nvSpPr>
        <p:spPr>
          <a:xfrm>
            <a:off x="3355848" y="3840480"/>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Myntra</a:t>
            </a:r>
          </a:p>
        </p:txBody>
      </p:sp>
      <p:sp>
        <p:nvSpPr>
          <p:cNvPr id="191" name="TextBox 190"/>
          <p:cNvSpPr txBox="1"/>
          <p:nvPr/>
        </p:nvSpPr>
        <p:spPr>
          <a:xfrm>
            <a:off x="3355848" y="4133087"/>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Refused the connection from an automated browser. Reported as such; the agent never gets around it.</a:t>
            </a:r>
          </a:p>
        </p:txBody>
      </p:sp>
      <p:sp>
        <p:nvSpPr>
          <p:cNvPr id="192" name="Rounded Rectangle 191"/>
          <p:cNvSpPr/>
          <p:nvPr/>
        </p:nvSpPr>
        <p:spPr>
          <a:xfrm>
            <a:off x="6144768" y="3136391"/>
            <a:ext cx="2724912" cy="1664208"/>
          </a:xfrm>
          <a:prstGeom prst="roundRect">
            <a:avLst>
              <a:gd name="adj" fmla="val 659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3" name="Rounded Rectangle 192"/>
          <p:cNvSpPr/>
          <p:nvPr/>
        </p:nvSpPr>
        <p:spPr>
          <a:xfrm>
            <a:off x="6099048" y="3090672"/>
            <a:ext cx="2724912" cy="1664208"/>
          </a:xfrm>
          <a:prstGeom prst="roundRect">
            <a:avLst>
              <a:gd name="adj" fmla="val 6593"/>
            </a:avLst>
          </a:prstGeom>
          <a:solidFill>
            <a:srgbClr val="FFFFFF"/>
          </a:solidFill>
          <a:ln w="190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Rounded Rectangle 193"/>
          <p:cNvSpPr/>
          <p:nvPr/>
        </p:nvSpPr>
        <p:spPr>
          <a:xfrm>
            <a:off x="6272784" y="3273551"/>
            <a:ext cx="475488" cy="475488"/>
          </a:xfrm>
          <a:prstGeom prst="roundRect">
            <a:avLst>
              <a:gd name="adj" fmla="val 24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Rounded Rectangle 194"/>
          <p:cNvSpPr/>
          <p:nvPr/>
        </p:nvSpPr>
        <p:spPr>
          <a:xfrm>
            <a:off x="6245352" y="3246120"/>
            <a:ext cx="475488" cy="475488"/>
          </a:xfrm>
          <a:prstGeom prst="roundRect">
            <a:avLst>
              <a:gd name="adj" fmla="val 24000"/>
            </a:avLst>
          </a:prstGeom>
          <a:solidFill>
            <a:srgbClr val="FFB38A"/>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6" name="Picture 195" descr="l-languages-ink.png"/>
          <p:cNvPicPr>
            <a:picLocks noChangeAspect="1"/>
          </p:cNvPicPr>
          <p:nvPr/>
        </p:nvPicPr>
        <p:blipFill>
          <a:blip r:embed="rId10"/>
          <a:stretch>
            <a:fillRect/>
          </a:stretch>
        </p:blipFill>
        <p:spPr>
          <a:xfrm>
            <a:off x="6340449" y="3341217"/>
            <a:ext cx="285292" cy="285292"/>
          </a:xfrm>
          <a:prstGeom prst="rect">
            <a:avLst/>
          </a:prstGeom>
        </p:spPr>
      </p:pic>
      <p:sp>
        <p:nvSpPr>
          <p:cNvPr id="197" name="Rounded Rectangle 196"/>
          <p:cNvSpPr/>
          <p:nvPr/>
        </p:nvSpPr>
        <p:spPr>
          <a:xfrm>
            <a:off x="7850728" y="3273552"/>
            <a:ext cx="826928" cy="219456"/>
          </a:xfrm>
          <a:prstGeom prst="roundRect">
            <a:avLst>
              <a:gd name="adj" fmla="val 50000"/>
            </a:avLst>
          </a:prstGeom>
          <a:solidFill>
            <a:srgbClr val="FFFFFF"/>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800" b="1">
                <a:solidFill>
                  <a:srgbClr val="111111"/>
                </a:solidFill>
                <a:latin typeface="Google Sans Flex"/>
              </a:rPr>
              <a:t>BOT WALL</a:t>
            </a:r>
          </a:p>
        </p:txBody>
      </p:sp>
      <p:sp>
        <p:nvSpPr>
          <p:cNvPr id="198" name="TextBox 197"/>
          <p:cNvSpPr txBox="1"/>
          <p:nvPr/>
        </p:nvSpPr>
        <p:spPr>
          <a:xfrm>
            <a:off x="6245352" y="3840480"/>
            <a:ext cx="2450592" cy="274320"/>
          </a:xfrm>
          <a:prstGeom prst="rect">
            <a:avLst/>
          </a:prstGeom>
          <a:noFill/>
        </p:spPr>
        <p:txBody>
          <a:bodyPr wrap="square" lIns="0" rIns="0" tIns="0" bIns="0" anchor="t">
            <a:noAutofit/>
          </a:bodyPr>
          <a:lstStyle/>
          <a:p>
            <a:pPr algn="l">
              <a:lnSpc>
                <a:spcPct val="100000"/>
              </a:lnSpc>
              <a:spcAft>
                <a:spcPts val="0"/>
              </a:spcAft>
            </a:pPr>
            <a:r>
              <a:rPr sz="1200" b="1">
                <a:solidFill>
                  <a:srgbClr val="111111"/>
                </a:solidFill>
                <a:latin typeface="Google Sans Flex"/>
              </a:rPr>
              <a:t>Meesho</a:t>
            </a:r>
          </a:p>
        </p:txBody>
      </p:sp>
      <p:sp>
        <p:nvSpPr>
          <p:cNvPr id="199" name="TextBox 198"/>
          <p:cNvSpPr txBox="1"/>
          <p:nvPr/>
        </p:nvSpPr>
        <p:spPr>
          <a:xfrm>
            <a:off x="6245352" y="4133087"/>
            <a:ext cx="2450592" cy="594360"/>
          </a:xfrm>
          <a:prstGeom prst="rect">
            <a:avLst/>
          </a:prstGeom>
          <a:noFill/>
        </p:spPr>
        <p:txBody>
          <a:bodyPr wrap="square" lIns="0" rIns="0" tIns="0" bIns="0" anchor="t">
            <a:noAutofit/>
          </a:bodyPr>
          <a:lstStyle/>
          <a:p>
            <a:pPr algn="l">
              <a:lnSpc>
                <a:spcPct val="105000"/>
              </a:lnSpc>
              <a:spcAft>
                <a:spcPts val="0"/>
              </a:spcAft>
            </a:pPr>
            <a:r>
              <a:rPr sz="950" b="0">
                <a:solidFill>
                  <a:srgbClr val="3C4043"/>
                </a:solidFill>
                <a:latin typeface="Google Sans Flex"/>
              </a:rPr>
              <a:t>Bot protection stopped the agent on the first page. Reported as such, never as clean.</a:t>
            </a:r>
          </a:p>
        </p:txBody>
      </p:sp>
      <p:sp>
        <p:nvSpPr>
          <p:cNvPr id="250" name="Takeaway"/>
          <p:cNvSpPr txBox="1"/>
          <p:nvPr/>
        </p:nvSpPr>
        <p:spPr>
          <a:xfrm>
            <a:off x="320040" y="4815840"/>
            <a:ext cx="8549640" cy="247650"/>
          </a:xfrm>
          <a:prstGeom prst="rect">
            <a:avLst/>
          </a:prstGeom>
          <a:noFill/>
        </p:spPr>
        <p:txBody>
          <a:bodyPr wrap="square" lIns="0" rIns="0" tIns="0" bIns="0" anchor="t">
            <a:noAutofit/>
          </a:bodyPr>
          <a:lstStyle/>
          <a:p>
            <a:pPr algn="l">
              <a:lnSpc>
                <a:spcPct val="105000"/>
              </a:lnSpc>
              <a:spcAft>
                <a:spcPts val="0"/>
              </a:spcAft>
            </a:pPr>
            <a:r>
              <a:rPr sz="950" b="1">
                <a:solidFill>
                  <a:srgbClr val="111111"/>
                </a:solidFill>
                <a:latin typeface="Google Sans Flex"/>
              </a:rPr>
              <a:t>One product per site, logged out. Next: a platform-side pilot to reach checkout before release.</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