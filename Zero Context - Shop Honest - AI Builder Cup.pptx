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73" r:id="rId29"/>
    <p:sldId id="270" r:id="rId20"/>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  <Relationship Id="rId28" Type="http://schemas.openxmlformats.org/officeDocument/2006/relationships/slide" Target="slides/slide17.xml"/>
  <Relationship Id="rId29" Type="http://schemas.openxmlformats.org/officeDocument/2006/relationships/slide" Target="slides/slide18.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9"/>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Zero Context: Saubhagya Ashish (leader) and Suvojit Konar. Shop Honest: AI agents shop an online store like a real customer and report every dark pattern with evidence, the rule it breaks, what it costs the shopper and a fix.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dark patterns make shoppers pay more than the price they saw. In our demo store the page says ₹1,499 and payment asks ₹1,894. ASCI found deceptive design in 52 of the top 53 Indian apps (2024); CCPA's 2023 guidelines ban 13 patterns. In November 2025, 26 platforms declared themselves free of dark patterns; in August 2026 CCPA fined nine platforms, including Zepto, one of the 26. Self-declaration isn't enough. Idea: Shop Honest's agents walk product → variant → cart → checkout → payment like a shopper and report each trick with screenshot evidence, the rule, the money impact and a fix, then prove the fix worked.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a whole-journey, measured audit in a real browser, not a single-page or text scan, and it doesn't stop at finding: it fixes and re-audits. Solves: platforms get a real self-audit instead of a self-declaration, regulators and consumer groups get evidence at scale, shoppers see the real price. USP: every claim is grounded on a measured element and double-checked by an agent with tools; findings come with ₹ impact, law and fixes; a page it couldn't check is 'not checked', never 'clean'. Proof: 9/9 tricks, 0 false alarms, 9/9 fixes verified, F1 0.959 zero-shot.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Eight features: the live walkthrough; measured checks; the Price Historian on BigQuery; the ADK agent graph, where Gemini reads each screen and an Adjudicator agent checks evidence with tools; Fix it, which proposes a fix per finding, projects the impact and verifies it on a copy of the store; the real bill; the law in 7 regions plus a 13-pattern CCPA self-audit PDF; and reports for any public store, logged out.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screens: start an audit, watch the agents shop live, and read the report. These are screenshots of the deployed product, not mock-ups.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Firebase Hosting serves the React app and the demo stores, and proxies /api to Cloud Run (FastAPI). The live event stream goes straight to Cloud Run because Hosting buffers streams. Each audit runs a Playwright Chromium navigator and an ADK agent graph on Gemini via Vertex AI (gemini-3.6-flash, falling back to gemini-3.1-flash-lite): the Pattern Analyst, the Adjudicator with evidence tools, and the Fixer. Firestore keeps audits and a resumable event log, Cloud Storage the screenshots, BigQuery the price history. Cloud Build and Artifact Registry ship images; Cloud Monitoring and billing budgets watch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AI: Gemini 3.6 Flash on Vertex AI through Google's Agent Development Kit, run as an agent graph with tools; Gemma 3 4B via Ollama for offline development. Google Cloud: Cloud Run, Firestore, Cloud Storage, BigQuery, Cloud Build, Artifact Registry, Cloud Monitoring, Billing budgets, Firebase Hosting. App: Python 3.12, FastAPI, Playwright, Pydantic, React 19, TypeScript, Vite, Tailwind, three.js.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live audit of Store A uses about 21k input and 5k output tokens on Gemini 3.6 Flash (measured) and about 30 s of Cloud Run. The rupee figures are estimates: about ₹2 per live audit was measured on 3.8 Flash. Replays, and Fix it on a replay, cost nothing; verifying fixes is one live audit. Cloud Run scales to zero when idle. Guardrails: a 100-a-day live cap, per-audit token, call and time budgets, budget alerts.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Snapshots of the deployed product: the report's verdict (trust score, overcharge, fine risk), the bill shoppers actually get, one finding's evidence (the countdown restarts on reload), and a real store audited logged out that stops honestly at the sign-in wall.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Planted tricks: 9/9 on the rigged store with the borderline claim sent to review, 0 false alarms on the honest store, 6/6 before the sign-in wall (gemini-3.6-flash, agent graph on, repeated 15–16 Oct). Public dataset (ec-darkpattern, Yada et al. 2022, 2,356 texts): zero-shot F1 0.959 with precision 0.997 (3 false alarms), against 0.960–0.975 for models trained on it. Ablation on Store A: measured checks 6/9, with Gemma 3 4B 8/9, with Gemini 3.6 Flash 9/9, in about 27 s. Fix it: with every fix applied to a copy of Store A, the re-audit found 9 of 9 gone, trust 16 → 100, ₹1,894 → ₹1,596.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Next: audit all 26 self-declared platforms logged out (we scouted six: two reach the cart, the rest block automated browsers, and we report that honestly), logged-in journeys with test accounts in Secret Manager, nightly re-audits and a CI check. Later: a shopper browser extension, a regulator dashboard on BigQuery and Looker Studio, mobile apps and Indian-language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https://github.com/saubhagyaashish/shop-honest. Final product: https://shop-honest-ai.web.app. Demo video: add the 3-minute video link.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shop-honest-ai.web.app.</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Fix it, on the finished report. The Fixer proposes a fix for each finding as a change to the store's own settings, each checked against the kinds of dark pattern that setting can fix. Switching fixes on moves the projected numbers: trust score, hidden extras, the fine ceiling and the CCPA patterns found. Verify then applies them to a copy of the store in the auditor's own browser and audits the copy live: on Gemini, 9 of 9 fixes verified, trust score 16 → 100, the shopper pays ₹1,596 instead of ₹1,894. Real sites are never changed; their developers get the fix list and a re-audit.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Six of the 26 platforms that declared themselves free of dark patterns in November 2025, audited logged out on 16 October 2026. Tata 1mg and Flipkart reached the cart, and each fee the product page didn't show was sent for human review, not asserted. Blinkit's product was out of stock. Zepto, which the CCPA fined in August 2026, served our browser an empty page; Myntra refused the connection; Meesho's bot protection stopped the agent. None was called clean. The lesson: outside audits get blocked, and the tricks the CCPA fined sit behind sign-in, so the audit belongs on the platform's side, before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hyperlink" Target="https://shop-honest-ai.web.ap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image" Target="../media/image75.png"/><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21.png"/><Relationship Id="rId11" Type="http://schemas.openxmlformats.org/officeDocument/2006/relationships/image" Target="../media/image12.png"/><Relationship Id="rId12" Type="http://schemas.openxmlformats.org/officeDocument/2006/relationships/image" Target="../media/image17.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13.png"/><Relationship Id="rId16" Type="http://schemas.openxmlformats.org/officeDocument/2006/relationships/image" Target="../media/image24.png"/><Relationship Id="rId17"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7.png"/><Relationship Id="rId6" Type="http://schemas.openxmlformats.org/officeDocument/2006/relationships/image" Target="../media/image27.png"/><Relationship Id="rId7" Type="http://schemas.openxmlformats.org/officeDocument/2006/relationships/image" Target="../media/image78.png"/><Relationship Id="rId8" Type="http://schemas.openxmlformats.org/officeDocument/2006/relationships/image" Target="../media/image16.png"/><Relationship Id="rId9" Type="http://schemas.openxmlformats.org/officeDocument/2006/relationships/hyperlink" Target="https://shop-honest-ai.web.ap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22.png"/><Relationship Id="rId10" Type="http://schemas.openxmlformats.org/officeDocument/2006/relationships/image" Target="../media/image17.png"/><Relationship Id="rId11" Type="http://schemas.openxmlformats.org/officeDocument/2006/relationships/image" Target="../media/image33.png"/><Relationship Id="rId12" Type="http://schemas.openxmlformats.org/officeDocument/2006/relationships/image" Target="../media/image20.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1.png"/><Relationship Id="rId8" Type="http://schemas.openxmlformats.org/officeDocument/2006/relationships/image" Target="../media/image31.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0.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44.png"/><Relationship Id="rId20" Type="http://schemas.openxmlformats.org/officeDocument/2006/relationships/image" Target="../media/image45.png"/><Relationship Id="rId21" Type="http://schemas.openxmlformats.org/officeDocument/2006/relationships/image" Target="../media/image46.png"/><Relationship Id="rId22" Type="http://schemas.openxmlformats.org/officeDocument/2006/relationships/image" Target="../media/image47.png"/><Relationship Id="rId23" Type="http://schemas.openxmlformats.org/officeDocument/2006/relationships/image" Target="../media/image48.png"/><Relationship Id="rId24" Type="http://schemas.openxmlformats.org/officeDocument/2006/relationships/image" Target="../media/image49.png"/><Relationship Id="rId25"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9.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8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6.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github.com/saubhagyaashish/shop-honest" TargetMode="External"/><Relationship Id="rId8" Type="http://schemas.openxmlformats.org/officeDocument/2006/relationships/image" Target="../media/image69.png"/><Relationship Id="rId9" Type="http://schemas.openxmlformats.org/officeDocument/2006/relationships/image" Target="../media/image16.png"/><Relationship Id="rId10" Type="http://schemas.openxmlformats.org/officeDocument/2006/relationships/image" Target="../media/image20.png"/><Relationship Id="rId11" Type="http://schemas.openxmlformats.org/officeDocument/2006/relationships/image" Target="../media/image70.png"/><Relationship Id="rId12" Type="http://schemas.openxmlformats.org/officeDocument/2006/relationships/hyperlink" Target="https://shop-honest-ai.web.app"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1.png"/><Relationship Id="rId6"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3.png"/><Relationship Id="rId6" Type="http://schemas.openxmlformats.org/officeDocument/2006/relationships/image" Target="../media/image74.png"/><Relationship Id="rId9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1.png"/><Relationship Id="rId9" Type="http://schemas.openxmlformats.org/officeDocument/2006/relationships/image" Target="../media/image51.png"/><Relationship Id="rId10" Type="http://schemas.openxmlformats.org/officeDocument/2006/relationships/image" Target="../media/image21.png"/><Relationship Id="rId9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Team member: </a:t>
            </a:r>
            <a:r>
              <a:rPr sz="1300">
                <a:solidFill>
                  <a:srgbClr val="111111"/>
                </a:solidFill>
                <a:latin typeface="Google Sans Flex"/>
              </a:rPr>
              <a:t>Suvojit Konar</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Online stores use dark patterns (fake countdowns, items sneaked into the cart, fees revealed only at payment). India's CCPA bans 13 of them and fines platforms that use them. 26 platforms self-declared compliance, yet nobody audits the whole journey the way a shopper meets it.</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rIns="0" t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Found, fixed and proven</a:t>
            </a:r>
          </a:p>
        </p:txBody>
      </p:sp>
      <p:sp>
        <p:nvSpPr>
          <p:cNvPr id="62" name="TextBox 61"/>
          <p:cNvSpPr txBox="1"/>
          <p:nvPr/>
        </p:nvSpPr>
        <p:spPr>
          <a:xfrm>
            <a:off x="6327648" y="4572000"/>
            <a:ext cx="2377440" cy="182880"/>
          </a:xfrm>
          <a:prstGeom prst="rect">
            <a:avLst/>
          </a:prstGeom>
          <a:noFill/>
        </p:spPr>
        <p:txBody>
          <a:bodyPr wrap="square" lIns="0" rIns="0" t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rIns="0" t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rIns="0" tIns="0" bIns="0" anchor="t">
            <a:noAutofit/>
          </a:bodyPr>
          <a:lstStyle/>
          <a:p>
            <a:pPr algn="l">
              <a:lnSpc>
                <a:spcPct val="108000"/>
              </a:lnSpc>
              <a:spcAft>
                <a:spcPts val="0"/>
              </a:spcAft>
            </a:pPr>
            <a:r>
              <a:rPr sz="1050" b="0">
                <a:solidFill>
                  <a:srgbClr val="E8EAED"/>
                </a:solidFill>
                <a:latin typeface="Google Sans Flex"/>
              </a:rPr>
              <a:t>Our rigged test store, 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top Indian apps use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Nov 2025 · one, Zepto, was fined in Aug 2026</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rIns="0" tIns="0" bIns="0" anchor="t">
            <a:noAutofit/>
          </a:bodyPr>
          <a:lstStyle/>
          <a:p>
            <a:pPr algn="l">
              <a:lnSpc>
                <a:spcPct val="95000"/>
              </a:lnSpc>
              <a:spcAft>
                <a:spcPts val="0"/>
              </a:spcAft>
            </a:pPr>
            <a:r>
              <a:rPr sz="1900" b="1">
                <a:solidFill>
                  <a:srgbClr val="111111"/>
                </a:solidFill>
                <a:latin typeface="Google Sans Flex"/>
              </a:rPr>
              <a:t>AI agents shop your store like a real customer, and fix what they find.</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rIns="0" t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The exact rule broken</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is it different from existing ideas?</a:t>
            </a:r>
          </a:p>
        </p:txBody>
      </p:sp>
      <p:sp>
        <p:nvSpPr>
          <p:cNvPr id="88" name="TextBox 87"/>
          <p:cNvSpPr txBox="1"/>
          <p:nvPr/>
        </p:nvSpPr>
        <p:spPr>
          <a:xfrm>
            <a:off x="46634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product to payment, instead of scanning one page or one piece of text.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applies each fix to a copy of the store and audits it again.</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will it solve the problem?</a:t>
            </a:r>
          </a:p>
        </p:txBody>
      </p:sp>
      <p:sp>
        <p:nvSpPr>
          <p:cNvPr id="97" name="TextBox 96"/>
          <p:cNvSpPr txBox="1"/>
          <p:nvPr/>
        </p:nvSpPr>
        <p:spPr>
          <a:xfrm>
            <a:off x="334670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Who pays: </a:t>
            </a:r>
            <a:r>
              <a:rPr sz="1050" b="0">
                <a:solidFill>
                  <a:srgbClr val="111111"/>
                </a:solidFill>
                <a:latin typeface="Google Sans Flex"/>
              </a:rPr>
              <a:t>platforms, per monitored product; consumer groups and regulators use it free.</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USP of the proposed solution</a:t>
            </a:r>
          </a:p>
        </p:txBody>
      </p:sp>
      <p:sp>
        <p:nvSpPr>
          <p:cNvPr id="106" name="TextBox 105"/>
          <p:cNvSpPr txBox="1"/>
          <p:nvPr/>
        </p:nvSpPr>
        <p:spPr>
          <a:xfrm>
            <a:off x="622706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"+₹395 per order", the rule broken in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rIns="0" t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tricks caught  ·  </a:t>
            </a:r>
            <a:r>
              <a:rPr sz="1050" b="1">
                <a:solidFill>
                  <a:srgbClr val="111111"/>
                </a:solidFill>
                <a:latin typeface="Google Sans Flex"/>
              </a:rPr>
              <a:t>0</a:t>
            </a:r>
            <a:r>
              <a:rPr sz="1050" b="0">
                <a:solidFill>
                  <a:srgbClr val="111111"/>
                </a:solidFill>
                <a:latin typeface="Google Sans Flex"/>
              </a:rPr>
              <a:t> false alarms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on 2,356 public texts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fix for each finding; watch the score move, then verify it on a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rule broken in India and 6 more regions;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free replays.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rIns="0" t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an ADK agent graph: measure first, then Gemini judges, then an agent re-checks with tools</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rIns="0" t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port, then Fix it"/>
          <p:cNvPicPr>
            <a:picLocks noChangeAspect="1"/>
          </p:cNvPicPr>
          <p:nvPr/>
        </p:nvPicPr>
        <p:blipFill>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Get the report, then Fix it</a:t>
            </a:r>
          </a:p>
        </p:txBody>
      </p:sp>
      <p:sp>
        <p:nvSpPr>
          <p:cNvPr id="138" name="TextBox 137"/>
          <p:cNvSpPr txBox="1"/>
          <p:nvPr/>
        </p:nvSpPr>
        <p:spPr>
          <a:xfrm>
            <a:off x="6623303"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free recorded runs, or a live run with Gemini</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Shopper / judge</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rIns="0" t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rIns="0" t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rIns="0" t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(tools) · Fixer</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end to end</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PER LIVE AUDIT</a:t>
            </a:r>
          </a:p>
        </p:txBody>
      </p:sp>
      <p:sp>
        <p:nvSpPr>
          <p:cNvPr id="131" name="TextBox 130"/>
          <p:cNvSpPr txBox="1"/>
          <p:nvPr/>
        </p:nvSpPr>
        <p:spPr>
          <a:xfrm>
            <a:off x="548640" y="1572768"/>
            <a:ext cx="3108960" cy="731520"/>
          </a:xfrm>
          <a:prstGeom prst="rect">
            <a:avLst/>
          </a:prstGeom>
          <a:noFill/>
        </p:spPr>
        <p:txBody>
          <a:bodyPr wrap="square" lIns="0" rIns="0" t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rIns="0" tIns="0" bIns="0" anchor="t">
            <a:noAutofit/>
          </a:bodyPr>
          <a:lstStyle/>
          <a:p>
            <a:pPr algn="l">
              <a:lnSpc>
                <a:spcPct val="100000"/>
              </a:lnSpc>
              <a:spcAft>
                <a:spcPts val="0"/>
              </a:spcAft>
            </a:pPr>
            <a:r>
              <a:rPr sz="1000" b="0">
                <a:solidFill>
                  <a:srgbClr val="111111"/>
                </a:solidFill>
                <a:latin typeface="Google Sans Flex Medium"/>
              </a:rPr>
              <a:t>a full journey: 5 steps, about 30 seconds</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₹1.5–2</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~30 s on 2 vCPU</a:t>
            </a:r>
          </a:p>
        </p:txBody>
      </p:sp>
      <p:sp>
        <p:nvSpPr>
          <p:cNvPr id="138" name="TextBox 137"/>
          <p:cNvSpPr txBox="1"/>
          <p:nvPr/>
        </p:nvSpPr>
        <p:spPr>
          <a:xfrm>
            <a:off x="2697480" y="3227832"/>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&lt; ₹0.5</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paise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Replays ("Scan it")</a:t>
            </a:r>
          </a:p>
          <a:p>
            <a:pPr algn="l">
              <a:lnSpc>
                <a:spcPct val="100000"/>
              </a:lnSpc>
              <a:spcAft>
                <a:spcPts val="0"/>
              </a:spcAft>
            </a:pPr>
            <a:r>
              <a:rPr sz="800" b="0">
                <a:solidFill>
                  <a:srgbClr val="3C4043"/>
                </a:solidFill>
                <a:latin typeface="Google Sans Flex"/>
              </a:rPr>
              <a:t>recorded runs, no model</a:t>
            </a:r>
          </a:p>
        </p:txBody>
      </p:sp>
      <p:sp>
        <p:nvSpPr>
          <p:cNvPr id="144" name="TextBox 143"/>
          <p:cNvSpPr txBox="1"/>
          <p:nvPr/>
        </p:nvSpPr>
        <p:spPr>
          <a:xfrm>
            <a:off x="2697480" y="4251960"/>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₹0</a:t>
            </a:r>
          </a:p>
        </p:txBody>
      </p:sp>
      <p:sp>
        <p:nvSpPr>
          <p:cNvPr id="145" name="TextBox 144"/>
          <p:cNvSpPr txBox="1"/>
          <p:nvPr/>
        </p:nvSpPr>
        <p:spPr>
          <a:xfrm>
            <a:off x="4069079" y="1243584"/>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live audits only; idle costs ≈ ₹0 (Cloud Run scales to zero)</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regulator's sweep</a:t>
            </a:r>
          </a:p>
        </p:txBody>
      </p:sp>
      <p:sp>
        <p:nvSpPr>
          <p:cNvPr id="161" name="TextBox 160"/>
          <p:cNvSpPr txBox="1"/>
          <p:nvPr/>
        </p:nvSpPr>
        <p:spPr>
          <a:xfrm>
            <a:off x="4069079" y="3136392"/>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so a bill can't surprise anyone</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Verdict: trust score, overcharge, fine risk, Fix it</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pharmacy, logged out: 2 claims for review"/>
          <p:cNvPicPr>
            <a:picLocks noChangeAspect="1"/>
          </p:cNvPicPr>
          <p:nvPr/>
        </p:nvPicPr>
        <p:blipFill>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A real pharmacy: 2 claims for review</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live runs, 2 per store</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261360" y="1554480"/>
          <a:ext cx="2602992" cy="1508760"/>
        </p:xfrm>
        <a:graphic>
          <a:graphicData uri="http://schemas.openxmlformats.org/drawingml/2006/chart">
            <c:chart r:id="rId5"/>
          </a:graphicData>
        </a:graphic>
      </p:graphicFrame>
      <p:sp>
        <p:nvSpPr>
          <p:cNvPr id="161" name="TextBox 160"/>
          <p:cNvSpPr txBox="1"/>
          <p:nvPr/>
        </p:nvSpPr>
        <p:spPr>
          <a:xfrm>
            <a:off x="33528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in 2,356 texts. Our model never saw this dataset; the others were trained on it.</a:t>
            </a:r>
          </a:p>
        </p:txBody>
      </p:sp>
      <p:sp>
        <p:nvSpPr>
          <p:cNvPr id="162" name="TextBox 161"/>
          <p:cNvSpPr txBox="1"/>
          <p:nvPr/>
        </p:nvSpPr>
        <p:spPr>
          <a:xfrm>
            <a:off x="61112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156960" y="1554480"/>
          <a:ext cx="2602992" cy="1508760"/>
        </p:xfrm>
        <a:graphic>
          <a:graphicData uri="http://schemas.openxmlformats.org/drawingml/2006/chart">
            <c:chart r:id="rId6"/>
          </a:graphicData>
        </a:graphic>
      </p:graphicFrame>
      <p:sp>
        <p:nvSpPr>
          <p:cNvPr id="166" name="TextBox 165"/>
          <p:cNvSpPr txBox="1"/>
          <p:nvPr/>
        </p:nvSpPr>
        <p:spPr>
          <a:xfrm>
            <a:off x="62484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111111"/>
                </a:solidFill>
                <a:latin typeface="Google Sans Flex"/>
              </a:rPr>
              <a:t>~27 s</a:t>
            </a:r>
            <a:r>
              <a:rPr sz="1000" b="0">
                <a:solidFill>
                  <a:srgbClr val="111111"/>
                </a:solidFill>
                <a:latin typeface="Google Sans Flex SemiBold"/>
              </a:rPr>
              <a:t>  per audit</a:t>
            </a:r>
          </a:p>
          <a:p>
            <a:pPr algn="l">
              <a:lnSpc>
                <a:spcPct val="100000"/>
              </a:lnSpc>
              <a:spcAft>
                <a:spcPts val="0"/>
              </a:spcAft>
            </a:pPr>
            <a:r>
              <a:rPr sz="850" b="0">
                <a:solidFill>
                  <a:srgbClr val="5F6368"/>
                </a:solidFill>
                <a:latin typeface="Google Sans Flex"/>
              </a:rPr>
              <a:t>2.5 Pro, 3.1 Pro and 3.8 Flash also scored 9/9 but were slower, so 3.6 Flash runs both tiers.</a:t>
            </a:r>
          </a:p>
        </p:txBody>
      </p:sp>
      <p:sp>
        <p:nvSpPr>
          <p:cNvPr id="167" name="Rounded Rectangle 166"/>
          <p:cNvSpPr/>
          <p:nvPr/>
        </p:nvSpPr>
        <p:spPr>
          <a:xfrm>
            <a:off x="320040" y="44256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213 backend + 44 web tests · Fix it: 9/9 fixes verified on a copy · every event checked against the API contract · pre-flight 6/6</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The 26, audited</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All 26 self-declared platforms, logged out, each finding checked by a person.</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Test accounts in Secret Manager, so checkout and payment on real stores get audited too.</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Nightly re-audits with Cloud Scheduler, and a CI check that fails a deploy adding a trick.</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Demo Video Link (3 Minutes)</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play-ink.png"/>
          <p:cNvPicPr>
            <a:picLocks noChangeAspect="1"/>
          </p:cNvPicPr>
          <p:nvPr/>
        </p:nvPicPr>
        <p:blipFill>
          <a:blip r:embed="rId9"/>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5F6368"/>
                </a:solidFill>
                <a:latin typeface="Google Sans Flex SemiBold"/>
              </a:rPr>
              <a:t>add the video link here</a:t>
            </a:r>
          </a:p>
        </p:txBody>
      </p:sp>
      <p:sp>
        <p:nvSpPr>
          <p:cNvPr id="180" name="TextBox 179"/>
          <p:cNvSpPr txBox="1"/>
          <p:nvPr/>
        </p:nvSpPr>
        <p:spPr>
          <a:xfrm>
            <a:off x="334060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A 3-minute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a:blip r:embed="rId10"/>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a:blip r:embed="rId11"/>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12"/>
              </a:rPr>
              <a:t>shop-honest-ai.web.app</a:t>
            </a:r>
          </a:p>
        </p:txBody>
      </p:sp>
      <p:sp>
        <p:nvSpPr>
          <p:cNvPr id="190" name="TextBox 189"/>
          <p:cNvSpPr txBox="1"/>
          <p:nvPr/>
        </p:nvSpPr>
        <p:spPr>
          <a:xfrm>
            <a:off x="625144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300" name="Closing line"/>
          <p:cNvSpPr txBox="1"/>
          <p:nvPr/>
        </p:nvSpPr>
        <p:spPr>
          <a:xfrm>
            <a:off x="4754880" y="2148840"/>
            <a:ext cx="4114800" cy="777240"/>
          </a:xfrm>
          <a:prstGeom prst="rect">
            <a:avLst/>
          </a:prstGeom>
          <a:noFill/>
        </p:spPr>
        <p:txBody>
          <a:bodyPr wrap="square" lIns="0" tIns="0" rIns="0" bIns="0">
            <a:noAutofit/>
          </a:bodyPr>
          <a:lstStyle/>
          <a:p>
            <a:pPr algn="l">
              <a:spcAft>
                <a:spcPts val="600"/>
              </a:spcAft>
            </a:pPr>
            <a:r>
              <a:rPr sz="1300" b="1">
                <a:solidFill>
                  <a:srgbClr val="C6F432"/>
                </a:solidFill>
                <a:latin typeface="Google Sans Flex"/>
              </a:rPr>
              <a:t>Found, fixed and proven, before it costs you a CCPA fine.</a:t>
            </a:r>
          </a:p>
          <a:p>
            <a:pPr algn="l">
              <a:spcAft>
                <a:spcPts val="600"/>
              </a:spcAft>
            </a:pPr>
            <a:r>
              <a:rPr sz="1150" b="1">
                <a:solidFill>
                  <a:srgbClr val="FFFFFF"/>
                </a:solidFill>
                <a:latin typeface="Google Sans Flex"/>
              </a:rPr>
              <a:t>shop-honest-ai.web.app</a:t>
            </a:r>
          </a:p>
          <a:p>
            <a:pPr algn="l">
              <a:spcAft>
                <a:spcPts val="0"/>
              </a:spcAft>
            </a:pPr>
            <a:r>
              <a:rPr sz="1050" b="0">
                <a:solidFill>
                  <a:srgbClr val="D9D9D9"/>
                </a:solidFill>
                <a:latin typeface="Google Sans Flex"/>
              </a:rPr>
              <a:t>Team Zero Context · Saubhagya Ashish · Suvojit Konar</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Fix it</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3935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Fix it: what each fix is worth, projected</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3271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Verified on a copy: 9 of 9 gone, ₹1,894 → ₹1,596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Tested on the real platforms: 6 of the 26 self-declared</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071720"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Tata 1mg</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then its sign-in popup. A ₹12 handling charge first shown in the cart: sent for review.</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4961224"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Flipkart</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a ₹10 platform fee the product page didn't show, sent for review. Later visits got an error page.</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7850728"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SOLD OUT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Blinkit</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product was out of stock, so the agent stopped instead of adding a similar one.</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071720"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EMPTY</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Zepto</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Fined by the CCPA in Aug 2026. Served our browser an empty page: reported as not checked, never as clean.</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4961224"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REFUSED</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Myntra</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Refused the connection from an automated browser. Reported as such; the agent never gets around it.</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7850728"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BOT WALL</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Meesho</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Bot protection stopped the agent on the first page. Reported as such, never as clean.</a:t>
            </a:r>
          </a:p>
        </p:txBody>
      </p:sp>
      <p:sp>
        <p:nvSpPr>
          <p:cNvPr id="250" name="Takeaway"/>
          <p:cNvSpPr txBox="1"/>
          <p:nvPr/>
        </p:nvSpPr>
        <p:spPr>
          <a:xfrm>
            <a:off x="320040" y="4815840"/>
            <a:ext cx="8549640" cy="247650"/>
          </a:xfrm>
          <a:prstGeom prst="rect">
            <a:avLst/>
          </a:prstGeom>
          <a:noFill/>
        </p:spPr>
        <p:txBody>
          <a:bodyPr wrap="square" lIns="0" rIns="0" tIns="0" bIns="0" anchor="t">
            <a:noAutofit/>
          </a:bodyPr>
          <a:lstStyle/>
          <a:p>
            <a:pPr algn="l">
              <a:lnSpc>
                <a:spcPct val="105000"/>
              </a:lnSpc>
              <a:spcAft>
                <a:spcPts val="0"/>
              </a:spcAft>
            </a:pPr>
            <a:r>
              <a:rPr sz="950" b="1">
                <a:solidFill>
                  <a:srgbClr val="111111"/>
                </a:solidFill>
                <a:latin typeface="Google Sans Flex"/>
              </a:rPr>
              <a:t>Never once wrongly called clean. Outside audits get blocked, so the audit belongs on the platform's side, before release.</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