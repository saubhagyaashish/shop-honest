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FF5CA8"/>
              </a:solidFill>
              <a:ln w="12700">
                <a:solidFill>
                  <a:srgbClr val="111111"/>
                </a:solidFill>
              </a:ln>
            </c:spPr>
          </c:dPt>
          <c:dPt>
            <c:idx val="1"/>
            <c:spPr>
              <a:solidFill>
                <a:srgbClr val="E8EAED"/>
              </a:solidFill>
              <a:ln w="12700">
                <a:solidFill>
                  <a:srgbClr val="111111"/>
                </a:solidFill>
              </a:ln>
            </c:spPr>
          </c:dPt>
          <c:dPt>
            <c:idx val="2"/>
            <c:spPr>
              <a:solidFill>
                <a:srgbClr val="E8EAED"/>
              </a:solidFill>
              <a:ln w="12700">
                <a:solidFill>
                  <a:srgbClr val="111111"/>
                </a:solidFill>
              </a:ln>
            </c:spPr>
          </c:dPt>
          <c:dLbls>
            <c:dLbl>
              <c:idx val="0"/>
              <c:tx>
                <c:rich>
                  <a:bodyPr/>
                  <a:lstStyle/>
                  <a:p>
                    <a:r>
                      <a:rPr sz="1000" b="1">
                        <a:solidFill>
                          <a:srgbClr val="111111"/>
                        </a:solidFill>
                        <a:latin typeface="Google Sans Flex"/>
                      </a:rPr>
                      <a:t>0.962</a:t>
                    </a:r>
                  </a:p>
                </c:rich>
              </c:tx>
              <c:dLblPos val="outEnd"/>
              <c:showLegendKey val="0"/>
              <c:showVal val="1"/>
              <c:showCatName val="0"/>
              <c:showSerName val="0"/>
              <c:showPercent val="0"/>
              <c:showBubbleSize val="0"/>
            </c:dLbl>
            <c:dLbl>
              <c:idx val="1"/>
              <c:tx>
                <c:rich>
                  <a:bodyPr/>
                  <a:lstStyle/>
                  <a:p>
                    <a:r>
                      <a:rPr sz="1000" b="1">
                        <a:solidFill>
                          <a:srgbClr val="111111"/>
                        </a:solidFill>
                        <a:latin typeface="Google Sans Flex"/>
                      </a:rPr>
                      <a:t>0.975</a:t>
                    </a:r>
                  </a:p>
                </c:rich>
              </c:tx>
              <c:dLblPos val="outEnd"/>
              <c:showLegendKey val="0"/>
              <c:showVal val="1"/>
              <c:showCatName val="0"/>
              <c:showSerName val="0"/>
              <c:showPercent val="0"/>
              <c:showBubbleSize val="0"/>
            </c:dLbl>
            <c:dLbl>
              <c:idx val="2"/>
              <c:tx>
                <c:rich>
                  <a:bodyPr/>
                  <a:lstStyle/>
                  <a:p>
                    <a:r>
                      <a:rPr sz="1000" b="1">
                        <a:solidFill>
                          <a:srgbClr val="111111"/>
                        </a:solidFill>
                        <a:latin typeface="Google Sans Flex"/>
                      </a:rPr>
                      <a:t>0.960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Shop Honest
(zero-shot)</c:v>
                </c:pt>
                <c:pt idx="1">
                  <c:v>RoBERTa-large
(trained on it)</c:v>
                </c:pt>
                <c:pt idx="2">
                  <c:v>Logistic reg.
(trained on it)</c:v>
                </c:pt>
              </c:strCache>
            </c:strRef>
          </c:cat>
          <c:val>
            <c:numRef>
              <c:f>Sheet1!$B$2:$B$4</c:f>
              <c:numCache>
                <c:formatCode>General</c:formatCode>
                <c:ptCount val="3"/>
                <c:pt idx="0">
                  <c:v>0.962</c:v>
                </c:pt>
                <c:pt idx="1">
                  <c:v>0.975</c:v>
                </c:pt>
                <c:pt idx="2">
                  <c:v>0.96</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111111"/>
            </a:solidFill>
          </a:ln>
        </c:spPr>
        <c:txPr>
          <a:bodyPr/>
          <a:lstStyle/>
          <a:p>
            <a:pPr>
              <a:defRPr sz="800">
                <a:latin typeface="Google Sans Flex"/>
              </a:defRPr>
            </a:pPr>
          </a:p>
        </c:txPr>
        <c:crossAx val="-2113994440"/>
        <c:crosses val="autoZero"/>
        <c:auto val="1"/>
        <c:lblAlgn val="ctr"/>
        <c:lblOffset val="100"/>
        <c:noMultiLvlLbl val="0"/>
      </c:catAx>
      <c:valAx>
        <c:axId val="-2113994440"/>
        <c:scaling>
          <c:max val="1.0"/>
          <c:min val="0.9"/>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E8EAED"/>
              </a:solidFill>
              <a:ln w="12700">
                <a:solidFill>
                  <a:srgbClr val="111111"/>
                </a:solidFill>
              </a:ln>
            </c:spPr>
          </c:dPt>
          <c:dPt>
            <c:idx val="1"/>
            <c:spPr>
              <a:solidFill>
                <a:srgbClr val="C4B5FD"/>
              </a:solidFill>
              <a:ln w="12700">
                <a:solidFill>
                  <a:srgbClr val="111111"/>
                </a:solidFill>
              </a:ln>
            </c:spPr>
          </c:dPt>
          <c:dPt>
            <c:idx val="2"/>
            <c:spPr>
              <a:solidFill>
                <a:srgbClr val="C6F432"/>
              </a:solidFill>
              <a:ln w="12700">
                <a:solidFill>
                  <a:srgbClr val="111111"/>
                </a:solidFill>
              </a:ln>
            </c:spPr>
          </c:dPt>
          <c:dLbls>
            <c:dLbl>
              <c:idx val="0"/>
              <c:tx>
                <c:rich>
                  <a:bodyPr/>
                  <a:lstStyle/>
                  <a:p>
                    <a:r>
                      <a:rPr sz="1000" b="1">
                        <a:solidFill>
                          <a:srgbClr val="111111"/>
                        </a:solidFill>
                        <a:latin typeface="Google Sans Flex"/>
                      </a:rPr>
                      <a:t>6/9</a:t>
                    </a:r>
                  </a:p>
                </c:rich>
              </c:tx>
              <c:dLblPos val="outEnd"/>
              <c:showLegendKey val="0"/>
              <c:showVal val="1"/>
              <c:showCatName val="0"/>
              <c:showSerName val="0"/>
              <c:showPercent val="0"/>
              <c:showBubbleSize val="0"/>
            </c:dLbl>
            <c:dLbl>
              <c:idx val="1"/>
              <c:tx>
                <c:rich>
                  <a:bodyPr/>
                  <a:lstStyle/>
                  <a:p>
                    <a:r>
                      <a:rPr sz="1000" b="1">
                        <a:solidFill>
                          <a:srgbClr val="111111"/>
                        </a:solidFill>
                        <a:latin typeface="Google Sans Flex"/>
                      </a:rPr>
                      <a:t>8/9</a:t>
                    </a:r>
                  </a:p>
                </c:rich>
              </c:tx>
              <c:dLblPos val="outEnd"/>
              <c:showLegendKey val="0"/>
              <c:showVal val="1"/>
              <c:showCatName val="0"/>
              <c:showSerName val="0"/>
              <c:showPercent val="0"/>
              <c:showBubbleSize val="0"/>
            </c:dLbl>
            <c:dLbl>
              <c:idx val="2"/>
              <c:tx>
                <c:rich>
                  <a:bodyPr/>
                  <a:lstStyle/>
                  <a:p>
                    <a:r>
                      <a:rPr sz="1000" b="1">
                        <a:solidFill>
                          <a:srgbClr val="111111"/>
                        </a:solidFill>
                        <a:latin typeface="Google Sans Flex"/>
                      </a:rPr>
                      <a:t>9/9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Measured
checks only</c:v>
                </c:pt>
                <c:pt idx="1">
                  <c:v>+ Gemma 3 4B
(local)</c:v>
                </c:pt>
                <c:pt idx="2">
                  <c:v>+ Gemini 3.8
Flash</c:v>
                </c:pt>
              </c:strCache>
            </c:strRef>
          </c:cat>
          <c:val>
            <c:numRef>
              <c:f>Sheet1!$B$2:$B$4</c:f>
              <c:numCache>
                <c:formatCode>General</c:formatCode>
                <c:ptCount val="3"/>
                <c:pt idx="0">
                  <c:v>6</c:v>
                </c:pt>
                <c:pt idx="1">
                  <c:v>8</c:v>
                </c:pt>
                <c:pt idx="2">
                  <c:v>9</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111111"/>
            </a:solidFill>
          </a:ln>
        </c:spPr>
        <c:txPr>
          <a:bodyPr/>
          <a:lstStyle/>
          <a:p>
            <a:pPr>
              <a:defRPr sz="800">
                <a:latin typeface="Google Sans Flex"/>
              </a:defRPr>
            </a:pPr>
          </a:p>
        </c:txPr>
        <c:crossAx val="-2113994440"/>
        <c:crosses val="autoZero"/>
        <c:auto val="1"/>
        <c:lblAlgn val="ctr"/>
        <c:lblOffset val="100"/>
        <c:noMultiLvlLbl val="0"/>
      </c:catAx>
      <c:valAx>
        <c:axId val="-2113994440"/>
        <c:scaling>
          <c:max val="10.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Team Zero Context (leader: Saubhagya Ashish). Shop Honest: AI agents shop an online store like a real customer and report every dark pattern with evidence, the rule it breaks, what it costs the shopper and a fix.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Problem: dark patterns make shoppers pay more than the price they saw. In our demo store the page says ₹1,499 and payment asks ₹1,894. ASCI found deceptive design in 52 of the top 53 Indian apps (2024); CCPA's 2023 guidelines ban 13 patterns, and its June 2025 advisory asked e-commerce platforms to self-audit within 3 months. Idea: Shop Honest's agents walk product → variant → cart → checkout → payment like a shopper and report each trick with screenshot evidence, the rule, the money impact and a fix.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Different: a whole-journey, measured audit in a real browser, not a single-page or text scan. Solves: platforms can self-audit, regulators and consumer groups get evidence at scale, shoppers see the real price. USP: every claim is grounded on a measured element and double-checked, findings come with ₹ impact, law and fixes, and partial audits say what they couldn't see.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Eight features: live walkthrough, measured checks, Price Historian on BigQuery, Gemini Pattern Analyst, Adjudicator with a human review queue, the real bill, law and fixes across 7 regions, and reports/PDF for any store.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navigator walks five steps like a logged-out shopper and stops honestly at sign-in walls or bot protection. On every screen: capture a screenshot and measure every element, run measured checks, let Gemini (Pattern Analyst) judge wording and design, apply evidence rules, re-check with the Adjudicator, then confirm, send to human review, or drop. The Reporter turns findings into the trust score, money, law and fixes.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Three screens: start an audit, watch the agents shop live, and read the report. These are screenshots of the deployed product, not mock-ups.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Firebase Hosting serves the React app and proxies /api to Cloud Run (FastAPI). The live event stream goes straight to Cloud Run because Hosting buffers streams. Each audit runs a Playwright Chromium navigator and ADK agents on Gemini via Vertex AI (gemini-3.8-flash, falling back to 2.5-flash). Firestore keeps audits and a resumable event log, Cloud Storage the screenshots, BigQuery the price history. Cloud Build and Artifact Registry ship images; Cloud Monitoring and billing budgets watch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AI: Gemini 3.8 Flash on Vertex AI through Google's Agent Development Kit; Gemma 3 4B via Ollama for offline development. Google Cloud: Cloud Run, Firestore, Cloud Storage, BigQuery, Cloud Build, Artifact Registry, Cloud Monitoring, Billing budgets, Firebase Hosting. App: Python 3.12, FastAPI, Playwright, Pydantic, React 19, TypeScript, Vite, Tailwind, three.js.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live audit costs about ₹2: roughly 17k input and 7k output tokens on Gemini 3.8 Flash plus ~45 s of Cloud Run. Replays cost nothing, and Cloud Run scales to zero when idle. Estimates: ₹2,000 a month for 1,000 audits, ₹20,000 for 10,000. Guardrails: a 100-a-day live cap, per-audit token/call/time budgets, budget alerts.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Snapshots of the deployed product: the report's verdict (trust score, overcharge, fine risk), the bill shoppers actually get, one finding's evidence (the countdown restarts on reload), and a real store audited logged out that stops honestly at the sign-in wall.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Planted tricks: 9/9 on the rigged store with the borderline claim sent to review, 0 false alarms on the honest store, 6/6 before the sign-in wall. Public dataset (ec-darkpattern, Yada et al. 2022, 2,356 texts): zero-shot F1 0.962 with precision 0.998, against 0.960–0.975 for models trained on it. Ablation on Store A: measured checks 6/9, with Gemma 3 4B 8/9, with Gemini 3.8 Flash 9/9. Flash matched 2.5 Pro and 3.1 Pro and was fastest (~40 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Next: bring-your-own-key live audits, logged-in journeys with test accounts in Secret Manager, scheduled monitoring with Cloud Scheduler. Later: a shopper browser extension, a regulator dashboard on BigQuery and Looker Studio, mobile apps and Indian-language pages.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GitHub: https://github.com/saubhagyaashish/shop-honest. Final product: https://shop-honest-ai.web.app. Demo video: add the 3-minute video link.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Responsible by design: the agent never pays, signs in, types, accepts terms or bypasses bot protection. Findings must cite measured elements, are double-checked, and go to human review when unsure. On real stores, layout-based findings go to review and reports carry a not-a-legal-finding note.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 Try it at shop-honest-ai.web.app.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hyperlink" Target="https://shop-honest-ai.web.ap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9.png"/><Relationship Id="rId12"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21.png"/><Relationship Id="rId11" Type="http://schemas.openxmlformats.org/officeDocument/2006/relationships/image" Target="../media/image12.png"/><Relationship Id="rId12" Type="http://schemas.openxmlformats.org/officeDocument/2006/relationships/image" Target="../media/image17.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13.png"/><Relationship Id="rId16" Type="http://schemas.openxmlformats.org/officeDocument/2006/relationships/image" Target="../media/image24.png"/><Relationship Id="rId17"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6.png"/><Relationship Id="rId9" Type="http://schemas.openxmlformats.org/officeDocument/2006/relationships/hyperlink" Target="https://shop-honest-ai.web.ap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22.png"/><Relationship Id="rId10" Type="http://schemas.openxmlformats.org/officeDocument/2006/relationships/image" Target="../media/image17.png"/><Relationship Id="rId11" Type="http://schemas.openxmlformats.org/officeDocument/2006/relationships/image" Target="../media/image33.png"/><Relationship Id="rId12" Type="http://schemas.openxmlformats.org/officeDocument/2006/relationships/image" Target="../media/image20.png"/><Relationship Id="rId13" Type="http://schemas.openxmlformats.org/officeDocument/2006/relationships/image" Target="../media/image34.png"/><Relationship Id="rId14" Type="http://schemas.openxmlformats.org/officeDocument/2006/relationships/image" Target="../media/image35.png"/><Relationship Id="rId15" Type="http://schemas.openxmlformats.org/officeDocument/2006/relationships/image" Target="../media/image36.png"/><Relationship Id="rId16" Type="http://schemas.openxmlformats.org/officeDocument/2006/relationships/image" Target="../media/image37.png"/><Relationship Id="rId17" Type="http://schemas.openxmlformats.org/officeDocument/2006/relationships/image" Target="../media/image38.png"/><Relationship Id="rId18" Type="http://schemas.openxmlformats.org/officeDocument/2006/relationships/image" Target="../media/image39.png"/><Relationship Id="rId19"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41.png"/><Relationship Id="rId8" Type="http://schemas.openxmlformats.org/officeDocument/2006/relationships/image" Target="../media/image31.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image" Target="../media/image36.png"/><Relationship Id="rId15" Type="http://schemas.openxmlformats.org/officeDocument/2006/relationships/image" Target="../media/image37.png"/><Relationship Id="rId16" Type="http://schemas.openxmlformats.org/officeDocument/2006/relationships/image" Target="../media/image30.png"/><Relationship Id="rId17" Type="http://schemas.openxmlformats.org/officeDocument/2006/relationships/image" Target="../media/image42.png"/><Relationship Id="rId18" Type="http://schemas.openxmlformats.org/officeDocument/2006/relationships/image" Target="../media/image43.png"/><Relationship Id="rId19" Type="http://schemas.openxmlformats.org/officeDocument/2006/relationships/image" Target="../media/image44.png"/><Relationship Id="rId20" Type="http://schemas.openxmlformats.org/officeDocument/2006/relationships/image" Target="../media/image45.png"/><Relationship Id="rId21" Type="http://schemas.openxmlformats.org/officeDocument/2006/relationships/image" Target="../media/image46.png"/><Relationship Id="rId22" Type="http://schemas.openxmlformats.org/officeDocument/2006/relationships/image" Target="../media/image47.png"/><Relationship Id="rId23" Type="http://schemas.openxmlformats.org/officeDocument/2006/relationships/image" Target="../media/image48.png"/><Relationship Id="rId24" Type="http://schemas.openxmlformats.org/officeDocument/2006/relationships/image" Target="../media/image49.png"/><Relationship Id="rId25"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chart" Target="../charts/chart1.xml"/><Relationship Id="rId6"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hyperlink" Target="https://github.com/saubhagyaashish/shop-honest" TargetMode="External"/><Relationship Id="rId8" Type="http://schemas.openxmlformats.org/officeDocument/2006/relationships/image" Target="../media/image69.png"/><Relationship Id="rId9" Type="http://schemas.openxmlformats.org/officeDocument/2006/relationships/image" Target="../media/image16.png"/><Relationship Id="rId10" Type="http://schemas.openxmlformats.org/officeDocument/2006/relationships/image" Target="../media/image20.png"/><Relationship Id="rId11" Type="http://schemas.openxmlformats.org/officeDocument/2006/relationships/image" Target="../media/image70.png"/><Relationship Id="rId12" Type="http://schemas.openxmlformats.org/officeDocument/2006/relationships/hyperlink" Target="https://shop-honest-ai.web.ap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1.png"/><Relationship Id="rId6" Type="http://schemas.openxmlformats.org/officeDocument/2006/relationships/image" Target="../media/image7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20040" y="2907792"/>
            <a:ext cx="5532120" cy="20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700"/>
              </a:spcAft>
              <a:buNone/>
            </a:pPr>
            <a:r>
              <a:rPr sz="1800">
                <a:solidFill>
                  <a:srgbClr val="111111"/>
                </a:solidFill>
                <a:latin typeface="Google Sans Flex SemiBold"/>
              </a:rPr>
              <a:t>Team Details</a:t>
            </a:r>
            <a:endParaRPr sz="2100">
              <a:latin typeface="Google Sans Flex SemiBold"/>
              <a:ea typeface="Google Sans Flex SemiBold"/>
              <a:cs typeface="Google Sans Flex SemiBold"/>
              <a:sym typeface="Google Sans Flex SemiBold"/>
            </a:endParaRPr>
          </a:p>
          <a:p>
            <a:pPr>
              <a:spcAft>
                <a:spcPts val="500"/>
              </a:spcAft>
            </a:pPr>
            <a:r>
              <a:rPr sz="1300">
                <a:solidFill>
                  <a:srgbClr val="111111"/>
                </a:solidFill>
                <a:latin typeface="Google Sans Flex SemiBold"/>
              </a:rPr>
              <a:t>Team name: </a:t>
            </a:r>
            <a:r>
              <a:rPr sz="1300">
                <a:solidFill>
                  <a:srgbClr val="111111"/>
                </a:solidFill>
                <a:latin typeface="Google Sans Flex"/>
              </a:rPr>
              <a:t>Zero Context</a:t>
            </a:r>
          </a:p>
          <a:p>
            <a:pPr>
              <a:spcAft>
                <a:spcPts val="500"/>
              </a:spcAft>
            </a:pPr>
            <a:r>
              <a:rPr sz="1300">
                <a:solidFill>
                  <a:srgbClr val="111111"/>
                </a:solidFill>
                <a:latin typeface="Google Sans Flex SemiBold"/>
              </a:rPr>
              <a:t>Team leader name: </a:t>
            </a:r>
            <a:r>
              <a:rPr sz="1300">
                <a:solidFill>
                  <a:srgbClr val="111111"/>
                </a:solidFill>
                <a:latin typeface="Google Sans Flex"/>
              </a:rPr>
              <a:t>Saubhagya Ashish</a:t>
            </a:r>
          </a:p>
          <a:p>
            <a:pPr>
              <a:spcAft>
                <a:spcPts val="500"/>
              </a:spcAft>
            </a:pPr>
            <a:r>
              <a:rPr sz="1300">
                <a:solidFill>
                  <a:srgbClr val="111111"/>
                </a:solidFill>
                <a:latin typeface="Google Sans Flex SemiBold"/>
              </a:rPr>
              <a:t>Problem Statement: </a:t>
            </a:r>
            <a:r>
              <a:rPr sz="1100">
                <a:solidFill>
                  <a:srgbClr val="111111"/>
                </a:solidFill>
                <a:latin typeface="Google Sans Flex"/>
              </a:rPr>
              <a:t>Retail &amp; Commerce. Online stores use dark patterns (fake countdowns, items sneaked into the cart, fees revealed only at payment) that make shoppers pay more than they agreed to. India's CCPA bans 13 such patterns, yet nobody audits the whole journey the way a shopper experiences it.</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
        <p:nvSpPr>
          <p:cNvPr id="57" name="Rounded Rectangle 56"/>
          <p:cNvSpPr/>
          <p:nvPr/>
        </p:nvSpPr>
        <p:spPr>
          <a:xfrm>
            <a:off x="6172200" y="3063239"/>
            <a:ext cx="2697480" cy="1810512"/>
          </a:xfrm>
          <a:prstGeom prst="roundRect">
            <a:avLst>
              <a:gd name="adj" fmla="val 707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6126480" y="3017520"/>
            <a:ext cx="2697480" cy="1810512"/>
          </a:xfrm>
          <a:prstGeom prst="roundRect">
            <a:avLst>
              <a:gd name="adj" fmla="val 7070"/>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Picture 58" descr="Shop Honest logo"/>
          <p:cNvPicPr>
            <a:picLocks noChangeAspect="1"/>
          </p:cNvPicPr>
          <p:nvPr/>
        </p:nvPicPr>
        <p:blipFill>
          <a:blip r:embed="rId5"/>
          <a:stretch>
            <a:fillRect/>
          </a:stretch>
        </p:blipFill>
        <p:spPr>
          <a:xfrm>
            <a:off x="6327648" y="3182112"/>
            <a:ext cx="2286000" cy="422573"/>
          </a:xfrm>
          <a:prstGeom prst="rect">
            <a:avLst/>
          </a:prstGeom>
        </p:spPr>
      </p:pic>
      <p:sp>
        <p:nvSpPr>
          <p:cNvPr id="60" name="TextBox 59"/>
          <p:cNvSpPr txBox="1"/>
          <p:nvPr/>
        </p:nvSpPr>
        <p:spPr>
          <a:xfrm>
            <a:off x="6327648" y="3730752"/>
            <a:ext cx="2377440" cy="566928"/>
          </a:xfrm>
          <a:prstGeom prst="rect">
            <a:avLst/>
          </a:prstGeom>
          <a:noFill/>
        </p:spPr>
        <p:txBody>
          <a:bodyPr wrap="square" lIns="0" rIns="0" tIns="0" bIns="0" anchor="t">
            <a:noAutofit/>
          </a:bodyPr>
          <a:lstStyle/>
          <a:p>
            <a:pPr algn="l">
              <a:lnSpc>
                <a:spcPct val="100000"/>
              </a:lnSpc>
              <a:spcAft>
                <a:spcPts val="0"/>
              </a:spcAft>
            </a:pPr>
            <a:r>
              <a:rPr sz="1700" b="1">
                <a:solidFill>
                  <a:srgbClr val="111111"/>
                </a:solidFill>
                <a:latin typeface="Google Sans Flex"/>
              </a:rPr>
              <a:t>Dark patterns? </a:t>
            </a:r>
            <a:r>
              <a:rPr sz="1700" b="1">
                <a:solidFill>
                  <a:srgbClr val="111111"/>
                </a:solidFill>
                <a:latin typeface="Google Sans Flex"/>
              </a:rPr>
              <a:t>Caught in 4K.</a:t>
            </a:r>
          </a:p>
        </p:txBody>
      </p:sp>
      <p:sp>
        <p:nvSpPr>
          <p:cNvPr id="61" name="Rounded Rectangle 60"/>
          <p:cNvSpPr/>
          <p:nvPr/>
        </p:nvSpPr>
        <p:spPr>
          <a:xfrm>
            <a:off x="6327648" y="4297680"/>
            <a:ext cx="1965960" cy="228600"/>
          </a:xfrm>
          <a:prstGeom prst="roundRect">
            <a:avLst>
              <a:gd name="adj" fmla="val 5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00" b="1">
                <a:solidFill>
                  <a:srgbClr val="111111"/>
                </a:solidFill>
                <a:latin typeface="Google Sans Flex"/>
              </a:rPr>
              <a:t>AI agents that shop like you</a:t>
            </a:r>
          </a:p>
        </p:txBody>
      </p:sp>
      <p:sp>
        <p:nvSpPr>
          <p:cNvPr id="62" name="TextBox 61"/>
          <p:cNvSpPr txBox="1"/>
          <p:nvPr/>
        </p:nvSpPr>
        <p:spPr>
          <a:xfrm>
            <a:off x="6327648" y="4572000"/>
            <a:ext cx="2377440" cy="182880"/>
          </a:xfrm>
          <a:prstGeom prst="rect">
            <a:avLst/>
          </a:prstGeom>
          <a:noFill/>
        </p:spPr>
        <p:txBody>
          <a:bodyPr wrap="square" lIns="0" rIns="0" tIns="0" bIns="0" anchor="t">
            <a:noAutofit/>
          </a:bodyPr>
          <a:lstStyle/>
          <a:p>
            <a:pPr algn="l">
              <a:lnSpc>
                <a:spcPct val="100000"/>
              </a:lnSpc>
              <a:spcAft>
                <a:spcPts val="0"/>
              </a:spcAft>
            </a:pPr>
            <a:r>
              <a:rPr sz="900" b="0">
                <a:solidFill>
                  <a:srgbClr val="5F6368"/>
                </a:solidFill>
                <a:latin typeface="Google Sans Flex Medium"/>
                <a:hlinkClick r:id="rId6"/>
              </a:rPr>
              <a:t>shop-honest-ai.web.app</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Rounded Rectangle 71"/>
          <p:cNvSpPr/>
          <p:nvPr/>
        </p:nvSpPr>
        <p:spPr>
          <a:xfrm>
            <a:off x="320040" y="1234440"/>
            <a:ext cx="4023360" cy="3584448"/>
          </a:xfrm>
          <a:prstGeom prst="roundRect">
            <a:avLst>
              <a:gd name="adj" fmla="val 4081"/>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548640" y="1417320"/>
            <a:ext cx="1051560" cy="237744"/>
          </a:xfrm>
          <a:prstGeom prst="roundRect">
            <a:avLst>
              <a:gd name="adj" fmla="val 50000"/>
            </a:avLst>
          </a:prstGeom>
          <a:solidFill>
            <a:srgbClr val="FF5CA8"/>
          </a:solidFill>
          <a:ln w="15875">
            <a:solidFill>
              <a:srgbClr val="FF5CA8"/>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00" b="1">
                <a:solidFill>
                  <a:srgbClr val="111111"/>
                </a:solidFill>
                <a:latin typeface="Google Sans Flex"/>
              </a:rPr>
              <a:t>THE PROBLEM</a:t>
            </a:r>
          </a:p>
        </p:txBody>
      </p:sp>
      <p:sp>
        <p:nvSpPr>
          <p:cNvPr id="74" name="TextBox 73"/>
          <p:cNvSpPr txBox="1"/>
          <p:nvPr/>
        </p:nvSpPr>
        <p:spPr>
          <a:xfrm>
            <a:off x="548640" y="1737360"/>
            <a:ext cx="3657600" cy="566928"/>
          </a:xfrm>
          <a:prstGeom prst="rect">
            <a:avLst/>
          </a:prstGeom>
          <a:noFill/>
        </p:spPr>
        <p:txBody>
          <a:bodyPr wrap="square" lIns="0" rIns="0" tIns="0" bIns="0" anchor="t">
            <a:noAutofit/>
          </a:bodyPr>
          <a:lstStyle/>
          <a:p>
            <a:pPr algn="l">
              <a:lnSpc>
                <a:spcPct val="100000"/>
              </a:lnSpc>
              <a:spcAft>
                <a:spcPts val="0"/>
              </a:spcAft>
            </a:pPr>
            <a:r>
              <a:rPr sz="3200" b="1">
                <a:solidFill>
                  <a:srgbClr val="FFFFFF"/>
                </a:solidFill>
                <a:latin typeface="Google Sans Flex"/>
              </a:rPr>
              <a:t>₹1,499</a:t>
            </a:r>
            <a:r>
              <a:rPr sz="3200" b="1">
                <a:solidFill>
                  <a:srgbClr val="9AA0A6"/>
                </a:solidFill>
                <a:latin typeface="Google Sans Flex"/>
              </a:rPr>
              <a:t>  →  </a:t>
            </a:r>
            <a:r>
              <a:rPr sz="3200" b="1">
                <a:solidFill>
                  <a:srgbClr val="FF5CA8"/>
                </a:solidFill>
                <a:latin typeface="Google Sans Flex"/>
              </a:rPr>
              <a:t>₹1,894</a:t>
            </a:r>
          </a:p>
        </p:txBody>
      </p:sp>
      <p:sp>
        <p:nvSpPr>
          <p:cNvPr id="75" name="TextBox 74"/>
          <p:cNvSpPr txBox="1"/>
          <p:nvPr/>
        </p:nvSpPr>
        <p:spPr>
          <a:xfrm>
            <a:off x="548640" y="2331720"/>
            <a:ext cx="3611880" cy="566928"/>
          </a:xfrm>
          <a:prstGeom prst="rect">
            <a:avLst/>
          </a:prstGeom>
          <a:noFill/>
        </p:spPr>
        <p:txBody>
          <a:bodyPr wrap="square" lIns="0" rIns="0" tIns="0" bIns="0" anchor="t">
            <a:noAutofit/>
          </a:bodyPr>
          <a:lstStyle/>
          <a:p>
            <a:pPr algn="l">
              <a:lnSpc>
                <a:spcPct val="108000"/>
              </a:lnSpc>
              <a:spcAft>
                <a:spcPts val="0"/>
              </a:spcAft>
            </a:pPr>
            <a:r>
              <a:rPr sz="1050" b="0">
                <a:solidFill>
                  <a:srgbClr val="E8EAED"/>
                </a:solidFill>
                <a:latin typeface="Google Sans Flex"/>
              </a:rPr>
              <a:t>Same earbuds. Insurance sneaked into the cart, a pre-ticked membership and fees shown only at payment. The price you see isn't the price you pay.</a:t>
            </a:r>
          </a:p>
        </p:txBody>
      </p:sp>
      <p:sp>
        <p:nvSpPr>
          <p:cNvPr id="76" name="Rectangle 75"/>
          <p:cNvSpPr/>
          <p:nvPr/>
        </p:nvSpPr>
        <p:spPr>
          <a:xfrm>
            <a:off x="548640" y="3081528"/>
            <a:ext cx="45720" cy="402336"/>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704088" y="3044952"/>
            <a:ext cx="1143000" cy="457200"/>
          </a:xfrm>
          <a:prstGeom prst="rect">
            <a:avLst/>
          </a:prstGeom>
          <a:noFill/>
        </p:spPr>
        <p:txBody>
          <a:bodyPr wrap="square" lIns="0" rIns="0" tIns="0" bIns="0" anchor="ctr">
            <a:noAutofit/>
          </a:bodyPr>
          <a:lstStyle/>
          <a:p>
            <a:pPr algn="l">
              <a:lnSpc>
                <a:spcPct val="100000"/>
              </a:lnSpc>
              <a:spcAft>
                <a:spcPts val="0"/>
              </a:spcAft>
            </a:pPr>
            <a:r>
              <a:rPr sz="1700" b="1">
                <a:solidFill>
                  <a:srgbClr val="C6F432"/>
                </a:solidFill>
                <a:latin typeface="Google Sans Flex"/>
              </a:rPr>
              <a:t>52 of 53</a:t>
            </a:r>
          </a:p>
        </p:txBody>
      </p:sp>
      <p:sp>
        <p:nvSpPr>
          <p:cNvPr id="78" name="TextBox 77"/>
          <p:cNvSpPr txBox="1"/>
          <p:nvPr/>
        </p:nvSpPr>
        <p:spPr>
          <a:xfrm>
            <a:off x="1856231" y="3063240"/>
            <a:ext cx="2331720" cy="457200"/>
          </a:xfrm>
          <a:prstGeom prst="rect">
            <a:avLst/>
          </a:prstGeom>
          <a:noFill/>
        </p:spPr>
        <p:txBody>
          <a:bodyPr wrap="square" lIns="0" rIns="0" tIns="0" bIns="0" anchor="ctr">
            <a:noAutofit/>
          </a:bodyPr>
          <a:lstStyle/>
          <a:p>
            <a:pPr algn="l">
              <a:lnSpc>
                <a:spcPct val="100000"/>
              </a:lnSpc>
              <a:spcAft>
                <a:spcPts val="0"/>
              </a:spcAft>
            </a:pPr>
            <a:r>
              <a:rPr sz="1000" b="0">
                <a:solidFill>
                  <a:srgbClr val="FFFFFF"/>
                </a:solidFill>
                <a:latin typeface="Google Sans Flex"/>
              </a:rPr>
              <a:t>top Indian apps use deceptive design</a:t>
            </a:r>
          </a:p>
          <a:p>
            <a:pPr algn="l">
              <a:lnSpc>
                <a:spcPct val="100000"/>
              </a:lnSpc>
              <a:spcAft>
                <a:spcPts val="0"/>
              </a:spcAft>
            </a:pPr>
            <a:r>
              <a:rPr sz="800" b="0">
                <a:solidFill>
                  <a:srgbClr val="9AA0A6"/>
                </a:solidFill>
                <a:latin typeface="Google Sans Flex"/>
              </a:rPr>
              <a:t>ASCI, 2024</a:t>
            </a:r>
          </a:p>
        </p:txBody>
      </p:sp>
      <p:sp>
        <p:nvSpPr>
          <p:cNvPr id="79" name="Rectangle 78"/>
          <p:cNvSpPr/>
          <p:nvPr/>
        </p:nvSpPr>
        <p:spPr>
          <a:xfrm>
            <a:off x="548640" y="3630168"/>
            <a:ext cx="45720" cy="402336"/>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704088" y="3593592"/>
            <a:ext cx="1143000" cy="457200"/>
          </a:xfrm>
          <a:prstGeom prst="rect">
            <a:avLst/>
          </a:prstGeom>
          <a:noFill/>
        </p:spPr>
        <p:txBody>
          <a:bodyPr wrap="square" lIns="0" rIns="0" tIns="0" bIns="0" anchor="ctr">
            <a:noAutofit/>
          </a:bodyPr>
          <a:lstStyle/>
          <a:p>
            <a:pPr algn="l">
              <a:lnSpc>
                <a:spcPct val="100000"/>
              </a:lnSpc>
              <a:spcAft>
                <a:spcPts val="0"/>
              </a:spcAft>
            </a:pPr>
            <a:r>
              <a:rPr sz="1700" b="1">
                <a:solidFill>
                  <a:srgbClr val="C6F432"/>
                </a:solidFill>
                <a:latin typeface="Google Sans Flex"/>
              </a:rPr>
              <a:t>13</a:t>
            </a:r>
          </a:p>
        </p:txBody>
      </p:sp>
      <p:sp>
        <p:nvSpPr>
          <p:cNvPr id="81" name="TextBox 80"/>
          <p:cNvSpPr txBox="1"/>
          <p:nvPr/>
        </p:nvSpPr>
        <p:spPr>
          <a:xfrm>
            <a:off x="1856231" y="3611880"/>
            <a:ext cx="2331720" cy="457200"/>
          </a:xfrm>
          <a:prstGeom prst="rect">
            <a:avLst/>
          </a:prstGeom>
          <a:noFill/>
        </p:spPr>
        <p:txBody>
          <a:bodyPr wrap="square" lIns="0" rIns="0" tIns="0" bIns="0" anchor="ctr">
            <a:noAutofit/>
          </a:bodyPr>
          <a:lstStyle/>
          <a:p>
            <a:pPr algn="l">
              <a:lnSpc>
                <a:spcPct val="100000"/>
              </a:lnSpc>
              <a:spcAft>
                <a:spcPts val="0"/>
              </a:spcAft>
            </a:pPr>
            <a:r>
              <a:rPr sz="1000" b="0">
                <a:solidFill>
                  <a:srgbClr val="FFFFFF"/>
                </a:solidFill>
                <a:latin typeface="Google Sans Flex"/>
              </a:rPr>
              <a:t>dark patterns banned by India's CCPA</a:t>
            </a:r>
          </a:p>
          <a:p>
            <a:pPr algn="l">
              <a:lnSpc>
                <a:spcPct val="100000"/>
              </a:lnSpc>
              <a:spcAft>
                <a:spcPts val="0"/>
              </a:spcAft>
            </a:pPr>
            <a:r>
              <a:rPr sz="800" b="0">
                <a:solidFill>
                  <a:srgbClr val="9AA0A6"/>
                </a:solidFill>
                <a:latin typeface="Google Sans Flex"/>
              </a:rPr>
              <a:t>Guidelines, 2023</a:t>
            </a:r>
          </a:p>
        </p:txBody>
      </p:sp>
      <p:sp>
        <p:nvSpPr>
          <p:cNvPr id="82" name="Rectangle 81"/>
          <p:cNvSpPr/>
          <p:nvPr/>
        </p:nvSpPr>
        <p:spPr>
          <a:xfrm>
            <a:off x="548640" y="4178808"/>
            <a:ext cx="45720" cy="402336"/>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704088" y="4142232"/>
            <a:ext cx="1143000" cy="457200"/>
          </a:xfrm>
          <a:prstGeom prst="rect">
            <a:avLst/>
          </a:prstGeom>
          <a:noFill/>
        </p:spPr>
        <p:txBody>
          <a:bodyPr wrap="square" lIns="0" rIns="0" tIns="0" bIns="0" anchor="ctr">
            <a:noAutofit/>
          </a:bodyPr>
          <a:lstStyle/>
          <a:p>
            <a:pPr algn="l">
              <a:lnSpc>
                <a:spcPct val="100000"/>
              </a:lnSpc>
              <a:spcAft>
                <a:spcPts val="0"/>
              </a:spcAft>
            </a:pPr>
            <a:r>
              <a:rPr sz="1700" b="1">
                <a:solidFill>
                  <a:srgbClr val="C6F432"/>
                </a:solidFill>
                <a:latin typeface="Google Sans Flex"/>
              </a:rPr>
              <a:t>3 months</a:t>
            </a:r>
          </a:p>
        </p:txBody>
      </p:sp>
      <p:sp>
        <p:nvSpPr>
          <p:cNvPr id="84" name="TextBox 83"/>
          <p:cNvSpPr txBox="1"/>
          <p:nvPr/>
        </p:nvSpPr>
        <p:spPr>
          <a:xfrm>
            <a:off x="1856231" y="4160520"/>
            <a:ext cx="2331720" cy="457200"/>
          </a:xfrm>
          <a:prstGeom prst="rect">
            <a:avLst/>
          </a:prstGeom>
          <a:noFill/>
        </p:spPr>
        <p:txBody>
          <a:bodyPr wrap="square" lIns="0" rIns="0" tIns="0" bIns="0" anchor="ctr">
            <a:noAutofit/>
          </a:bodyPr>
          <a:lstStyle/>
          <a:p>
            <a:pPr algn="l">
              <a:lnSpc>
                <a:spcPct val="100000"/>
              </a:lnSpc>
              <a:spcAft>
                <a:spcPts val="0"/>
              </a:spcAft>
            </a:pPr>
            <a:r>
              <a:rPr sz="1000" b="0">
                <a:solidFill>
                  <a:srgbClr val="FFFFFF"/>
                </a:solidFill>
                <a:latin typeface="Google Sans Flex"/>
              </a:rPr>
              <a:t>for platforms to self-audit for them</a:t>
            </a:r>
          </a:p>
          <a:p>
            <a:pPr algn="l">
              <a:lnSpc>
                <a:spcPct val="100000"/>
              </a:lnSpc>
              <a:spcAft>
                <a:spcPts val="0"/>
              </a:spcAft>
            </a:pPr>
            <a:r>
              <a:rPr sz="800" b="0">
                <a:solidFill>
                  <a:srgbClr val="9AA0A6"/>
                </a:solidFill>
                <a:latin typeface="Google Sans Flex"/>
              </a:rPr>
              <a:t>CCPA advisory, June 2025</a:t>
            </a:r>
          </a:p>
        </p:txBody>
      </p:sp>
      <p:sp>
        <p:nvSpPr>
          <p:cNvPr id="85" name="Rounded Rectangle 84"/>
          <p:cNvSpPr/>
          <p:nvPr/>
        </p:nvSpPr>
        <p:spPr>
          <a:xfrm>
            <a:off x="4572000" y="1280160"/>
            <a:ext cx="868680" cy="237744"/>
          </a:xfrm>
          <a:prstGeom prst="roundRect">
            <a:avLst>
              <a:gd name="adj" fmla="val 5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00" b="1">
                <a:solidFill>
                  <a:srgbClr val="111111"/>
                </a:solidFill>
                <a:latin typeface="Google Sans Flex"/>
              </a:rPr>
              <a:t>THE IDEA</a:t>
            </a:r>
          </a:p>
        </p:txBody>
      </p:sp>
      <p:sp>
        <p:nvSpPr>
          <p:cNvPr id="86" name="TextBox 85"/>
          <p:cNvSpPr txBox="1"/>
          <p:nvPr/>
        </p:nvSpPr>
        <p:spPr>
          <a:xfrm>
            <a:off x="4572000" y="1591056"/>
            <a:ext cx="4251960" cy="713232"/>
          </a:xfrm>
          <a:prstGeom prst="rect">
            <a:avLst/>
          </a:prstGeom>
          <a:noFill/>
        </p:spPr>
        <p:txBody>
          <a:bodyPr wrap="square" lIns="0" rIns="0" tIns="0" bIns="0" anchor="t">
            <a:noAutofit/>
          </a:bodyPr>
          <a:lstStyle/>
          <a:p>
            <a:pPr algn="l">
              <a:lnSpc>
                <a:spcPct val="95000"/>
              </a:lnSpc>
              <a:spcAft>
                <a:spcPts val="0"/>
              </a:spcAft>
            </a:pPr>
            <a:r>
              <a:rPr sz="1900" b="1">
                <a:solidFill>
                  <a:srgbClr val="111111"/>
                </a:solidFill>
                <a:latin typeface="Google Sans Flex"/>
              </a:rPr>
              <a:t>AI agents shop like a real customer, and hand you the receipts.</a:t>
            </a:r>
          </a:p>
        </p:txBody>
      </p:sp>
      <p:sp>
        <p:nvSpPr>
          <p:cNvPr id="87" name="Rounded Rectangle 86"/>
          <p:cNvSpPr/>
          <p:nvPr/>
        </p:nvSpPr>
        <p:spPr>
          <a:xfrm>
            <a:off x="4645152"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ounded Rectangle 87"/>
          <p:cNvSpPr/>
          <p:nvPr/>
        </p:nvSpPr>
        <p:spPr>
          <a:xfrm>
            <a:off x="4617720" y="2395728"/>
            <a:ext cx="475488" cy="475488"/>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9" name="Picture 88" descr="l-package-ink.png"/>
          <p:cNvPicPr>
            <a:picLocks noChangeAspect="1"/>
          </p:cNvPicPr>
          <p:nvPr/>
        </p:nvPicPr>
        <p:blipFill>
          <a:blip r:embed="rId4"/>
          <a:stretch>
            <a:fillRect/>
          </a:stretch>
        </p:blipFill>
        <p:spPr>
          <a:xfrm>
            <a:off x="4712817" y="2490825"/>
            <a:ext cx="285292" cy="285292"/>
          </a:xfrm>
          <a:prstGeom prst="rect">
            <a:avLst/>
          </a:prstGeom>
        </p:spPr>
      </p:pic>
      <p:sp>
        <p:nvSpPr>
          <p:cNvPr id="90" name="TextBox 89"/>
          <p:cNvSpPr txBox="1"/>
          <p:nvPr/>
        </p:nvSpPr>
        <p:spPr>
          <a:xfrm>
            <a:off x="4434840"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Product</a:t>
            </a:r>
          </a:p>
        </p:txBody>
      </p:sp>
      <p:cxnSp>
        <p:nvCxnSpPr>
          <p:cNvPr id="91" name="Connector 90"/>
          <p:cNvCxnSpPr/>
          <p:nvPr/>
        </p:nvCxnSpPr>
        <p:spPr>
          <a:xfrm>
            <a:off x="5148072"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Rounded Rectangle 91"/>
          <p:cNvSpPr/>
          <p:nvPr/>
        </p:nvSpPr>
        <p:spPr>
          <a:xfrm>
            <a:off x="5522976"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ounded Rectangle 92"/>
          <p:cNvSpPr/>
          <p:nvPr/>
        </p:nvSpPr>
        <p:spPr>
          <a:xfrm>
            <a:off x="5495544" y="2395728"/>
            <a:ext cx="475488" cy="475488"/>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4" name="Picture 93" descr="l-palette-ink.png"/>
          <p:cNvPicPr>
            <a:picLocks noChangeAspect="1"/>
          </p:cNvPicPr>
          <p:nvPr/>
        </p:nvPicPr>
        <p:blipFill>
          <a:blip r:embed="rId5"/>
          <a:stretch>
            <a:fillRect/>
          </a:stretch>
        </p:blipFill>
        <p:spPr>
          <a:xfrm>
            <a:off x="5590641" y="2490825"/>
            <a:ext cx="285292" cy="285292"/>
          </a:xfrm>
          <a:prstGeom prst="rect">
            <a:avLst/>
          </a:prstGeom>
        </p:spPr>
      </p:pic>
      <p:sp>
        <p:nvSpPr>
          <p:cNvPr id="95" name="TextBox 94"/>
          <p:cNvSpPr txBox="1"/>
          <p:nvPr/>
        </p:nvSpPr>
        <p:spPr>
          <a:xfrm>
            <a:off x="5312664"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Variant</a:t>
            </a:r>
          </a:p>
        </p:txBody>
      </p:sp>
      <p:cxnSp>
        <p:nvCxnSpPr>
          <p:cNvPr id="96" name="Connector 95"/>
          <p:cNvCxnSpPr/>
          <p:nvPr/>
        </p:nvCxnSpPr>
        <p:spPr>
          <a:xfrm>
            <a:off x="6025896"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Rounded Rectangle 96"/>
          <p:cNvSpPr/>
          <p:nvPr/>
        </p:nvSpPr>
        <p:spPr>
          <a:xfrm>
            <a:off x="6400800"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6373368" y="2395728"/>
            <a:ext cx="475488" cy="475488"/>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9" name="Picture 98" descr="l-shopping-cart-ink.png"/>
          <p:cNvPicPr>
            <a:picLocks noChangeAspect="1"/>
          </p:cNvPicPr>
          <p:nvPr/>
        </p:nvPicPr>
        <p:blipFill>
          <a:blip r:embed="rId6"/>
          <a:stretch>
            <a:fillRect/>
          </a:stretch>
        </p:blipFill>
        <p:spPr>
          <a:xfrm>
            <a:off x="6468465" y="2490825"/>
            <a:ext cx="285292" cy="285292"/>
          </a:xfrm>
          <a:prstGeom prst="rect">
            <a:avLst/>
          </a:prstGeom>
        </p:spPr>
      </p:pic>
      <p:sp>
        <p:nvSpPr>
          <p:cNvPr id="100" name="TextBox 99"/>
          <p:cNvSpPr txBox="1"/>
          <p:nvPr/>
        </p:nvSpPr>
        <p:spPr>
          <a:xfrm>
            <a:off x="6190488"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Cart</a:t>
            </a:r>
          </a:p>
        </p:txBody>
      </p:sp>
      <p:cxnSp>
        <p:nvCxnSpPr>
          <p:cNvPr id="101" name="Connector 100"/>
          <p:cNvCxnSpPr/>
          <p:nvPr/>
        </p:nvCxnSpPr>
        <p:spPr>
          <a:xfrm>
            <a:off x="6903720"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7278624"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ounded Rectangle 102"/>
          <p:cNvSpPr/>
          <p:nvPr/>
        </p:nvSpPr>
        <p:spPr>
          <a:xfrm>
            <a:off x="7251192" y="2395728"/>
            <a:ext cx="475488" cy="475488"/>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4" name="Picture 103" descr="l-clipboard-list-ink.png"/>
          <p:cNvPicPr>
            <a:picLocks noChangeAspect="1"/>
          </p:cNvPicPr>
          <p:nvPr/>
        </p:nvPicPr>
        <p:blipFill>
          <a:blip r:embed="rId7"/>
          <a:stretch>
            <a:fillRect/>
          </a:stretch>
        </p:blipFill>
        <p:spPr>
          <a:xfrm>
            <a:off x="7346289" y="2490825"/>
            <a:ext cx="285292" cy="285292"/>
          </a:xfrm>
          <a:prstGeom prst="rect">
            <a:avLst/>
          </a:prstGeom>
        </p:spPr>
      </p:pic>
      <p:sp>
        <p:nvSpPr>
          <p:cNvPr id="105" name="TextBox 104"/>
          <p:cNvSpPr txBox="1"/>
          <p:nvPr/>
        </p:nvSpPr>
        <p:spPr>
          <a:xfrm>
            <a:off x="7068312"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Checkout</a:t>
            </a:r>
          </a:p>
        </p:txBody>
      </p:sp>
      <p:cxnSp>
        <p:nvCxnSpPr>
          <p:cNvPr id="106" name="Connector 105"/>
          <p:cNvCxnSpPr/>
          <p:nvPr/>
        </p:nvCxnSpPr>
        <p:spPr>
          <a:xfrm>
            <a:off x="7781544"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8156448"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8129016" y="2395728"/>
            <a:ext cx="475488" cy="475488"/>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9" name="Picture 108" descr="l-credit-card-ink.png"/>
          <p:cNvPicPr>
            <a:picLocks noChangeAspect="1"/>
          </p:cNvPicPr>
          <p:nvPr/>
        </p:nvPicPr>
        <p:blipFill>
          <a:blip r:embed="rId8"/>
          <a:stretch>
            <a:fillRect/>
          </a:stretch>
        </p:blipFill>
        <p:spPr>
          <a:xfrm>
            <a:off x="8224113" y="2490825"/>
            <a:ext cx="285292" cy="285292"/>
          </a:xfrm>
          <a:prstGeom prst="rect">
            <a:avLst/>
          </a:prstGeom>
        </p:spPr>
      </p:pic>
      <p:sp>
        <p:nvSpPr>
          <p:cNvPr id="110" name="TextBox 109"/>
          <p:cNvSpPr txBox="1"/>
          <p:nvPr/>
        </p:nvSpPr>
        <p:spPr>
          <a:xfrm>
            <a:off x="7946136"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Payment</a:t>
            </a:r>
          </a:p>
        </p:txBody>
      </p:sp>
      <p:sp>
        <p:nvSpPr>
          <p:cNvPr id="111" name="TextBox 110"/>
          <p:cNvSpPr txBox="1"/>
          <p:nvPr/>
        </p:nvSpPr>
        <p:spPr>
          <a:xfrm>
            <a:off x="4572000" y="3218688"/>
            <a:ext cx="4206240" cy="201168"/>
          </a:xfrm>
          <a:prstGeom prst="rect">
            <a:avLst/>
          </a:prstGeom>
          <a:noFill/>
        </p:spPr>
        <p:txBody>
          <a:bodyPr wrap="square" lIns="0" rIns="0" tIns="0" bIns="0" anchor="t">
            <a:noAutofit/>
          </a:bodyPr>
          <a:lstStyle/>
          <a:p>
            <a:pPr algn="l">
              <a:lnSpc>
                <a:spcPct val="100000"/>
              </a:lnSpc>
              <a:spcAft>
                <a:spcPts val="0"/>
              </a:spcAft>
            </a:pPr>
            <a:r>
              <a:rPr sz="950" b="0">
                <a:solidFill>
                  <a:srgbClr val="5F6368"/>
                </a:solidFill>
                <a:latin typeface="Google Sans Flex Medium"/>
              </a:rPr>
              <a:t>Every finding comes with</a:t>
            </a:r>
          </a:p>
        </p:txBody>
      </p:sp>
      <p:sp>
        <p:nvSpPr>
          <p:cNvPr id="112" name="Rounded Rectangle 111"/>
          <p:cNvSpPr/>
          <p:nvPr/>
        </p:nvSpPr>
        <p:spPr>
          <a:xfrm>
            <a:off x="4604004" y="3506724"/>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4572000" y="3474720"/>
            <a:ext cx="2029968" cy="457200"/>
          </a:xfrm>
          <a:prstGeom prst="roundRect">
            <a:avLst>
              <a:gd name="adj" fmla="val 20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l-scan-eye-ink.png"/>
          <p:cNvPicPr>
            <a:picLocks noChangeAspect="1"/>
          </p:cNvPicPr>
          <p:nvPr/>
        </p:nvPicPr>
        <p:blipFill>
          <a:blip r:embed="rId9"/>
          <a:stretch>
            <a:fillRect/>
          </a:stretch>
        </p:blipFill>
        <p:spPr>
          <a:xfrm>
            <a:off x="4681728" y="3575303"/>
            <a:ext cx="256032" cy="256032"/>
          </a:xfrm>
          <a:prstGeom prst="rect">
            <a:avLst/>
          </a:prstGeom>
        </p:spPr>
      </p:pic>
      <p:sp>
        <p:nvSpPr>
          <p:cNvPr id="115" name="TextBox 114"/>
          <p:cNvSpPr txBox="1"/>
          <p:nvPr/>
        </p:nvSpPr>
        <p:spPr>
          <a:xfrm>
            <a:off x="5029200" y="3474720"/>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Screenshot evidence</a:t>
            </a:r>
          </a:p>
        </p:txBody>
      </p:sp>
      <p:sp>
        <p:nvSpPr>
          <p:cNvPr id="116" name="Rounded Rectangle 115"/>
          <p:cNvSpPr/>
          <p:nvPr/>
        </p:nvSpPr>
        <p:spPr>
          <a:xfrm>
            <a:off x="6752844" y="3506724"/>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6720840" y="3474720"/>
            <a:ext cx="2029968" cy="457200"/>
          </a:xfrm>
          <a:prstGeom prst="roundRect">
            <a:avLst>
              <a:gd name="adj" fmla="val 20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l-scale-ink.png"/>
          <p:cNvPicPr>
            <a:picLocks noChangeAspect="1"/>
          </p:cNvPicPr>
          <p:nvPr/>
        </p:nvPicPr>
        <p:blipFill>
          <a:blip r:embed="rId10"/>
          <a:stretch>
            <a:fillRect/>
          </a:stretch>
        </p:blipFill>
        <p:spPr>
          <a:xfrm>
            <a:off x="6830568" y="3575303"/>
            <a:ext cx="256032" cy="256032"/>
          </a:xfrm>
          <a:prstGeom prst="rect">
            <a:avLst/>
          </a:prstGeom>
        </p:spPr>
      </p:pic>
      <p:sp>
        <p:nvSpPr>
          <p:cNvPr id="119" name="TextBox 118"/>
          <p:cNvSpPr txBox="1"/>
          <p:nvPr/>
        </p:nvSpPr>
        <p:spPr>
          <a:xfrm>
            <a:off x="7178040" y="3474720"/>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The exact rule broken</a:t>
            </a:r>
          </a:p>
        </p:txBody>
      </p:sp>
      <p:sp>
        <p:nvSpPr>
          <p:cNvPr id="120" name="Rounded Rectangle 119"/>
          <p:cNvSpPr/>
          <p:nvPr/>
        </p:nvSpPr>
        <p:spPr>
          <a:xfrm>
            <a:off x="4604004" y="4073652"/>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4572000" y="4041648"/>
            <a:ext cx="2029968" cy="457200"/>
          </a:xfrm>
          <a:prstGeom prst="roundRect">
            <a:avLst>
              <a:gd name="adj" fmla="val 20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2" name="Picture 121" descr="l-indian-rupee-ink.png"/>
          <p:cNvPicPr>
            <a:picLocks noChangeAspect="1"/>
          </p:cNvPicPr>
          <p:nvPr/>
        </p:nvPicPr>
        <p:blipFill>
          <a:blip r:embed="rId11"/>
          <a:stretch>
            <a:fillRect/>
          </a:stretch>
        </p:blipFill>
        <p:spPr>
          <a:xfrm>
            <a:off x="4681728" y="4142232"/>
            <a:ext cx="256032" cy="256032"/>
          </a:xfrm>
          <a:prstGeom prst="rect">
            <a:avLst/>
          </a:prstGeom>
        </p:spPr>
      </p:pic>
      <p:sp>
        <p:nvSpPr>
          <p:cNvPr id="123" name="TextBox 122"/>
          <p:cNvSpPr txBox="1"/>
          <p:nvPr/>
        </p:nvSpPr>
        <p:spPr>
          <a:xfrm>
            <a:off x="5029200" y="4041648"/>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What it really costs</a:t>
            </a:r>
          </a:p>
        </p:txBody>
      </p:sp>
      <p:sp>
        <p:nvSpPr>
          <p:cNvPr id="124" name="Rounded Rectangle 123"/>
          <p:cNvSpPr/>
          <p:nvPr/>
        </p:nvSpPr>
        <p:spPr>
          <a:xfrm>
            <a:off x="6752844" y="4073652"/>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ounded Rectangle 124"/>
          <p:cNvSpPr/>
          <p:nvPr/>
        </p:nvSpPr>
        <p:spPr>
          <a:xfrm>
            <a:off x="6720840" y="4041648"/>
            <a:ext cx="2029968" cy="457200"/>
          </a:xfrm>
          <a:prstGeom prst="roundRect">
            <a:avLst>
              <a:gd name="adj" fmla="val 2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6" name="Picture 125" descr="l-sparkles-ink.png"/>
          <p:cNvPicPr>
            <a:picLocks noChangeAspect="1"/>
          </p:cNvPicPr>
          <p:nvPr/>
        </p:nvPicPr>
        <p:blipFill>
          <a:blip r:embed="rId12"/>
          <a:stretch>
            <a:fillRect/>
          </a:stretch>
        </p:blipFill>
        <p:spPr>
          <a:xfrm>
            <a:off x="6830568" y="4142232"/>
            <a:ext cx="256032" cy="256032"/>
          </a:xfrm>
          <a:prstGeom prst="rect">
            <a:avLst/>
          </a:prstGeom>
        </p:spPr>
      </p:pic>
      <p:sp>
        <p:nvSpPr>
          <p:cNvPr id="127" name="TextBox 126"/>
          <p:cNvSpPr txBox="1"/>
          <p:nvPr/>
        </p:nvSpPr>
        <p:spPr>
          <a:xfrm>
            <a:off x="7178040" y="4041648"/>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A specific fix</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65759" y="1307592"/>
            <a:ext cx="2743200" cy="3017520"/>
          </a:xfrm>
          <a:prstGeom prst="roundRect">
            <a:avLst>
              <a:gd name="adj" fmla="val 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ounded Rectangle 80"/>
          <p:cNvSpPr/>
          <p:nvPr/>
        </p:nvSpPr>
        <p:spPr>
          <a:xfrm>
            <a:off x="320040" y="1261872"/>
            <a:ext cx="2743200" cy="3017520"/>
          </a:xfrm>
          <a:prstGeom prst="roundRect">
            <a:avLst>
              <a:gd name="adj" fmla="val 400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ounded Rectangle 81"/>
          <p:cNvSpPr/>
          <p:nvPr/>
        </p:nvSpPr>
        <p:spPr>
          <a:xfrm>
            <a:off x="320040" y="1261872"/>
            <a:ext cx="2743200" cy="566928"/>
          </a:xfrm>
          <a:prstGeom prst="roundRect">
            <a:avLst>
              <a:gd name="adj" fmla="val 19354"/>
            </a:avLst>
          </a:prstGeom>
          <a:solidFill>
            <a:srgbClr val="C4B5FD"/>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329184" y="1645920"/>
            <a:ext cx="2724912" cy="182880"/>
          </a:xfrm>
          <a:prstGeom prst="rect">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4" name="Connector 83"/>
          <p:cNvCxnSpPr/>
          <p:nvPr/>
        </p:nvCxnSpPr>
        <p:spPr>
          <a:xfrm>
            <a:off x="320040" y="1828800"/>
            <a:ext cx="274320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448056" y="1399032"/>
            <a:ext cx="292608" cy="29260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448056" y="1399032"/>
            <a:ext cx="292608" cy="292608"/>
          </a:xfrm>
          <a:prstGeom prst="rect">
            <a:avLst/>
          </a:prstGeom>
          <a:noFill/>
        </p:spPr>
        <p:txBody>
          <a:bodyPr wrap="square" lIns="0" rIns="0" tIns="0" bIns="0" anchor="ctr">
            <a:noAutofit/>
          </a:bodyPr>
          <a:lstStyle/>
          <a:p>
            <a:pPr algn="ctr">
              <a:lnSpc>
                <a:spcPct val="100000"/>
              </a:lnSpc>
              <a:spcAft>
                <a:spcPts val="0"/>
              </a:spcAft>
            </a:pPr>
            <a:r>
              <a:rPr sz="1100" b="1">
                <a:solidFill>
                  <a:srgbClr val="111111"/>
                </a:solidFill>
                <a:latin typeface="Google Sans Flex"/>
              </a:rPr>
              <a:t>1</a:t>
            </a:r>
          </a:p>
        </p:txBody>
      </p:sp>
      <p:sp>
        <p:nvSpPr>
          <p:cNvPr id="87" name="TextBox 86"/>
          <p:cNvSpPr txBox="1"/>
          <p:nvPr/>
        </p:nvSpPr>
        <p:spPr>
          <a:xfrm>
            <a:off x="832104" y="1298448"/>
            <a:ext cx="2148840" cy="493776"/>
          </a:xfrm>
          <a:prstGeom prst="rect">
            <a:avLst/>
          </a:prstGeom>
          <a:noFill/>
        </p:spPr>
        <p:txBody>
          <a:bodyPr wrap="square" lIns="0" rIns="0" tIns="0" bIns="0" anchor="ctr">
            <a:noAutofit/>
          </a:bodyPr>
          <a:lstStyle/>
          <a:p>
            <a:pPr algn="l">
              <a:lnSpc>
                <a:spcPct val="95000"/>
              </a:lnSpc>
              <a:spcAft>
                <a:spcPts val="0"/>
              </a:spcAft>
            </a:pPr>
            <a:r>
              <a:rPr sz="1050" b="0">
                <a:solidFill>
                  <a:srgbClr val="111111"/>
                </a:solidFill>
                <a:latin typeface="Google Sans Flex SemiBold"/>
              </a:rPr>
              <a:t>How is it different from existing ideas?</a:t>
            </a:r>
          </a:p>
        </p:txBody>
      </p:sp>
      <p:sp>
        <p:nvSpPr>
          <p:cNvPr id="88" name="TextBox 87"/>
          <p:cNvSpPr txBox="1"/>
          <p:nvPr/>
        </p:nvSpPr>
        <p:spPr>
          <a:xfrm>
            <a:off x="466344" y="1984248"/>
            <a:ext cx="2468880" cy="2240280"/>
          </a:xfrm>
          <a:prstGeom prst="rect">
            <a:avLst/>
          </a:prstGeom>
          <a:noFill/>
        </p:spPr>
        <p:txBody>
          <a:bodyPr wrap="square" lIns="0" rIns="0" tIns="0" bIns="0" anchor="t">
            <a:noAutofit/>
          </a:bodyPr>
          <a:lstStyle/>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Walks the whole journey </a:t>
            </a:r>
            <a:r>
              <a:rPr sz="1050" b="0">
                <a:solidFill>
                  <a:srgbClr val="111111"/>
                </a:solidFill>
                <a:latin typeface="Google Sans Flex"/>
              </a:rPr>
              <a:t>in a real browser, product to payment, instead of scanning one page or one piece of text.</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Measures, doesn't guess: </a:t>
            </a:r>
            <a:r>
              <a:rPr sz="1050" b="0">
                <a:solidFill>
                  <a:srgbClr val="111111"/>
                </a:solidFill>
                <a:latin typeface="Google Sans Flex"/>
              </a:rPr>
              <a:t>reloads to catch restarting timers, compares cart with page, spots fees that appear only at payment.</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Checks the MRP </a:t>
            </a:r>
            <a:r>
              <a:rPr sz="1050" b="0">
                <a:solidFill>
                  <a:srgbClr val="111111"/>
                </a:solidFill>
                <a:latin typeface="Google Sans Flex"/>
              </a:rPr>
              <a:t>against real price history in BigQuery.</a:t>
            </a:r>
          </a:p>
        </p:txBody>
      </p:sp>
      <p:sp>
        <p:nvSpPr>
          <p:cNvPr id="89" name="Rounded Rectangle 88"/>
          <p:cNvSpPr/>
          <p:nvPr/>
        </p:nvSpPr>
        <p:spPr>
          <a:xfrm>
            <a:off x="3246120" y="1307592"/>
            <a:ext cx="2743200" cy="3017520"/>
          </a:xfrm>
          <a:prstGeom prst="roundRect">
            <a:avLst>
              <a:gd name="adj" fmla="val 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3200400" y="1261872"/>
            <a:ext cx="2743200" cy="3017520"/>
          </a:xfrm>
          <a:prstGeom prst="roundRect">
            <a:avLst>
              <a:gd name="adj" fmla="val 400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ounded Rectangle 90"/>
          <p:cNvSpPr/>
          <p:nvPr/>
        </p:nvSpPr>
        <p:spPr>
          <a:xfrm>
            <a:off x="3200400" y="1261872"/>
            <a:ext cx="2743200" cy="566928"/>
          </a:xfrm>
          <a:prstGeom prst="roundRect">
            <a:avLst>
              <a:gd name="adj" fmla="val 19354"/>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3209544" y="1645920"/>
            <a:ext cx="2724912" cy="182880"/>
          </a:xfrm>
          <a:prstGeom prst="rect">
            <a:avLst/>
          </a:prstGeom>
          <a:solidFill>
            <a:srgbClr val="FFD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a:off x="3200400" y="1828800"/>
            <a:ext cx="274320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3328416" y="1399032"/>
            <a:ext cx="292608" cy="29260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3328416" y="1399032"/>
            <a:ext cx="292608" cy="292608"/>
          </a:xfrm>
          <a:prstGeom prst="rect">
            <a:avLst/>
          </a:prstGeom>
          <a:noFill/>
        </p:spPr>
        <p:txBody>
          <a:bodyPr wrap="square" lIns="0" rIns="0" tIns="0" bIns="0" anchor="ctr">
            <a:noAutofit/>
          </a:bodyPr>
          <a:lstStyle/>
          <a:p>
            <a:pPr algn="ctr">
              <a:lnSpc>
                <a:spcPct val="100000"/>
              </a:lnSpc>
              <a:spcAft>
                <a:spcPts val="0"/>
              </a:spcAft>
            </a:pPr>
            <a:r>
              <a:rPr sz="1100" b="1">
                <a:solidFill>
                  <a:srgbClr val="111111"/>
                </a:solidFill>
                <a:latin typeface="Google Sans Flex"/>
              </a:rPr>
              <a:t>2</a:t>
            </a:r>
          </a:p>
        </p:txBody>
      </p:sp>
      <p:sp>
        <p:nvSpPr>
          <p:cNvPr id="96" name="TextBox 95"/>
          <p:cNvSpPr txBox="1"/>
          <p:nvPr/>
        </p:nvSpPr>
        <p:spPr>
          <a:xfrm>
            <a:off x="3712464" y="1298448"/>
            <a:ext cx="2148840" cy="493776"/>
          </a:xfrm>
          <a:prstGeom prst="rect">
            <a:avLst/>
          </a:prstGeom>
          <a:noFill/>
        </p:spPr>
        <p:txBody>
          <a:bodyPr wrap="square" lIns="0" rIns="0" tIns="0" bIns="0" anchor="ctr">
            <a:noAutofit/>
          </a:bodyPr>
          <a:lstStyle/>
          <a:p>
            <a:pPr algn="l">
              <a:lnSpc>
                <a:spcPct val="95000"/>
              </a:lnSpc>
              <a:spcAft>
                <a:spcPts val="0"/>
              </a:spcAft>
            </a:pPr>
            <a:r>
              <a:rPr sz="1050" b="0">
                <a:solidFill>
                  <a:srgbClr val="111111"/>
                </a:solidFill>
                <a:latin typeface="Google Sans Flex SemiBold"/>
              </a:rPr>
              <a:t>How will it solve the problem?</a:t>
            </a:r>
          </a:p>
        </p:txBody>
      </p:sp>
      <p:sp>
        <p:nvSpPr>
          <p:cNvPr id="97" name="TextBox 96"/>
          <p:cNvSpPr txBox="1"/>
          <p:nvPr/>
        </p:nvSpPr>
        <p:spPr>
          <a:xfrm>
            <a:off x="3346704" y="1984248"/>
            <a:ext cx="2468880" cy="2240280"/>
          </a:xfrm>
          <a:prstGeom prst="rect">
            <a:avLst/>
          </a:prstGeom>
          <a:noFill/>
        </p:spPr>
        <p:txBody>
          <a:bodyPr wrap="square" lIns="0" rIns="0" tIns="0" bIns="0" anchor="t">
            <a:noAutofit/>
          </a:bodyPr>
          <a:lstStyle/>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Platforms: </a:t>
            </a:r>
            <a:r>
              <a:rPr sz="1050" b="0">
                <a:solidFill>
                  <a:srgbClr val="111111"/>
                </a:solidFill>
                <a:latin typeface="Google Sans Flex"/>
              </a:rPr>
              <a:t>self-audit before the regulator does, as CCPA asked in June 2025.</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Regulators &amp; consumer groups: </a:t>
            </a:r>
            <a:r>
              <a:rPr sz="1050" b="0">
                <a:solidFill>
                  <a:srgbClr val="111111"/>
                </a:solidFill>
                <a:latin typeface="Google Sans Flex"/>
              </a:rPr>
              <a:t>evidence at scale, with screenshots, rules and ₹ impact.</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Shoppers: </a:t>
            </a:r>
            <a:r>
              <a:rPr sz="1050" b="0">
                <a:solidFill>
                  <a:srgbClr val="111111"/>
                </a:solidFill>
                <a:latin typeface="Google Sans Flex"/>
              </a:rPr>
              <a:t>see the real price and every trick before paying.</a:t>
            </a:r>
          </a:p>
        </p:txBody>
      </p:sp>
      <p:sp>
        <p:nvSpPr>
          <p:cNvPr id="98" name="Rounded Rectangle 97"/>
          <p:cNvSpPr/>
          <p:nvPr/>
        </p:nvSpPr>
        <p:spPr>
          <a:xfrm>
            <a:off x="6126479" y="1307592"/>
            <a:ext cx="2743200" cy="3017520"/>
          </a:xfrm>
          <a:prstGeom prst="roundRect">
            <a:avLst>
              <a:gd name="adj" fmla="val 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6080759" y="1261872"/>
            <a:ext cx="2743200" cy="3017520"/>
          </a:xfrm>
          <a:prstGeom prst="roundRect">
            <a:avLst>
              <a:gd name="adj" fmla="val 4000"/>
            </a:avLst>
          </a:prstGeom>
          <a:solidFill>
            <a:srgbClr val="FFF0F7"/>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6080759" y="1261872"/>
            <a:ext cx="2743200" cy="566928"/>
          </a:xfrm>
          <a:prstGeom prst="roundRect">
            <a:avLst>
              <a:gd name="adj" fmla="val 19354"/>
            </a:avLst>
          </a:prstGeom>
          <a:solidFill>
            <a:srgbClr val="FF5CA8"/>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089903" y="1645920"/>
            <a:ext cx="2724912" cy="182880"/>
          </a:xfrm>
          <a:prstGeom prst="rect">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2" name="Connector 101"/>
          <p:cNvCxnSpPr/>
          <p:nvPr/>
        </p:nvCxnSpPr>
        <p:spPr>
          <a:xfrm>
            <a:off x="6080759" y="1828800"/>
            <a:ext cx="274320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sp>
        <p:nvSpPr>
          <p:cNvPr id="103" name="Oval 102"/>
          <p:cNvSpPr/>
          <p:nvPr/>
        </p:nvSpPr>
        <p:spPr>
          <a:xfrm>
            <a:off x="6208775" y="1399032"/>
            <a:ext cx="292608" cy="29260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208775" y="1399032"/>
            <a:ext cx="292608" cy="292608"/>
          </a:xfrm>
          <a:prstGeom prst="rect">
            <a:avLst/>
          </a:prstGeom>
          <a:noFill/>
        </p:spPr>
        <p:txBody>
          <a:bodyPr wrap="square" lIns="0" rIns="0" tIns="0" bIns="0" anchor="ctr">
            <a:noAutofit/>
          </a:bodyPr>
          <a:lstStyle/>
          <a:p>
            <a:pPr algn="ctr">
              <a:lnSpc>
                <a:spcPct val="100000"/>
              </a:lnSpc>
              <a:spcAft>
                <a:spcPts val="0"/>
              </a:spcAft>
            </a:pPr>
            <a:r>
              <a:rPr sz="1100" b="1">
                <a:solidFill>
                  <a:srgbClr val="111111"/>
                </a:solidFill>
                <a:latin typeface="Google Sans Flex"/>
              </a:rPr>
              <a:t>3</a:t>
            </a:r>
          </a:p>
        </p:txBody>
      </p:sp>
      <p:sp>
        <p:nvSpPr>
          <p:cNvPr id="105" name="TextBox 104"/>
          <p:cNvSpPr txBox="1"/>
          <p:nvPr/>
        </p:nvSpPr>
        <p:spPr>
          <a:xfrm>
            <a:off x="6592823" y="1298448"/>
            <a:ext cx="2148840" cy="493776"/>
          </a:xfrm>
          <a:prstGeom prst="rect">
            <a:avLst/>
          </a:prstGeom>
          <a:noFill/>
        </p:spPr>
        <p:txBody>
          <a:bodyPr wrap="square" lIns="0" rIns="0" tIns="0" bIns="0" anchor="ctr">
            <a:noAutofit/>
          </a:bodyPr>
          <a:lstStyle/>
          <a:p>
            <a:pPr algn="l">
              <a:lnSpc>
                <a:spcPct val="95000"/>
              </a:lnSpc>
              <a:spcAft>
                <a:spcPts val="0"/>
              </a:spcAft>
            </a:pPr>
            <a:r>
              <a:rPr sz="1050" b="0">
                <a:solidFill>
                  <a:srgbClr val="111111"/>
                </a:solidFill>
                <a:latin typeface="Google Sans Flex SemiBold"/>
              </a:rPr>
              <a:t>USP of the proposed solution</a:t>
            </a:r>
          </a:p>
        </p:txBody>
      </p:sp>
      <p:sp>
        <p:nvSpPr>
          <p:cNvPr id="106" name="TextBox 105"/>
          <p:cNvSpPr txBox="1"/>
          <p:nvPr/>
        </p:nvSpPr>
        <p:spPr>
          <a:xfrm>
            <a:off x="6227064" y="1984248"/>
            <a:ext cx="2468880" cy="2240280"/>
          </a:xfrm>
          <a:prstGeom prst="rect">
            <a:avLst/>
          </a:prstGeom>
          <a:noFill/>
        </p:spPr>
        <p:txBody>
          <a:bodyPr wrap="square" lIns="0" rIns="0" tIns="0" bIns="0" anchor="t">
            <a:noAutofit/>
          </a:bodyPr>
          <a:lstStyle/>
          <a:p>
            <a:pPr algn="l">
              <a:lnSpc>
                <a:spcPct val="105000"/>
              </a:lnSpc>
              <a:spcAft>
                <a:spcPts val="1000"/>
              </a:spcAft>
            </a:pPr>
            <a:r>
              <a:rPr sz="850" b="0">
                <a:solidFill>
                  <a:srgbClr val="FF5CA8"/>
                </a:solidFill>
                <a:latin typeface="Google Sans Flex"/>
              </a:rPr>
              <a:t>■  </a:t>
            </a:r>
            <a:r>
              <a:rPr sz="1050" b="1">
                <a:solidFill>
                  <a:srgbClr val="111111"/>
                </a:solidFill>
                <a:latin typeface="Google Sans Flex"/>
              </a:rPr>
              <a:t>Proof, not opinions: </a:t>
            </a:r>
            <a:r>
              <a:rPr sz="1050" b="0">
                <a:solidFill>
                  <a:srgbClr val="111111"/>
                </a:solidFill>
                <a:latin typeface="Google Sans Flex"/>
              </a:rPr>
              <a:t>every claim cites a measured page element and a second AI double-checks it; unsure claims go to a human.</a:t>
            </a:r>
          </a:p>
          <a:p>
            <a:pPr algn="l">
              <a:lnSpc>
                <a:spcPct val="105000"/>
              </a:lnSpc>
              <a:spcAft>
                <a:spcPts val="1000"/>
              </a:spcAft>
            </a:pPr>
            <a:r>
              <a:rPr sz="850" b="0">
                <a:solidFill>
                  <a:srgbClr val="FF5CA8"/>
                </a:solidFill>
                <a:latin typeface="Google Sans Flex"/>
              </a:rPr>
              <a:t>■  </a:t>
            </a:r>
            <a:r>
              <a:rPr sz="1050" b="1">
                <a:solidFill>
                  <a:srgbClr val="111111"/>
                </a:solidFill>
                <a:latin typeface="Google Sans Flex"/>
              </a:rPr>
              <a:t>Speaks money and law: </a:t>
            </a:r>
            <a:r>
              <a:rPr sz="1050" b="0">
                <a:solidFill>
                  <a:srgbClr val="111111"/>
                </a:solidFill>
                <a:latin typeface="Google Sans Flex"/>
              </a:rPr>
              <a:t>"+₹395 per order", the rule broken in 7 regions, and a fix for each finding.</a:t>
            </a:r>
          </a:p>
          <a:p>
            <a:pPr algn="l">
              <a:lnSpc>
                <a:spcPct val="105000"/>
              </a:lnSpc>
              <a:spcAft>
                <a:spcPts val="1000"/>
              </a:spcAft>
            </a:pPr>
            <a:r>
              <a:rPr sz="850" b="0">
                <a:solidFill>
                  <a:srgbClr val="FF5CA8"/>
                </a:solidFill>
                <a:latin typeface="Google Sans Flex"/>
              </a:rPr>
              <a:t>■  </a:t>
            </a:r>
            <a:r>
              <a:rPr sz="1050" b="1">
                <a:solidFill>
                  <a:srgbClr val="111111"/>
                </a:solidFill>
                <a:latin typeface="Google Sans Flex"/>
              </a:rPr>
              <a:t>Honest about limits: </a:t>
            </a:r>
            <a:r>
              <a:rPr sz="1050" b="0">
                <a:solidFill>
                  <a:srgbClr val="111111"/>
                </a:solidFill>
                <a:latin typeface="Google Sans Flex"/>
              </a:rPr>
              <a:t>stops at sign-in walls and bot protection, and says what it couldn't see.</a:t>
            </a:r>
          </a:p>
        </p:txBody>
      </p:sp>
      <p:sp>
        <p:nvSpPr>
          <p:cNvPr id="107" name="Rounded Rectangle 106"/>
          <p:cNvSpPr/>
          <p:nvPr/>
        </p:nvSpPr>
        <p:spPr>
          <a:xfrm>
            <a:off x="356615" y="4480560"/>
            <a:ext cx="8503920" cy="384048"/>
          </a:xfrm>
          <a:prstGeom prst="roundRect">
            <a:avLst>
              <a:gd name="adj" fmla="val 23809"/>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320040" y="4443984"/>
            <a:ext cx="8503920" cy="384048"/>
          </a:xfrm>
          <a:prstGeom prst="roundRect">
            <a:avLst>
              <a:gd name="adj" fmla="val 23809"/>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502920" y="4443984"/>
            <a:ext cx="8138160" cy="384048"/>
          </a:xfrm>
          <a:prstGeom prst="rect">
            <a:avLst/>
          </a:prstGeom>
          <a:noFill/>
        </p:spPr>
        <p:txBody>
          <a:bodyPr wrap="square" lIns="0" rIns="0" tIns="0" bIns="0" anchor="ctr">
            <a:noAutofit/>
          </a:bodyPr>
          <a:lstStyle/>
          <a:p>
            <a:pPr algn="ctr">
              <a:lnSpc>
                <a:spcPct val="100000"/>
              </a:lnSpc>
              <a:spcAft>
                <a:spcPts val="0"/>
              </a:spcAft>
            </a:pPr>
            <a:r>
              <a:rPr sz="1050" b="0">
                <a:solidFill>
                  <a:srgbClr val="111111"/>
                </a:solidFill>
                <a:latin typeface="Google Sans Flex SemiBold"/>
              </a:rPr>
              <a:t>Proof it works:  </a:t>
            </a:r>
            <a:r>
              <a:rPr sz="1050" b="1">
                <a:solidFill>
                  <a:srgbClr val="111111"/>
                </a:solidFill>
                <a:latin typeface="Google Sans Flex"/>
              </a:rPr>
              <a:t>9/9</a:t>
            </a:r>
            <a:r>
              <a:rPr sz="1050" b="0">
                <a:solidFill>
                  <a:srgbClr val="111111"/>
                </a:solidFill>
                <a:latin typeface="Google Sans Flex"/>
              </a:rPr>
              <a:t> planted tricks caught  ·  </a:t>
            </a:r>
            <a:r>
              <a:rPr sz="1050" b="1">
                <a:solidFill>
                  <a:srgbClr val="111111"/>
                </a:solidFill>
                <a:latin typeface="Google Sans Flex"/>
              </a:rPr>
              <a:t>0</a:t>
            </a:r>
            <a:r>
              <a:rPr sz="1050" b="0">
                <a:solidFill>
                  <a:srgbClr val="111111"/>
                </a:solidFill>
                <a:latin typeface="Google Sans Flex"/>
              </a:rPr>
              <a:t> false alarms  ·  </a:t>
            </a:r>
            <a:r>
              <a:rPr sz="1050" b="1">
                <a:solidFill>
                  <a:srgbClr val="111111"/>
                </a:solidFill>
                <a:latin typeface="Google Sans Flex"/>
              </a:rPr>
              <a:t>0.962 F1</a:t>
            </a:r>
            <a:r>
              <a:rPr sz="1050" b="0">
                <a:solidFill>
                  <a:srgbClr val="111111"/>
                </a:solidFill>
                <a:latin typeface="Google Sans Flex"/>
              </a:rPr>
              <a:t> zero-shot on 2,356 public shopping texts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65759"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ounded Rectangle 88"/>
          <p:cNvSpPr/>
          <p:nvPr/>
        </p:nvSpPr>
        <p:spPr>
          <a:xfrm>
            <a:off x="320040"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493776"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ounded Rectangle 90"/>
          <p:cNvSpPr/>
          <p:nvPr/>
        </p:nvSpPr>
        <p:spPr>
          <a:xfrm>
            <a:off x="466344" y="1417319"/>
            <a:ext cx="475488" cy="475488"/>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2" name="Picture 91" descr="l-play-ink.png"/>
          <p:cNvPicPr>
            <a:picLocks noChangeAspect="1"/>
          </p:cNvPicPr>
          <p:nvPr/>
        </p:nvPicPr>
        <p:blipFill>
          <a:blip r:embed="rId5"/>
          <a:stretch>
            <a:fillRect/>
          </a:stretch>
        </p:blipFill>
        <p:spPr>
          <a:xfrm>
            <a:off x="561441" y="1512417"/>
            <a:ext cx="285292" cy="285292"/>
          </a:xfrm>
          <a:prstGeom prst="rect">
            <a:avLst/>
          </a:prstGeom>
        </p:spPr>
      </p:pic>
      <p:sp>
        <p:nvSpPr>
          <p:cNvPr id="93" name="TextBox 92"/>
          <p:cNvSpPr txBox="1"/>
          <p:nvPr/>
        </p:nvSpPr>
        <p:spPr>
          <a:xfrm>
            <a:off x="1069848"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01</a:t>
            </a:r>
          </a:p>
        </p:txBody>
      </p:sp>
      <p:sp>
        <p:nvSpPr>
          <p:cNvPr id="94" name="TextBox 93"/>
          <p:cNvSpPr txBox="1"/>
          <p:nvPr/>
        </p:nvSpPr>
        <p:spPr>
          <a:xfrm>
            <a:off x="466344"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Live agent walkthrough</a:t>
            </a:r>
          </a:p>
        </p:txBody>
      </p:sp>
      <p:sp>
        <p:nvSpPr>
          <p:cNvPr id="95" name="TextBox 94"/>
          <p:cNvSpPr txBox="1"/>
          <p:nvPr/>
        </p:nvSpPr>
        <p:spPr>
          <a:xfrm>
            <a:off x="466344"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Watch agents shop in a real browser, narrating every step as they go.</a:t>
            </a:r>
          </a:p>
        </p:txBody>
      </p:sp>
      <p:sp>
        <p:nvSpPr>
          <p:cNvPr id="96" name="Rounded Rectangle 95"/>
          <p:cNvSpPr/>
          <p:nvPr/>
        </p:nvSpPr>
        <p:spPr>
          <a:xfrm>
            <a:off x="2530602"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ounded Rectangle 96"/>
          <p:cNvSpPr/>
          <p:nvPr/>
        </p:nvSpPr>
        <p:spPr>
          <a:xfrm>
            <a:off x="2484882"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2658618"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2631186" y="1417319"/>
            <a:ext cx="475488" cy="475488"/>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0" name="Picture 99" descr="l-ruler-ink.png"/>
          <p:cNvPicPr>
            <a:picLocks noChangeAspect="1"/>
          </p:cNvPicPr>
          <p:nvPr/>
        </p:nvPicPr>
        <p:blipFill>
          <a:blip r:embed="rId6"/>
          <a:stretch>
            <a:fillRect/>
          </a:stretch>
        </p:blipFill>
        <p:spPr>
          <a:xfrm>
            <a:off x="2726283" y="1512417"/>
            <a:ext cx="285292" cy="285292"/>
          </a:xfrm>
          <a:prstGeom prst="rect">
            <a:avLst/>
          </a:prstGeom>
        </p:spPr>
      </p:pic>
      <p:sp>
        <p:nvSpPr>
          <p:cNvPr id="101" name="TextBox 100"/>
          <p:cNvSpPr txBox="1"/>
          <p:nvPr/>
        </p:nvSpPr>
        <p:spPr>
          <a:xfrm>
            <a:off x="3234690"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02</a:t>
            </a:r>
          </a:p>
        </p:txBody>
      </p:sp>
      <p:sp>
        <p:nvSpPr>
          <p:cNvPr id="102" name="TextBox 101"/>
          <p:cNvSpPr txBox="1"/>
          <p:nvPr/>
        </p:nvSpPr>
        <p:spPr>
          <a:xfrm>
            <a:off x="2631186"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Measured checks</a:t>
            </a:r>
          </a:p>
        </p:txBody>
      </p:sp>
      <p:sp>
        <p:nvSpPr>
          <p:cNvPr id="103" name="TextBox 102"/>
          <p:cNvSpPr txBox="1"/>
          <p:nvPr/>
        </p:nvSpPr>
        <p:spPr>
          <a:xfrm>
            <a:off x="2631186"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Restarting timers, frozen stock, sneaked items, pre-ticked boxes, late fees.</a:t>
            </a:r>
          </a:p>
        </p:txBody>
      </p:sp>
      <p:sp>
        <p:nvSpPr>
          <p:cNvPr id="104" name="Rounded Rectangle 103"/>
          <p:cNvSpPr/>
          <p:nvPr/>
        </p:nvSpPr>
        <p:spPr>
          <a:xfrm>
            <a:off x="4695444"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4649724"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4823460"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ounded Rectangle 106"/>
          <p:cNvSpPr/>
          <p:nvPr/>
        </p:nvSpPr>
        <p:spPr>
          <a:xfrm>
            <a:off x="4796028" y="1417319"/>
            <a:ext cx="475488" cy="475488"/>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8" name="Picture 107" descr="l-history-ink.png"/>
          <p:cNvPicPr>
            <a:picLocks noChangeAspect="1"/>
          </p:cNvPicPr>
          <p:nvPr/>
        </p:nvPicPr>
        <p:blipFill>
          <a:blip r:embed="rId7"/>
          <a:stretch>
            <a:fillRect/>
          </a:stretch>
        </p:blipFill>
        <p:spPr>
          <a:xfrm>
            <a:off x="4891125" y="1512417"/>
            <a:ext cx="285292" cy="285292"/>
          </a:xfrm>
          <a:prstGeom prst="rect">
            <a:avLst/>
          </a:prstGeom>
        </p:spPr>
      </p:pic>
      <p:sp>
        <p:nvSpPr>
          <p:cNvPr id="109" name="TextBox 108"/>
          <p:cNvSpPr txBox="1"/>
          <p:nvPr/>
        </p:nvSpPr>
        <p:spPr>
          <a:xfrm>
            <a:off x="5399532"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03</a:t>
            </a:r>
          </a:p>
        </p:txBody>
      </p:sp>
      <p:sp>
        <p:nvSpPr>
          <p:cNvPr id="110" name="TextBox 109"/>
          <p:cNvSpPr txBox="1"/>
          <p:nvPr/>
        </p:nvSpPr>
        <p:spPr>
          <a:xfrm>
            <a:off x="4796028"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Price Historian</a:t>
            </a:r>
          </a:p>
        </p:txBody>
      </p:sp>
      <p:sp>
        <p:nvSpPr>
          <p:cNvPr id="111" name="TextBox 110"/>
          <p:cNvSpPr txBox="1"/>
          <p:nvPr/>
        </p:nvSpPr>
        <p:spPr>
          <a:xfrm>
            <a:off x="4796028"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BigQuery price history exposes "MRPs" the product never sold at.</a:t>
            </a:r>
          </a:p>
        </p:txBody>
      </p:sp>
      <p:sp>
        <p:nvSpPr>
          <p:cNvPr id="112" name="Rounded Rectangle 111"/>
          <p:cNvSpPr/>
          <p:nvPr/>
        </p:nvSpPr>
        <p:spPr>
          <a:xfrm>
            <a:off x="6860286"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6814566"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ounded Rectangle 113"/>
          <p:cNvSpPr/>
          <p:nvPr/>
        </p:nvSpPr>
        <p:spPr>
          <a:xfrm>
            <a:off x="6988302"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ounded Rectangle 114"/>
          <p:cNvSpPr/>
          <p:nvPr/>
        </p:nvSpPr>
        <p:spPr>
          <a:xfrm>
            <a:off x="6960870" y="1417319"/>
            <a:ext cx="475488" cy="475488"/>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6" name="Picture 115" descr="l-scan-eye-ink.png"/>
          <p:cNvPicPr>
            <a:picLocks noChangeAspect="1"/>
          </p:cNvPicPr>
          <p:nvPr/>
        </p:nvPicPr>
        <p:blipFill>
          <a:blip r:embed="rId8"/>
          <a:stretch>
            <a:fillRect/>
          </a:stretch>
        </p:blipFill>
        <p:spPr>
          <a:xfrm>
            <a:off x="7055967" y="1512417"/>
            <a:ext cx="285292" cy="285292"/>
          </a:xfrm>
          <a:prstGeom prst="rect">
            <a:avLst/>
          </a:prstGeom>
        </p:spPr>
      </p:pic>
      <p:sp>
        <p:nvSpPr>
          <p:cNvPr id="117" name="TextBox 116"/>
          <p:cNvSpPr txBox="1"/>
          <p:nvPr/>
        </p:nvSpPr>
        <p:spPr>
          <a:xfrm>
            <a:off x="7564374"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04</a:t>
            </a:r>
          </a:p>
        </p:txBody>
      </p:sp>
      <p:sp>
        <p:nvSpPr>
          <p:cNvPr id="118" name="TextBox 117"/>
          <p:cNvSpPr txBox="1"/>
          <p:nvPr/>
        </p:nvSpPr>
        <p:spPr>
          <a:xfrm>
            <a:off x="6960870"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Pattern Analyst</a:t>
            </a:r>
          </a:p>
        </p:txBody>
      </p:sp>
      <p:sp>
        <p:nvSpPr>
          <p:cNvPr id="119" name="TextBox 118"/>
          <p:cNvSpPr txBox="1"/>
          <p:nvPr/>
        </p:nvSpPr>
        <p:spPr>
          <a:xfrm>
            <a:off x="6960870"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Gemini reads each screen for shaming, lopsided buttons and fake claims.</a:t>
            </a:r>
          </a:p>
        </p:txBody>
      </p:sp>
      <p:sp>
        <p:nvSpPr>
          <p:cNvPr id="120" name="Rounded Rectangle 119"/>
          <p:cNvSpPr/>
          <p:nvPr/>
        </p:nvSpPr>
        <p:spPr>
          <a:xfrm>
            <a:off x="365759"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320040"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ounded Rectangle 121"/>
          <p:cNvSpPr/>
          <p:nvPr/>
        </p:nvSpPr>
        <p:spPr>
          <a:xfrm>
            <a:off x="493776"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ounded Rectangle 122"/>
          <p:cNvSpPr/>
          <p:nvPr/>
        </p:nvSpPr>
        <p:spPr>
          <a:xfrm>
            <a:off x="466344" y="3264408"/>
            <a:ext cx="475488" cy="475488"/>
          </a:xfrm>
          <a:prstGeom prst="roundRect">
            <a:avLst>
              <a:gd name="adj" fmla="val 24000"/>
            </a:avLst>
          </a:prstGeom>
          <a:solidFill>
            <a:srgbClr val="4ADE9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4" name="Picture 123" descr="l-scale-ink.png"/>
          <p:cNvPicPr>
            <a:picLocks noChangeAspect="1"/>
          </p:cNvPicPr>
          <p:nvPr/>
        </p:nvPicPr>
        <p:blipFill>
          <a:blip r:embed="rId9"/>
          <a:stretch>
            <a:fillRect/>
          </a:stretch>
        </p:blipFill>
        <p:spPr>
          <a:xfrm>
            <a:off x="561441" y="3359505"/>
            <a:ext cx="285292" cy="285292"/>
          </a:xfrm>
          <a:prstGeom prst="rect">
            <a:avLst/>
          </a:prstGeom>
        </p:spPr>
      </p:pic>
      <p:sp>
        <p:nvSpPr>
          <p:cNvPr id="125" name="TextBox 124"/>
          <p:cNvSpPr txBox="1"/>
          <p:nvPr/>
        </p:nvSpPr>
        <p:spPr>
          <a:xfrm>
            <a:off x="1069848"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05</a:t>
            </a:r>
          </a:p>
        </p:txBody>
      </p:sp>
      <p:sp>
        <p:nvSpPr>
          <p:cNvPr id="126" name="TextBox 125"/>
          <p:cNvSpPr txBox="1"/>
          <p:nvPr/>
        </p:nvSpPr>
        <p:spPr>
          <a:xfrm>
            <a:off x="466344"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Adjudicator + review</a:t>
            </a:r>
          </a:p>
        </p:txBody>
      </p:sp>
      <p:sp>
        <p:nvSpPr>
          <p:cNvPr id="127" name="TextBox 126"/>
          <p:cNvSpPr txBox="1"/>
          <p:nvPr/>
        </p:nvSpPr>
        <p:spPr>
          <a:xfrm>
            <a:off x="466344"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A second Gemini check on the evidence; unsure claims go to a person.</a:t>
            </a:r>
          </a:p>
        </p:txBody>
      </p:sp>
      <p:sp>
        <p:nvSpPr>
          <p:cNvPr id="128" name="Rounded Rectangle 127"/>
          <p:cNvSpPr/>
          <p:nvPr/>
        </p:nvSpPr>
        <p:spPr>
          <a:xfrm>
            <a:off x="2530602"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2484882"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ounded Rectangle 129"/>
          <p:cNvSpPr/>
          <p:nvPr/>
        </p:nvSpPr>
        <p:spPr>
          <a:xfrm>
            <a:off x="2658618"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ounded Rectangle 130"/>
          <p:cNvSpPr/>
          <p:nvPr/>
        </p:nvSpPr>
        <p:spPr>
          <a:xfrm>
            <a:off x="2631186" y="3264408"/>
            <a:ext cx="475488" cy="475488"/>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l-indian-rupee-ink.png"/>
          <p:cNvPicPr>
            <a:picLocks noChangeAspect="1"/>
          </p:cNvPicPr>
          <p:nvPr/>
        </p:nvPicPr>
        <p:blipFill>
          <a:blip r:embed="rId10"/>
          <a:stretch>
            <a:fillRect/>
          </a:stretch>
        </p:blipFill>
        <p:spPr>
          <a:xfrm>
            <a:off x="2726283" y="3359505"/>
            <a:ext cx="285292" cy="285292"/>
          </a:xfrm>
          <a:prstGeom prst="rect">
            <a:avLst/>
          </a:prstGeom>
        </p:spPr>
      </p:pic>
      <p:sp>
        <p:nvSpPr>
          <p:cNvPr id="133" name="TextBox 132"/>
          <p:cNvSpPr txBox="1"/>
          <p:nvPr/>
        </p:nvSpPr>
        <p:spPr>
          <a:xfrm>
            <a:off x="3234690"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06</a:t>
            </a:r>
          </a:p>
        </p:txBody>
      </p:sp>
      <p:sp>
        <p:nvSpPr>
          <p:cNvPr id="134" name="TextBox 133"/>
          <p:cNvSpPr txBox="1"/>
          <p:nvPr/>
        </p:nvSpPr>
        <p:spPr>
          <a:xfrm>
            <a:off x="2631186"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The real bill</a:t>
            </a:r>
          </a:p>
        </p:txBody>
      </p:sp>
      <p:sp>
        <p:nvSpPr>
          <p:cNvPr id="135" name="TextBox 134"/>
          <p:cNvSpPr txBox="1"/>
          <p:nvPr/>
        </p:nvSpPr>
        <p:spPr>
          <a:xfrm>
            <a:off x="2631186"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Price seen vs. price charged, the true saving, overcharge at scale.</a:t>
            </a:r>
          </a:p>
        </p:txBody>
      </p:sp>
      <p:sp>
        <p:nvSpPr>
          <p:cNvPr id="136" name="Rounded Rectangle 135"/>
          <p:cNvSpPr/>
          <p:nvPr/>
        </p:nvSpPr>
        <p:spPr>
          <a:xfrm>
            <a:off x="4695444"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ounded Rectangle 136"/>
          <p:cNvSpPr/>
          <p:nvPr/>
        </p:nvSpPr>
        <p:spPr>
          <a:xfrm>
            <a:off x="4649724"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ounded Rectangle 137"/>
          <p:cNvSpPr/>
          <p:nvPr/>
        </p:nvSpPr>
        <p:spPr>
          <a:xfrm>
            <a:off x="4823460"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ounded Rectangle 138"/>
          <p:cNvSpPr/>
          <p:nvPr/>
        </p:nvSpPr>
        <p:spPr>
          <a:xfrm>
            <a:off x="4796028" y="3264408"/>
            <a:ext cx="475488" cy="475488"/>
          </a:xfrm>
          <a:prstGeom prst="roundRect">
            <a:avLst>
              <a:gd name="adj" fmla="val 24000"/>
            </a:avLst>
          </a:prstGeom>
          <a:solidFill>
            <a:srgbClr val="3B5B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0" name="Picture 139" descr="l-landmark-white.png"/>
          <p:cNvPicPr>
            <a:picLocks noChangeAspect="1"/>
          </p:cNvPicPr>
          <p:nvPr/>
        </p:nvPicPr>
        <p:blipFill>
          <a:blip r:embed="rId11"/>
          <a:stretch>
            <a:fillRect/>
          </a:stretch>
        </p:blipFill>
        <p:spPr>
          <a:xfrm>
            <a:off x="4891125" y="3359505"/>
            <a:ext cx="285292" cy="285292"/>
          </a:xfrm>
          <a:prstGeom prst="rect">
            <a:avLst/>
          </a:prstGeom>
        </p:spPr>
      </p:pic>
      <p:sp>
        <p:nvSpPr>
          <p:cNvPr id="141" name="TextBox 140"/>
          <p:cNvSpPr txBox="1"/>
          <p:nvPr/>
        </p:nvSpPr>
        <p:spPr>
          <a:xfrm>
            <a:off x="5399532"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07</a:t>
            </a:r>
          </a:p>
        </p:txBody>
      </p:sp>
      <p:sp>
        <p:nvSpPr>
          <p:cNvPr id="142" name="TextBox 141"/>
          <p:cNvSpPr txBox="1"/>
          <p:nvPr/>
        </p:nvSpPr>
        <p:spPr>
          <a:xfrm>
            <a:off x="4796028"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Law &amp; fixes</a:t>
            </a:r>
          </a:p>
        </p:txBody>
      </p:sp>
      <p:sp>
        <p:nvSpPr>
          <p:cNvPr id="143" name="TextBox 142"/>
          <p:cNvSpPr txBox="1"/>
          <p:nvPr/>
        </p:nvSpPr>
        <p:spPr>
          <a:xfrm>
            <a:off x="4796028"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The rule broken in India and 6 more regions, real penalties, one fix each.</a:t>
            </a:r>
          </a:p>
        </p:txBody>
      </p:sp>
      <p:sp>
        <p:nvSpPr>
          <p:cNvPr id="144" name="Rounded Rectangle 143"/>
          <p:cNvSpPr/>
          <p:nvPr/>
        </p:nvSpPr>
        <p:spPr>
          <a:xfrm>
            <a:off x="6860286"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6814566"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ounded Rectangle 145"/>
          <p:cNvSpPr/>
          <p:nvPr/>
        </p:nvSpPr>
        <p:spPr>
          <a:xfrm>
            <a:off x="6988302"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6960870" y="3264408"/>
            <a:ext cx="475488" cy="475488"/>
          </a:xfrm>
          <a:prstGeom prst="roundRect">
            <a:avLst>
              <a:gd name="adj" fmla="val 24000"/>
            </a:avLst>
          </a:prstGeom>
          <a:solidFill>
            <a:srgbClr val="FFF8EC"/>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8" name="Picture 147" descr="l-globe-ink.png"/>
          <p:cNvPicPr>
            <a:picLocks noChangeAspect="1"/>
          </p:cNvPicPr>
          <p:nvPr/>
        </p:nvPicPr>
        <p:blipFill>
          <a:blip r:embed="rId12"/>
          <a:stretch>
            <a:fillRect/>
          </a:stretch>
        </p:blipFill>
        <p:spPr>
          <a:xfrm>
            <a:off x="7055967" y="3359505"/>
            <a:ext cx="285292" cy="285292"/>
          </a:xfrm>
          <a:prstGeom prst="rect">
            <a:avLst/>
          </a:prstGeom>
        </p:spPr>
      </p:pic>
      <p:sp>
        <p:nvSpPr>
          <p:cNvPr id="149" name="TextBox 148"/>
          <p:cNvSpPr txBox="1"/>
          <p:nvPr/>
        </p:nvSpPr>
        <p:spPr>
          <a:xfrm>
            <a:off x="7564374"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08</a:t>
            </a:r>
          </a:p>
        </p:txBody>
      </p:sp>
      <p:sp>
        <p:nvSpPr>
          <p:cNvPr id="150" name="TextBox 149"/>
          <p:cNvSpPr txBox="1"/>
          <p:nvPr/>
        </p:nvSpPr>
        <p:spPr>
          <a:xfrm>
            <a:off x="6960870"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Reports for any store</a:t>
            </a:r>
          </a:p>
        </p:txBody>
      </p:sp>
      <p:sp>
        <p:nvSpPr>
          <p:cNvPr id="151" name="TextBox 150"/>
          <p:cNvSpPr txBox="1"/>
          <p:nvPr/>
        </p:nvSpPr>
        <p:spPr>
          <a:xfrm>
            <a:off x="6960870"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Trust score, PDF report; audits real stores logged out, replays for free.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320040" y="1188720"/>
            <a:ext cx="4572000" cy="201168"/>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THE JOURNEY  </a:t>
            </a:r>
            <a:r>
              <a:rPr sz="900" b="0">
                <a:solidFill>
                  <a:srgbClr val="5F6368"/>
                </a:solidFill>
                <a:latin typeface="Google Sans Flex"/>
              </a:rPr>
              <a:t>a logged-out shopper, in a real browser</a:t>
            </a:r>
          </a:p>
        </p:txBody>
      </p:sp>
      <p:sp>
        <p:nvSpPr>
          <p:cNvPr id="97" name="Rounded Rectangle 96"/>
          <p:cNvSpPr/>
          <p:nvPr/>
        </p:nvSpPr>
        <p:spPr>
          <a:xfrm>
            <a:off x="356615"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32004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411479" y="1563624"/>
            <a:ext cx="457200" cy="457200"/>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0" name="Picture 99" descr="l-package-ink.png"/>
          <p:cNvPicPr>
            <a:picLocks noChangeAspect="1"/>
          </p:cNvPicPr>
          <p:nvPr/>
        </p:nvPicPr>
        <p:blipFill>
          <a:blip r:embed="rId5"/>
          <a:stretch>
            <a:fillRect/>
          </a:stretch>
        </p:blipFill>
        <p:spPr>
          <a:xfrm>
            <a:off x="502919" y="1655064"/>
            <a:ext cx="274320" cy="274320"/>
          </a:xfrm>
          <a:prstGeom prst="rect">
            <a:avLst/>
          </a:prstGeom>
        </p:spPr>
      </p:pic>
      <p:sp>
        <p:nvSpPr>
          <p:cNvPr id="101" name="TextBox 100"/>
          <p:cNvSpPr txBox="1"/>
          <p:nvPr/>
        </p:nvSpPr>
        <p:spPr>
          <a:xfrm>
            <a:off x="94183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Product</a:t>
            </a:r>
          </a:p>
        </p:txBody>
      </p:sp>
      <p:sp>
        <p:nvSpPr>
          <p:cNvPr id="102" name="TextBox 101"/>
          <p:cNvSpPr txBox="1"/>
          <p:nvPr/>
        </p:nvSpPr>
        <p:spPr>
          <a:xfrm>
            <a:off x="94183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look, reload, look again</a:t>
            </a:r>
          </a:p>
        </p:txBody>
      </p:sp>
      <p:cxnSp>
        <p:nvCxnSpPr>
          <p:cNvPr id="103" name="Connector 102"/>
          <p:cNvCxnSpPr/>
          <p:nvPr/>
        </p:nvCxnSpPr>
        <p:spPr>
          <a:xfrm>
            <a:off x="1828800" y="1819656"/>
            <a:ext cx="205740"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Rounded Rectangle 103"/>
          <p:cNvSpPr/>
          <p:nvPr/>
        </p:nvSpPr>
        <p:spPr>
          <a:xfrm>
            <a:off x="211683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208026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2171700" y="1563624"/>
            <a:ext cx="457200" cy="457200"/>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7" name="Picture 106" descr="l-palette-ink.png"/>
          <p:cNvPicPr>
            <a:picLocks noChangeAspect="1"/>
          </p:cNvPicPr>
          <p:nvPr/>
        </p:nvPicPr>
        <p:blipFill>
          <a:blip r:embed="rId6"/>
          <a:stretch>
            <a:fillRect/>
          </a:stretch>
        </p:blipFill>
        <p:spPr>
          <a:xfrm>
            <a:off x="2263140" y="1655064"/>
            <a:ext cx="274320" cy="274320"/>
          </a:xfrm>
          <a:prstGeom prst="rect">
            <a:avLst/>
          </a:prstGeom>
        </p:spPr>
      </p:pic>
      <p:sp>
        <p:nvSpPr>
          <p:cNvPr id="108" name="TextBox 107"/>
          <p:cNvSpPr txBox="1"/>
          <p:nvPr/>
        </p:nvSpPr>
        <p:spPr>
          <a:xfrm>
            <a:off x="270205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Variant</a:t>
            </a:r>
          </a:p>
        </p:txBody>
      </p:sp>
      <p:sp>
        <p:nvSpPr>
          <p:cNvPr id="109" name="TextBox 108"/>
          <p:cNvSpPr txBox="1"/>
          <p:nvPr/>
        </p:nvSpPr>
        <p:spPr>
          <a:xfrm>
            <a:off x="270205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switch size or colour</a:t>
            </a:r>
          </a:p>
        </p:txBody>
      </p:sp>
      <p:cxnSp>
        <p:nvCxnSpPr>
          <p:cNvPr id="110" name="Connector 109"/>
          <p:cNvCxnSpPr/>
          <p:nvPr/>
        </p:nvCxnSpPr>
        <p:spPr>
          <a:xfrm>
            <a:off x="3589020" y="1819656"/>
            <a:ext cx="205740"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387705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ounded Rectangle 111"/>
          <p:cNvSpPr/>
          <p:nvPr/>
        </p:nvSpPr>
        <p:spPr>
          <a:xfrm>
            <a:off x="384048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3931920" y="1563624"/>
            <a:ext cx="457200" cy="457200"/>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l-shopping-cart-ink.png"/>
          <p:cNvPicPr>
            <a:picLocks noChangeAspect="1"/>
          </p:cNvPicPr>
          <p:nvPr/>
        </p:nvPicPr>
        <p:blipFill>
          <a:blip r:embed="rId7"/>
          <a:stretch>
            <a:fillRect/>
          </a:stretch>
        </p:blipFill>
        <p:spPr>
          <a:xfrm>
            <a:off x="4023359" y="1655064"/>
            <a:ext cx="274320" cy="274320"/>
          </a:xfrm>
          <a:prstGeom prst="rect">
            <a:avLst/>
          </a:prstGeom>
        </p:spPr>
      </p:pic>
      <p:sp>
        <p:nvSpPr>
          <p:cNvPr id="115" name="TextBox 114"/>
          <p:cNvSpPr txBox="1"/>
          <p:nvPr/>
        </p:nvSpPr>
        <p:spPr>
          <a:xfrm>
            <a:off x="446227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Cart</a:t>
            </a:r>
          </a:p>
        </p:txBody>
      </p:sp>
      <p:sp>
        <p:nvSpPr>
          <p:cNvPr id="116" name="TextBox 115"/>
          <p:cNvSpPr txBox="1"/>
          <p:nvPr/>
        </p:nvSpPr>
        <p:spPr>
          <a:xfrm>
            <a:off x="446227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what got added?</a:t>
            </a:r>
          </a:p>
        </p:txBody>
      </p:sp>
      <p:cxnSp>
        <p:nvCxnSpPr>
          <p:cNvPr id="117" name="Connector 116"/>
          <p:cNvCxnSpPr/>
          <p:nvPr/>
        </p:nvCxnSpPr>
        <p:spPr>
          <a:xfrm>
            <a:off x="5349240" y="1819656"/>
            <a:ext cx="205740"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Rounded Rectangle 117"/>
          <p:cNvSpPr/>
          <p:nvPr/>
        </p:nvSpPr>
        <p:spPr>
          <a:xfrm>
            <a:off x="563727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ounded Rectangle 118"/>
          <p:cNvSpPr/>
          <p:nvPr/>
        </p:nvSpPr>
        <p:spPr>
          <a:xfrm>
            <a:off x="560070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ounded Rectangle 119"/>
          <p:cNvSpPr/>
          <p:nvPr/>
        </p:nvSpPr>
        <p:spPr>
          <a:xfrm>
            <a:off x="5692140" y="1563624"/>
            <a:ext cx="457200" cy="457200"/>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1" name="Picture 120" descr="l-clipboard-list-ink.png"/>
          <p:cNvPicPr>
            <a:picLocks noChangeAspect="1"/>
          </p:cNvPicPr>
          <p:nvPr/>
        </p:nvPicPr>
        <p:blipFill>
          <a:blip r:embed="rId8"/>
          <a:stretch>
            <a:fillRect/>
          </a:stretch>
        </p:blipFill>
        <p:spPr>
          <a:xfrm>
            <a:off x="5783579" y="1655064"/>
            <a:ext cx="274320" cy="274320"/>
          </a:xfrm>
          <a:prstGeom prst="rect">
            <a:avLst/>
          </a:prstGeom>
        </p:spPr>
      </p:pic>
      <p:sp>
        <p:nvSpPr>
          <p:cNvPr id="122" name="TextBox 121"/>
          <p:cNvSpPr txBox="1"/>
          <p:nvPr/>
        </p:nvSpPr>
        <p:spPr>
          <a:xfrm>
            <a:off x="622249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Checkout</a:t>
            </a:r>
          </a:p>
        </p:txBody>
      </p:sp>
      <p:sp>
        <p:nvSpPr>
          <p:cNvPr id="123" name="TextBox 122"/>
          <p:cNvSpPr txBox="1"/>
          <p:nvPr/>
        </p:nvSpPr>
        <p:spPr>
          <a:xfrm>
            <a:off x="622249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pre-ticked? hidden options?</a:t>
            </a:r>
          </a:p>
        </p:txBody>
      </p:sp>
      <p:cxnSp>
        <p:nvCxnSpPr>
          <p:cNvPr id="124" name="Connector 123"/>
          <p:cNvCxnSpPr/>
          <p:nvPr/>
        </p:nvCxnSpPr>
        <p:spPr>
          <a:xfrm>
            <a:off x="7109459" y="1819656"/>
            <a:ext cx="205741"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739749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ounded Rectangle 125"/>
          <p:cNvSpPr/>
          <p:nvPr/>
        </p:nvSpPr>
        <p:spPr>
          <a:xfrm>
            <a:off x="736092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ounded Rectangle 126"/>
          <p:cNvSpPr/>
          <p:nvPr/>
        </p:nvSpPr>
        <p:spPr>
          <a:xfrm>
            <a:off x="7452360" y="1563624"/>
            <a:ext cx="457200" cy="457200"/>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8" name="Picture 127" descr="l-credit-card-ink.png"/>
          <p:cNvPicPr>
            <a:picLocks noChangeAspect="1"/>
          </p:cNvPicPr>
          <p:nvPr/>
        </p:nvPicPr>
        <p:blipFill>
          <a:blip r:embed="rId9"/>
          <a:stretch>
            <a:fillRect/>
          </a:stretch>
        </p:blipFill>
        <p:spPr>
          <a:xfrm>
            <a:off x="7543800" y="1655064"/>
            <a:ext cx="274320" cy="274320"/>
          </a:xfrm>
          <a:prstGeom prst="rect">
            <a:avLst/>
          </a:prstGeom>
        </p:spPr>
      </p:pic>
      <p:sp>
        <p:nvSpPr>
          <p:cNvPr id="129" name="TextBox 128"/>
          <p:cNvSpPr txBox="1"/>
          <p:nvPr/>
        </p:nvSpPr>
        <p:spPr>
          <a:xfrm>
            <a:off x="798271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Payment</a:t>
            </a:r>
          </a:p>
        </p:txBody>
      </p:sp>
      <p:sp>
        <p:nvSpPr>
          <p:cNvPr id="130" name="TextBox 129"/>
          <p:cNvSpPr txBox="1"/>
          <p:nvPr/>
        </p:nvSpPr>
        <p:spPr>
          <a:xfrm>
            <a:off x="798271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late fees · never pays</a:t>
            </a:r>
          </a:p>
        </p:txBody>
      </p:sp>
      <p:sp>
        <p:nvSpPr>
          <p:cNvPr id="131" name="Rounded Rectangle 130"/>
          <p:cNvSpPr/>
          <p:nvPr/>
        </p:nvSpPr>
        <p:spPr>
          <a:xfrm>
            <a:off x="5143500" y="2331720"/>
            <a:ext cx="3566160" cy="329184"/>
          </a:xfrm>
          <a:prstGeom prst="roundRect">
            <a:avLst>
              <a:gd name="adj" fmla="val 22222"/>
            </a:avLst>
          </a:prstGeom>
          <a:solidFill>
            <a:srgbClr val="FFF8EC"/>
          </a:solidFill>
          <a:ln w="127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l-lock-ink.png"/>
          <p:cNvPicPr>
            <a:picLocks noChangeAspect="1"/>
          </p:cNvPicPr>
          <p:nvPr/>
        </p:nvPicPr>
        <p:blipFill>
          <a:blip r:embed="rId10"/>
          <a:stretch>
            <a:fillRect/>
          </a:stretch>
        </p:blipFill>
        <p:spPr>
          <a:xfrm>
            <a:off x="5234940" y="2386584"/>
            <a:ext cx="219456" cy="219456"/>
          </a:xfrm>
          <a:prstGeom prst="rect">
            <a:avLst/>
          </a:prstGeom>
        </p:spPr>
      </p:pic>
      <p:sp>
        <p:nvSpPr>
          <p:cNvPr id="133" name="TextBox 132"/>
          <p:cNvSpPr txBox="1"/>
          <p:nvPr/>
        </p:nvSpPr>
        <p:spPr>
          <a:xfrm>
            <a:off x="5527548" y="2331720"/>
            <a:ext cx="3108960" cy="329184"/>
          </a:xfrm>
          <a:prstGeom prst="rect">
            <a:avLst/>
          </a:prstGeom>
          <a:noFill/>
        </p:spPr>
        <p:txBody>
          <a:bodyPr wrap="square" lIns="0" rIns="0" tIns="0" bIns="0" anchor="ctr">
            <a:noAutofit/>
          </a:bodyPr>
          <a:lstStyle/>
          <a:p>
            <a:pPr algn="l">
              <a:lnSpc>
                <a:spcPct val="100000"/>
              </a:lnSpc>
              <a:spcAft>
                <a:spcPts val="0"/>
              </a:spcAft>
            </a:pPr>
            <a:r>
              <a:rPr sz="850" b="0">
                <a:solidFill>
                  <a:srgbClr val="111111"/>
                </a:solidFill>
                <a:latin typeface="Google Sans Flex Medium"/>
              </a:rPr>
              <a:t>Sign-in wall or bot protection? Stop, and report what it saw.</a:t>
            </a:r>
          </a:p>
        </p:txBody>
      </p:sp>
      <p:cxnSp>
        <p:nvCxnSpPr>
          <p:cNvPr id="134" name="Connector 133"/>
          <p:cNvCxnSpPr/>
          <p:nvPr/>
        </p:nvCxnSpPr>
        <p:spPr>
          <a:xfrm>
            <a:off x="320040" y="2788920"/>
            <a:ext cx="8503920" cy="0"/>
          </a:xfrm>
          <a:prstGeom prst="line">
            <a:avLst/>
          </a:prstGeom>
          <a:ln w="12700">
            <a:solidFill>
              <a:srgbClr val="DADCE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320040" y="2862072"/>
            <a:ext cx="5486400" cy="201168"/>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ON EVERY SCREEN  </a:t>
            </a:r>
            <a:r>
              <a:rPr sz="900" b="0">
                <a:solidFill>
                  <a:srgbClr val="5F6368"/>
                </a:solidFill>
                <a:latin typeface="Google Sans Flex"/>
              </a:rPr>
              <a:t>measure first, then let Gemini judge, then double-check</a:t>
            </a:r>
          </a:p>
        </p:txBody>
      </p:sp>
      <p:sp>
        <p:nvSpPr>
          <p:cNvPr id="136" name="Rounded Rectangle 135"/>
          <p:cNvSpPr/>
          <p:nvPr/>
        </p:nvSpPr>
        <p:spPr>
          <a:xfrm>
            <a:off x="356615"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ounded Rectangle 136"/>
          <p:cNvSpPr/>
          <p:nvPr/>
        </p:nvSpPr>
        <p:spPr>
          <a:xfrm>
            <a:off x="320040"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ounded Rectangle 137"/>
          <p:cNvSpPr/>
          <p:nvPr/>
        </p:nvSpPr>
        <p:spPr>
          <a:xfrm>
            <a:off x="429768" y="3236976"/>
            <a:ext cx="365760" cy="365760"/>
          </a:xfrm>
          <a:prstGeom prst="roundRect">
            <a:avLst>
              <a:gd name="adj" fmla="val 24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9" name="Picture 138" descr="l-scan-eye-ink.png"/>
          <p:cNvPicPr>
            <a:picLocks noChangeAspect="1"/>
          </p:cNvPicPr>
          <p:nvPr/>
        </p:nvPicPr>
        <p:blipFill>
          <a:blip r:embed="rId11"/>
          <a:stretch>
            <a:fillRect/>
          </a:stretch>
        </p:blipFill>
        <p:spPr>
          <a:xfrm>
            <a:off x="495604" y="3302812"/>
            <a:ext cx="234086" cy="234086"/>
          </a:xfrm>
          <a:prstGeom prst="rect">
            <a:avLst/>
          </a:prstGeom>
        </p:spPr>
      </p:pic>
      <p:sp>
        <p:nvSpPr>
          <p:cNvPr id="140" name="TextBox 139"/>
          <p:cNvSpPr txBox="1"/>
          <p:nvPr/>
        </p:nvSpPr>
        <p:spPr>
          <a:xfrm>
            <a:off x="429768"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Capture</a:t>
            </a:r>
          </a:p>
        </p:txBody>
      </p:sp>
      <p:sp>
        <p:nvSpPr>
          <p:cNvPr id="141" name="TextBox 140"/>
          <p:cNvSpPr txBox="1"/>
          <p:nvPr/>
        </p:nvSpPr>
        <p:spPr>
          <a:xfrm>
            <a:off x="429768"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screenshot + every element measured</a:t>
            </a:r>
          </a:p>
        </p:txBody>
      </p:sp>
      <p:cxnSp>
        <p:nvCxnSpPr>
          <p:cNvPr id="142" name="Connector 141"/>
          <p:cNvCxnSpPr/>
          <p:nvPr/>
        </p:nvCxnSpPr>
        <p:spPr>
          <a:xfrm>
            <a:off x="1618488"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Rounded Rectangle 142"/>
          <p:cNvSpPr/>
          <p:nvPr/>
        </p:nvSpPr>
        <p:spPr>
          <a:xfrm>
            <a:off x="1801368"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ounded Rectangle 143"/>
          <p:cNvSpPr/>
          <p:nvPr/>
        </p:nvSpPr>
        <p:spPr>
          <a:xfrm>
            <a:off x="1764792"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1874520" y="3236976"/>
            <a:ext cx="365760" cy="365760"/>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6" name="Picture 145" descr="l-ruler-ink.png"/>
          <p:cNvPicPr>
            <a:picLocks noChangeAspect="1"/>
          </p:cNvPicPr>
          <p:nvPr/>
        </p:nvPicPr>
        <p:blipFill>
          <a:blip r:embed="rId12"/>
          <a:stretch>
            <a:fillRect/>
          </a:stretch>
        </p:blipFill>
        <p:spPr>
          <a:xfrm>
            <a:off x="1940356" y="3302812"/>
            <a:ext cx="234086" cy="234086"/>
          </a:xfrm>
          <a:prstGeom prst="rect">
            <a:avLst/>
          </a:prstGeom>
        </p:spPr>
      </p:pic>
      <p:sp>
        <p:nvSpPr>
          <p:cNvPr id="147" name="TextBox 146"/>
          <p:cNvSpPr txBox="1"/>
          <p:nvPr/>
        </p:nvSpPr>
        <p:spPr>
          <a:xfrm>
            <a:off x="1874520"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Measured checks</a:t>
            </a:r>
          </a:p>
        </p:txBody>
      </p:sp>
      <p:sp>
        <p:nvSpPr>
          <p:cNvPr id="148" name="TextBox 147"/>
          <p:cNvSpPr txBox="1"/>
          <p:nvPr/>
        </p:nvSpPr>
        <p:spPr>
          <a:xfrm>
            <a:off x="1874520"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timers, stock, cart, fees, prices</a:t>
            </a:r>
          </a:p>
        </p:txBody>
      </p:sp>
      <p:cxnSp>
        <p:nvCxnSpPr>
          <p:cNvPr id="149" name="Connector 148"/>
          <p:cNvCxnSpPr/>
          <p:nvPr/>
        </p:nvCxnSpPr>
        <p:spPr>
          <a:xfrm>
            <a:off x="3063240"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0" name="Rounded Rectangle 149"/>
          <p:cNvSpPr/>
          <p:nvPr/>
        </p:nvSpPr>
        <p:spPr>
          <a:xfrm>
            <a:off x="3246120"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ounded Rectangle 150"/>
          <p:cNvSpPr/>
          <p:nvPr/>
        </p:nvSpPr>
        <p:spPr>
          <a:xfrm>
            <a:off x="3209544"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ounded Rectangle 151"/>
          <p:cNvSpPr/>
          <p:nvPr/>
        </p:nvSpPr>
        <p:spPr>
          <a:xfrm>
            <a:off x="3319272" y="3236976"/>
            <a:ext cx="365760" cy="365760"/>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 name="Picture 152" descr="brand-gemini.png"/>
          <p:cNvPicPr>
            <a:picLocks noChangeAspect="1"/>
          </p:cNvPicPr>
          <p:nvPr/>
        </p:nvPicPr>
        <p:blipFill>
          <a:blip r:embed="rId13"/>
          <a:stretch>
            <a:fillRect/>
          </a:stretch>
        </p:blipFill>
        <p:spPr>
          <a:xfrm>
            <a:off x="3385108" y="3302812"/>
            <a:ext cx="234086" cy="234086"/>
          </a:xfrm>
          <a:prstGeom prst="rect">
            <a:avLst/>
          </a:prstGeom>
        </p:spPr>
      </p:pic>
      <p:sp>
        <p:nvSpPr>
          <p:cNvPr id="154" name="TextBox 153"/>
          <p:cNvSpPr txBox="1"/>
          <p:nvPr/>
        </p:nvSpPr>
        <p:spPr>
          <a:xfrm>
            <a:off x="3319272"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Pattern Analyst</a:t>
            </a:r>
          </a:p>
        </p:txBody>
      </p:sp>
      <p:sp>
        <p:nvSpPr>
          <p:cNvPr id="155" name="TextBox 154"/>
          <p:cNvSpPr txBox="1"/>
          <p:nvPr/>
        </p:nvSpPr>
        <p:spPr>
          <a:xfrm>
            <a:off x="3319272"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Gemini reads wording and design</a:t>
            </a:r>
          </a:p>
        </p:txBody>
      </p:sp>
      <p:cxnSp>
        <p:nvCxnSpPr>
          <p:cNvPr id="156" name="Connector 155"/>
          <p:cNvCxnSpPr/>
          <p:nvPr/>
        </p:nvCxnSpPr>
        <p:spPr>
          <a:xfrm>
            <a:off x="4507992"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7" name="Rounded Rectangle 156"/>
          <p:cNvSpPr/>
          <p:nvPr/>
        </p:nvSpPr>
        <p:spPr>
          <a:xfrm>
            <a:off x="4690872"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ounded Rectangle 157"/>
          <p:cNvSpPr/>
          <p:nvPr/>
        </p:nvSpPr>
        <p:spPr>
          <a:xfrm>
            <a:off x="4654296"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4764024" y="3236976"/>
            <a:ext cx="365760" cy="365760"/>
          </a:xfrm>
          <a:prstGeom prst="roundRect">
            <a:avLst>
              <a:gd name="adj" fmla="val 24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0" name="Picture 159" descr="l-target-ink.png"/>
          <p:cNvPicPr>
            <a:picLocks noChangeAspect="1"/>
          </p:cNvPicPr>
          <p:nvPr/>
        </p:nvPicPr>
        <p:blipFill>
          <a:blip r:embed="rId14"/>
          <a:stretch>
            <a:fillRect/>
          </a:stretch>
        </p:blipFill>
        <p:spPr>
          <a:xfrm>
            <a:off x="4829860" y="3302812"/>
            <a:ext cx="234086" cy="234086"/>
          </a:xfrm>
          <a:prstGeom prst="rect">
            <a:avLst/>
          </a:prstGeom>
        </p:spPr>
      </p:pic>
      <p:sp>
        <p:nvSpPr>
          <p:cNvPr id="161" name="TextBox 160"/>
          <p:cNvSpPr txBox="1"/>
          <p:nvPr/>
        </p:nvSpPr>
        <p:spPr>
          <a:xfrm>
            <a:off x="4764024"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Evidence rules</a:t>
            </a:r>
          </a:p>
        </p:txBody>
      </p:sp>
      <p:sp>
        <p:nvSpPr>
          <p:cNvPr id="162" name="TextBox 161"/>
          <p:cNvSpPr txBox="1"/>
          <p:nvPr/>
        </p:nvSpPr>
        <p:spPr>
          <a:xfrm>
            <a:off x="4764024"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must cite a measured element</a:t>
            </a:r>
          </a:p>
        </p:txBody>
      </p:sp>
      <p:cxnSp>
        <p:nvCxnSpPr>
          <p:cNvPr id="163" name="Connector 162"/>
          <p:cNvCxnSpPr/>
          <p:nvPr/>
        </p:nvCxnSpPr>
        <p:spPr>
          <a:xfrm>
            <a:off x="5952744"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Rounded Rectangle 163"/>
          <p:cNvSpPr/>
          <p:nvPr/>
        </p:nvSpPr>
        <p:spPr>
          <a:xfrm>
            <a:off x="6135624"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ounded Rectangle 164"/>
          <p:cNvSpPr/>
          <p:nvPr/>
        </p:nvSpPr>
        <p:spPr>
          <a:xfrm>
            <a:off x="6099048"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ounded Rectangle 165"/>
          <p:cNvSpPr/>
          <p:nvPr/>
        </p:nvSpPr>
        <p:spPr>
          <a:xfrm>
            <a:off x="6208776" y="3236976"/>
            <a:ext cx="365760" cy="365760"/>
          </a:xfrm>
          <a:prstGeom prst="roundRect">
            <a:avLst>
              <a:gd name="adj" fmla="val 24000"/>
            </a:avLst>
          </a:prstGeom>
          <a:solidFill>
            <a:srgbClr val="4ADE9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7" name="Picture 166" descr="l-scale-ink.png"/>
          <p:cNvPicPr>
            <a:picLocks noChangeAspect="1"/>
          </p:cNvPicPr>
          <p:nvPr/>
        </p:nvPicPr>
        <p:blipFill>
          <a:blip r:embed="rId15"/>
          <a:stretch>
            <a:fillRect/>
          </a:stretch>
        </p:blipFill>
        <p:spPr>
          <a:xfrm>
            <a:off x="6274612" y="3302812"/>
            <a:ext cx="234086" cy="234086"/>
          </a:xfrm>
          <a:prstGeom prst="rect">
            <a:avLst/>
          </a:prstGeom>
        </p:spPr>
      </p:pic>
      <p:sp>
        <p:nvSpPr>
          <p:cNvPr id="168" name="TextBox 167"/>
          <p:cNvSpPr txBox="1"/>
          <p:nvPr/>
        </p:nvSpPr>
        <p:spPr>
          <a:xfrm>
            <a:off x="6208776"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Adjudicator</a:t>
            </a:r>
          </a:p>
        </p:txBody>
      </p:sp>
      <p:sp>
        <p:nvSpPr>
          <p:cNvPr id="169" name="TextBox 168"/>
          <p:cNvSpPr txBox="1"/>
          <p:nvPr/>
        </p:nvSpPr>
        <p:spPr>
          <a:xfrm>
            <a:off x="6208776"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Gemini re-checks a crop of it</a:t>
            </a:r>
          </a:p>
        </p:txBody>
      </p:sp>
      <p:cxnSp>
        <p:nvCxnSpPr>
          <p:cNvPr id="170" name="Connector 169"/>
          <p:cNvCxnSpPr/>
          <p:nvPr/>
        </p:nvCxnSpPr>
        <p:spPr>
          <a:xfrm>
            <a:off x="7397496"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1" name="Rounded Rectangle 170"/>
          <p:cNvSpPr/>
          <p:nvPr/>
        </p:nvSpPr>
        <p:spPr>
          <a:xfrm>
            <a:off x="7580376"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ounded Rectangle 171"/>
          <p:cNvSpPr/>
          <p:nvPr/>
        </p:nvSpPr>
        <p:spPr>
          <a:xfrm>
            <a:off x="7543800"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ounded Rectangle 172"/>
          <p:cNvSpPr/>
          <p:nvPr/>
        </p:nvSpPr>
        <p:spPr>
          <a:xfrm>
            <a:off x="7653528" y="3236976"/>
            <a:ext cx="365760" cy="365760"/>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 name="Picture 173" descr="l-badge-check-ink.png"/>
          <p:cNvPicPr>
            <a:picLocks noChangeAspect="1"/>
          </p:cNvPicPr>
          <p:nvPr/>
        </p:nvPicPr>
        <p:blipFill>
          <a:blip r:embed="rId16"/>
          <a:stretch>
            <a:fillRect/>
          </a:stretch>
        </p:blipFill>
        <p:spPr>
          <a:xfrm>
            <a:off x="7719364" y="3302812"/>
            <a:ext cx="234086" cy="234086"/>
          </a:xfrm>
          <a:prstGeom prst="rect">
            <a:avLst/>
          </a:prstGeom>
        </p:spPr>
      </p:pic>
      <p:sp>
        <p:nvSpPr>
          <p:cNvPr id="175" name="TextBox 174"/>
          <p:cNvSpPr txBox="1"/>
          <p:nvPr/>
        </p:nvSpPr>
        <p:spPr>
          <a:xfrm>
            <a:off x="7653528"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Verdict</a:t>
            </a:r>
          </a:p>
        </p:txBody>
      </p:sp>
      <p:sp>
        <p:nvSpPr>
          <p:cNvPr id="176" name="TextBox 175"/>
          <p:cNvSpPr txBox="1"/>
          <p:nvPr/>
        </p:nvSpPr>
        <p:spPr>
          <a:xfrm>
            <a:off x="7653528"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confirmed · review · dropped</a:t>
            </a:r>
          </a:p>
        </p:txBody>
      </p:sp>
      <p:sp>
        <p:nvSpPr>
          <p:cNvPr id="177" name="Rounded Rectangle 176"/>
          <p:cNvSpPr/>
          <p:nvPr/>
        </p:nvSpPr>
        <p:spPr>
          <a:xfrm>
            <a:off x="320040" y="4334256"/>
            <a:ext cx="8503920" cy="438912"/>
          </a:xfrm>
          <a:prstGeom prst="roundRect">
            <a:avLst>
              <a:gd name="adj" fmla="val 20833"/>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8" name="Picture 177" descr="l-file-down-white.png"/>
          <p:cNvPicPr>
            <a:picLocks noChangeAspect="1"/>
          </p:cNvPicPr>
          <p:nvPr/>
        </p:nvPicPr>
        <p:blipFill>
          <a:blip r:embed="rId17"/>
          <a:stretch>
            <a:fillRect/>
          </a:stretch>
        </p:blipFill>
        <p:spPr>
          <a:xfrm>
            <a:off x="466344" y="4425696"/>
            <a:ext cx="256032" cy="256032"/>
          </a:xfrm>
          <a:prstGeom prst="rect">
            <a:avLst/>
          </a:prstGeom>
        </p:spPr>
      </p:pic>
      <p:sp>
        <p:nvSpPr>
          <p:cNvPr id="179" name="TextBox 178"/>
          <p:cNvSpPr txBox="1"/>
          <p:nvPr/>
        </p:nvSpPr>
        <p:spPr>
          <a:xfrm>
            <a:off x="832104" y="4334256"/>
            <a:ext cx="7863840" cy="438912"/>
          </a:xfrm>
          <a:prstGeom prst="rect">
            <a:avLst/>
          </a:prstGeom>
          <a:noFill/>
        </p:spPr>
        <p:txBody>
          <a:bodyPr wrap="square" lIns="0" rIns="0" tIns="0" bIns="0" anchor="ctr">
            <a:noAutofit/>
          </a:bodyPr>
          <a:lstStyle/>
          <a:p>
            <a:pPr algn="l">
              <a:lnSpc>
                <a:spcPct val="100000"/>
              </a:lnSpc>
              <a:spcAft>
                <a:spcPts val="0"/>
              </a:spcAft>
            </a:pPr>
            <a:r>
              <a:rPr sz="1050" b="1">
                <a:solidFill>
                  <a:srgbClr val="C6F432"/>
                </a:solidFill>
                <a:latin typeface="Google Sans Flex"/>
              </a:rPr>
              <a:t>Report  </a:t>
            </a:r>
            <a:r>
              <a:rPr sz="1050" b="0">
                <a:solidFill>
                  <a:srgbClr val="FFFFFF"/>
                </a:solidFill>
                <a:latin typeface="Google Sans Flex"/>
              </a:rPr>
              <a:t>trust score  ·  the real bill  ·  legal exposure in 7 regions  ·  a fix for every finding  ·  PDF</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365759" y="1325880"/>
            <a:ext cx="2639568" cy="1883664"/>
          </a:xfrm>
          <a:prstGeom prst="roundRect">
            <a:avLst>
              <a:gd name="adj" fmla="val 388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320040" y="1280160"/>
            <a:ext cx="2639568" cy="1883664"/>
          </a:xfrm>
          <a:prstGeom prst="roundRect">
            <a:avLst>
              <a:gd name="adj" fmla="val 388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320040" y="1280160"/>
            <a:ext cx="2639568" cy="182880"/>
          </a:xfrm>
          <a:prstGeom prst="roundRect">
            <a:avLst>
              <a:gd name="adj" fmla="val 40000"/>
            </a:avLst>
          </a:prstGeom>
          <a:solidFill>
            <a:srgbClr val="F1F3F4"/>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Oval 106"/>
          <p:cNvSpPr/>
          <p:nvPr/>
        </p:nvSpPr>
        <p:spPr>
          <a:xfrm>
            <a:off x="411479" y="1335024"/>
            <a:ext cx="73152" cy="7315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Oval 107"/>
          <p:cNvSpPr/>
          <p:nvPr/>
        </p:nvSpPr>
        <p:spPr>
          <a:xfrm>
            <a:off x="521207" y="1335024"/>
            <a:ext cx="73152" cy="7315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Oval 108"/>
          <p:cNvSpPr/>
          <p:nvPr/>
        </p:nvSpPr>
        <p:spPr>
          <a:xfrm>
            <a:off x="630936" y="1335024"/>
            <a:ext cx="73152" cy="7315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0" name="Picture 109" descr="Paste a URL or pick a store"/>
          <p:cNvPicPr>
            <a:picLocks noChangeAspect="1"/>
          </p:cNvPicPr>
          <p:nvPr/>
        </p:nvPicPr>
        <p:blipFill>
          <a:blip r:embed="rId5"/>
          <a:stretch>
            <a:fillRect/>
          </a:stretch>
        </p:blipFill>
        <p:spPr>
          <a:xfrm>
            <a:off x="347472" y="1472184"/>
            <a:ext cx="2584704" cy="1615440"/>
          </a:xfrm>
          <a:prstGeom prst="rect">
            <a:avLst/>
          </a:prstGeom>
        </p:spPr>
      </p:pic>
      <p:sp>
        <p:nvSpPr>
          <p:cNvPr id="111" name="Oval 110"/>
          <p:cNvSpPr/>
          <p:nvPr/>
        </p:nvSpPr>
        <p:spPr>
          <a:xfrm>
            <a:off x="320040" y="3310128"/>
            <a:ext cx="347472" cy="347472"/>
          </a:xfrm>
          <a:prstGeom prst="ellipse">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320040" y="3310128"/>
            <a:ext cx="347472" cy="347472"/>
          </a:xfrm>
          <a:prstGeom prst="rect">
            <a:avLst/>
          </a:prstGeom>
          <a:noFill/>
        </p:spPr>
        <p:txBody>
          <a:bodyPr wrap="square" lIns="0" rIns="0" tIns="0" bIns="0" anchor="ctr">
            <a:noAutofit/>
          </a:bodyPr>
          <a:lstStyle/>
          <a:p>
            <a:pPr algn="ctr">
              <a:lnSpc>
                <a:spcPct val="100000"/>
              </a:lnSpc>
              <a:spcAft>
                <a:spcPts val="0"/>
              </a:spcAft>
            </a:pPr>
            <a:r>
              <a:rPr sz="1200" b="1">
                <a:solidFill>
                  <a:srgbClr val="111111"/>
                </a:solidFill>
                <a:latin typeface="Google Sans Flex"/>
              </a:rPr>
              <a:t>1</a:t>
            </a:r>
          </a:p>
        </p:txBody>
      </p:sp>
      <p:sp>
        <p:nvSpPr>
          <p:cNvPr id="113" name="TextBox 112"/>
          <p:cNvSpPr txBox="1"/>
          <p:nvPr/>
        </p:nvSpPr>
        <p:spPr>
          <a:xfrm>
            <a:off x="758952" y="3310128"/>
            <a:ext cx="2182368" cy="347472"/>
          </a:xfrm>
          <a:prstGeom prst="rect">
            <a:avLst/>
          </a:prstGeom>
          <a:noFill/>
        </p:spPr>
        <p:txBody>
          <a:bodyPr wrap="square" lIns="0" rIns="0" tIns="0" bIns="0" anchor="ctr">
            <a:noAutofit/>
          </a:bodyPr>
          <a:lstStyle/>
          <a:p>
            <a:pPr algn="l">
              <a:lnSpc>
                <a:spcPct val="100000"/>
              </a:lnSpc>
              <a:spcAft>
                <a:spcPts val="0"/>
              </a:spcAft>
            </a:pPr>
            <a:r>
              <a:rPr sz="1150" b="1">
                <a:solidFill>
                  <a:srgbClr val="111111"/>
                </a:solidFill>
                <a:latin typeface="Google Sans Flex"/>
              </a:rPr>
              <a:t>Paste a URL or pick a store</a:t>
            </a:r>
          </a:p>
        </p:txBody>
      </p:sp>
      <p:sp>
        <p:nvSpPr>
          <p:cNvPr id="114" name="TextBox 113"/>
          <p:cNvSpPr txBox="1"/>
          <p:nvPr/>
        </p:nvSpPr>
        <p:spPr>
          <a:xfrm>
            <a:off x="758952" y="3675887"/>
            <a:ext cx="2182368" cy="457200"/>
          </a:xfrm>
          <a:prstGeom prst="rect">
            <a:avLst/>
          </a:prstGeom>
          <a:noFill/>
        </p:spPr>
        <p:txBody>
          <a:bodyPr wrap="square" lIns="0" rIns="0" tIns="0" bIns="0" anchor="t">
            <a:noAutofit/>
          </a:bodyPr>
          <a:lstStyle/>
          <a:p>
            <a:pPr algn="l">
              <a:lnSpc>
                <a:spcPct val="105000"/>
              </a:lnSpc>
              <a:spcAft>
                <a:spcPts val="0"/>
              </a:spcAft>
            </a:pPr>
            <a:r>
              <a:rPr sz="900" b="0">
                <a:solidFill>
                  <a:srgbClr val="5F6368"/>
                </a:solidFill>
                <a:latin typeface="Google Sans Flex"/>
              </a:rPr>
              <a:t>Sample stores, or a real store like AutomationExercise or Flipkart.</a:t>
            </a:r>
          </a:p>
        </p:txBody>
      </p:sp>
      <p:cxnSp>
        <p:nvCxnSpPr>
          <p:cNvPr id="115" name="Connector 114"/>
          <p:cNvCxnSpPr/>
          <p:nvPr/>
        </p:nvCxnSpPr>
        <p:spPr>
          <a:xfrm>
            <a:off x="3005328" y="2240280"/>
            <a:ext cx="201168" cy="0"/>
          </a:xfrm>
          <a:prstGeom prst="line">
            <a:avLst/>
          </a:prstGeom>
          <a:ln w="254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6" name="Rounded Rectangle 115"/>
          <p:cNvSpPr/>
          <p:nvPr/>
        </p:nvSpPr>
        <p:spPr>
          <a:xfrm>
            <a:off x="3297936" y="1325880"/>
            <a:ext cx="2639568" cy="1883664"/>
          </a:xfrm>
          <a:prstGeom prst="roundRect">
            <a:avLst>
              <a:gd name="adj" fmla="val 388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3252216" y="1280160"/>
            <a:ext cx="2639568" cy="1883664"/>
          </a:xfrm>
          <a:prstGeom prst="roundRect">
            <a:avLst>
              <a:gd name="adj" fmla="val 388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unded Rectangle 117"/>
          <p:cNvSpPr/>
          <p:nvPr/>
        </p:nvSpPr>
        <p:spPr>
          <a:xfrm>
            <a:off x="3252216" y="1280160"/>
            <a:ext cx="2639568" cy="182880"/>
          </a:xfrm>
          <a:prstGeom prst="roundRect">
            <a:avLst>
              <a:gd name="adj" fmla="val 40000"/>
            </a:avLst>
          </a:prstGeom>
          <a:solidFill>
            <a:srgbClr val="F1F3F4"/>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Oval 118"/>
          <p:cNvSpPr/>
          <p:nvPr/>
        </p:nvSpPr>
        <p:spPr>
          <a:xfrm>
            <a:off x="3343656" y="1335024"/>
            <a:ext cx="73152" cy="7315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Oval 119"/>
          <p:cNvSpPr/>
          <p:nvPr/>
        </p:nvSpPr>
        <p:spPr>
          <a:xfrm>
            <a:off x="3453384" y="1335024"/>
            <a:ext cx="73152" cy="7315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Oval 120"/>
          <p:cNvSpPr/>
          <p:nvPr/>
        </p:nvSpPr>
        <p:spPr>
          <a:xfrm>
            <a:off x="3563112" y="1335024"/>
            <a:ext cx="73152" cy="7315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2" name="Picture 121" descr="Watch the agents shop, live"/>
          <p:cNvPicPr>
            <a:picLocks noChangeAspect="1"/>
          </p:cNvPicPr>
          <p:nvPr/>
        </p:nvPicPr>
        <p:blipFill>
          <a:blip r:embed="rId6"/>
          <a:stretch>
            <a:fillRect/>
          </a:stretch>
        </p:blipFill>
        <p:spPr>
          <a:xfrm>
            <a:off x="3279648" y="1472184"/>
            <a:ext cx="2584704" cy="1615440"/>
          </a:xfrm>
          <a:prstGeom prst="rect">
            <a:avLst/>
          </a:prstGeom>
        </p:spPr>
      </p:pic>
      <p:sp>
        <p:nvSpPr>
          <p:cNvPr id="123" name="Oval 122"/>
          <p:cNvSpPr/>
          <p:nvPr/>
        </p:nvSpPr>
        <p:spPr>
          <a:xfrm>
            <a:off x="3252216" y="3310128"/>
            <a:ext cx="347472" cy="347472"/>
          </a:xfrm>
          <a:prstGeom prst="ellipse">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3252216" y="3310128"/>
            <a:ext cx="347472" cy="347472"/>
          </a:xfrm>
          <a:prstGeom prst="rect">
            <a:avLst/>
          </a:prstGeom>
          <a:noFill/>
        </p:spPr>
        <p:txBody>
          <a:bodyPr wrap="square" lIns="0" rIns="0" tIns="0" bIns="0" anchor="ctr">
            <a:noAutofit/>
          </a:bodyPr>
          <a:lstStyle/>
          <a:p>
            <a:pPr algn="ctr">
              <a:lnSpc>
                <a:spcPct val="100000"/>
              </a:lnSpc>
              <a:spcAft>
                <a:spcPts val="0"/>
              </a:spcAft>
            </a:pPr>
            <a:r>
              <a:rPr sz="1200" b="1">
                <a:solidFill>
                  <a:srgbClr val="111111"/>
                </a:solidFill>
                <a:latin typeface="Google Sans Flex"/>
              </a:rPr>
              <a:t>2</a:t>
            </a:r>
          </a:p>
        </p:txBody>
      </p:sp>
      <p:sp>
        <p:nvSpPr>
          <p:cNvPr id="125" name="TextBox 124"/>
          <p:cNvSpPr txBox="1"/>
          <p:nvPr/>
        </p:nvSpPr>
        <p:spPr>
          <a:xfrm>
            <a:off x="3691128" y="3310128"/>
            <a:ext cx="2182368" cy="347472"/>
          </a:xfrm>
          <a:prstGeom prst="rect">
            <a:avLst/>
          </a:prstGeom>
          <a:noFill/>
        </p:spPr>
        <p:txBody>
          <a:bodyPr wrap="square" lIns="0" rIns="0" tIns="0" bIns="0" anchor="ctr">
            <a:noAutofit/>
          </a:bodyPr>
          <a:lstStyle/>
          <a:p>
            <a:pPr algn="l">
              <a:lnSpc>
                <a:spcPct val="100000"/>
              </a:lnSpc>
              <a:spcAft>
                <a:spcPts val="0"/>
              </a:spcAft>
            </a:pPr>
            <a:r>
              <a:rPr sz="1150" b="1">
                <a:solidFill>
                  <a:srgbClr val="111111"/>
                </a:solidFill>
                <a:latin typeface="Google Sans Flex"/>
              </a:rPr>
              <a:t>Watch the agents shop, live</a:t>
            </a:r>
          </a:p>
        </p:txBody>
      </p:sp>
      <p:sp>
        <p:nvSpPr>
          <p:cNvPr id="126" name="TextBox 125"/>
          <p:cNvSpPr txBox="1"/>
          <p:nvPr/>
        </p:nvSpPr>
        <p:spPr>
          <a:xfrm>
            <a:off x="3691128" y="3675887"/>
            <a:ext cx="2182368" cy="457200"/>
          </a:xfrm>
          <a:prstGeom prst="rect">
            <a:avLst/>
          </a:prstGeom>
          <a:noFill/>
        </p:spPr>
        <p:txBody>
          <a:bodyPr wrap="square" lIns="0" rIns="0" tIns="0" bIns="0" anchor="t">
            <a:noAutofit/>
          </a:bodyPr>
          <a:lstStyle/>
          <a:p>
            <a:pPr algn="l">
              <a:lnSpc>
                <a:spcPct val="105000"/>
              </a:lnSpc>
              <a:spcAft>
                <a:spcPts val="0"/>
              </a:spcAft>
            </a:pPr>
            <a:r>
              <a:rPr sz="900" b="0">
                <a:solidFill>
                  <a:srgbClr val="5F6368"/>
                </a:solidFill>
                <a:latin typeface="Google Sans Flex"/>
              </a:rPr>
              <a:t>Live browser, journey, receipts so far and the agents' chat.</a:t>
            </a:r>
          </a:p>
        </p:txBody>
      </p:sp>
      <p:cxnSp>
        <p:nvCxnSpPr>
          <p:cNvPr id="127" name="Connector 126"/>
          <p:cNvCxnSpPr/>
          <p:nvPr/>
        </p:nvCxnSpPr>
        <p:spPr>
          <a:xfrm>
            <a:off x="5937504" y="2240280"/>
            <a:ext cx="201168" cy="0"/>
          </a:xfrm>
          <a:prstGeom prst="line">
            <a:avLst/>
          </a:prstGeom>
          <a:ln w="254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8" name="Rounded Rectangle 127"/>
          <p:cNvSpPr/>
          <p:nvPr/>
        </p:nvSpPr>
        <p:spPr>
          <a:xfrm>
            <a:off x="6230111" y="1325880"/>
            <a:ext cx="2639568" cy="1883664"/>
          </a:xfrm>
          <a:prstGeom prst="roundRect">
            <a:avLst>
              <a:gd name="adj" fmla="val 388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6184391" y="1280160"/>
            <a:ext cx="2639568" cy="1883664"/>
          </a:xfrm>
          <a:prstGeom prst="roundRect">
            <a:avLst>
              <a:gd name="adj" fmla="val 388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ounded Rectangle 129"/>
          <p:cNvSpPr/>
          <p:nvPr/>
        </p:nvSpPr>
        <p:spPr>
          <a:xfrm>
            <a:off x="6184391" y="1280160"/>
            <a:ext cx="2639568" cy="182880"/>
          </a:xfrm>
          <a:prstGeom prst="roundRect">
            <a:avLst>
              <a:gd name="adj" fmla="val 40000"/>
            </a:avLst>
          </a:prstGeom>
          <a:solidFill>
            <a:srgbClr val="F1F3F4"/>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Oval 130"/>
          <p:cNvSpPr/>
          <p:nvPr/>
        </p:nvSpPr>
        <p:spPr>
          <a:xfrm>
            <a:off x="6275831" y="1335024"/>
            <a:ext cx="73152" cy="7315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Oval 131"/>
          <p:cNvSpPr/>
          <p:nvPr/>
        </p:nvSpPr>
        <p:spPr>
          <a:xfrm>
            <a:off x="6385559" y="1335024"/>
            <a:ext cx="73152" cy="7315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Oval 132"/>
          <p:cNvSpPr/>
          <p:nvPr/>
        </p:nvSpPr>
        <p:spPr>
          <a:xfrm>
            <a:off x="6495287" y="1335024"/>
            <a:ext cx="73152" cy="7315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4" name="Picture 133" descr="Get the receipts"/>
          <p:cNvPicPr>
            <a:picLocks noChangeAspect="1"/>
          </p:cNvPicPr>
          <p:nvPr/>
        </p:nvPicPr>
        <p:blipFill>
          <a:blip r:embed="rId7"/>
          <a:stretch>
            <a:fillRect/>
          </a:stretch>
        </p:blipFill>
        <p:spPr>
          <a:xfrm>
            <a:off x="6211824" y="1472184"/>
            <a:ext cx="2584704" cy="1615440"/>
          </a:xfrm>
          <a:prstGeom prst="rect">
            <a:avLst/>
          </a:prstGeom>
        </p:spPr>
      </p:pic>
      <p:sp>
        <p:nvSpPr>
          <p:cNvPr id="135" name="Oval 134"/>
          <p:cNvSpPr/>
          <p:nvPr/>
        </p:nvSpPr>
        <p:spPr>
          <a:xfrm>
            <a:off x="6184391" y="3310128"/>
            <a:ext cx="347472" cy="347472"/>
          </a:xfrm>
          <a:prstGeom prst="ellipse">
            <a:avLst/>
          </a:prstGeom>
          <a:solidFill>
            <a:srgbClr val="FF5CA8"/>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6184391" y="3310128"/>
            <a:ext cx="347472" cy="347472"/>
          </a:xfrm>
          <a:prstGeom prst="rect">
            <a:avLst/>
          </a:prstGeom>
          <a:noFill/>
        </p:spPr>
        <p:txBody>
          <a:bodyPr wrap="square" lIns="0" rIns="0" tIns="0" bIns="0" anchor="ctr">
            <a:noAutofit/>
          </a:bodyPr>
          <a:lstStyle/>
          <a:p>
            <a:pPr algn="ctr">
              <a:lnSpc>
                <a:spcPct val="100000"/>
              </a:lnSpc>
              <a:spcAft>
                <a:spcPts val="0"/>
              </a:spcAft>
            </a:pPr>
            <a:r>
              <a:rPr sz="1200" b="1">
                <a:solidFill>
                  <a:srgbClr val="111111"/>
                </a:solidFill>
                <a:latin typeface="Google Sans Flex"/>
              </a:rPr>
              <a:t>3</a:t>
            </a:r>
          </a:p>
        </p:txBody>
      </p:sp>
      <p:sp>
        <p:nvSpPr>
          <p:cNvPr id="137" name="TextBox 136"/>
          <p:cNvSpPr txBox="1"/>
          <p:nvPr/>
        </p:nvSpPr>
        <p:spPr>
          <a:xfrm>
            <a:off x="6623303" y="3310128"/>
            <a:ext cx="2182368" cy="347472"/>
          </a:xfrm>
          <a:prstGeom prst="rect">
            <a:avLst/>
          </a:prstGeom>
          <a:noFill/>
        </p:spPr>
        <p:txBody>
          <a:bodyPr wrap="square" lIns="0" rIns="0" tIns="0" bIns="0" anchor="ctr">
            <a:noAutofit/>
          </a:bodyPr>
          <a:lstStyle/>
          <a:p>
            <a:pPr algn="l">
              <a:lnSpc>
                <a:spcPct val="100000"/>
              </a:lnSpc>
              <a:spcAft>
                <a:spcPts val="0"/>
              </a:spcAft>
            </a:pPr>
            <a:r>
              <a:rPr sz="1150" b="1">
                <a:solidFill>
                  <a:srgbClr val="111111"/>
                </a:solidFill>
                <a:latin typeface="Google Sans Flex"/>
              </a:rPr>
              <a:t>Get the receipts</a:t>
            </a:r>
          </a:p>
        </p:txBody>
      </p:sp>
      <p:sp>
        <p:nvSpPr>
          <p:cNvPr id="138" name="TextBox 137"/>
          <p:cNvSpPr txBox="1"/>
          <p:nvPr/>
        </p:nvSpPr>
        <p:spPr>
          <a:xfrm>
            <a:off x="6623303" y="3675887"/>
            <a:ext cx="2182368" cy="457200"/>
          </a:xfrm>
          <a:prstGeom prst="rect">
            <a:avLst/>
          </a:prstGeom>
          <a:noFill/>
        </p:spPr>
        <p:txBody>
          <a:bodyPr wrap="square" lIns="0" rIns="0" tIns="0" bIns="0" anchor="t">
            <a:noAutofit/>
          </a:bodyPr>
          <a:lstStyle/>
          <a:p>
            <a:pPr algn="l">
              <a:lnSpc>
                <a:spcPct val="105000"/>
              </a:lnSpc>
              <a:spcAft>
                <a:spcPts val="0"/>
              </a:spcAft>
            </a:pPr>
            <a:r>
              <a:rPr sz="900" b="0">
                <a:solidFill>
                  <a:srgbClr val="5F6368"/>
                </a:solidFill>
                <a:latin typeface="Google Sans Flex"/>
              </a:rPr>
              <a:t>Trust score, overcharge, fine risk, evidence and fixes. Download the PDF.</a:t>
            </a:r>
          </a:p>
        </p:txBody>
      </p:sp>
      <p:sp>
        <p:nvSpPr>
          <p:cNvPr id="139" name="Rounded Rectangle 138"/>
          <p:cNvSpPr/>
          <p:nvPr/>
        </p:nvSpPr>
        <p:spPr>
          <a:xfrm>
            <a:off x="356615" y="4352544"/>
            <a:ext cx="8503920"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ounded Rectangle 139"/>
          <p:cNvSpPr/>
          <p:nvPr/>
        </p:nvSpPr>
        <p:spPr>
          <a:xfrm>
            <a:off x="320040" y="4315968"/>
            <a:ext cx="8503920" cy="457200"/>
          </a:xfrm>
          <a:prstGeom prst="roundRect">
            <a:avLst>
              <a:gd name="adj" fmla="val 20000"/>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1" name="Picture 140" descr="l-play-ink.png"/>
          <p:cNvPicPr>
            <a:picLocks noChangeAspect="1"/>
          </p:cNvPicPr>
          <p:nvPr/>
        </p:nvPicPr>
        <p:blipFill>
          <a:blip r:embed="rId8"/>
          <a:stretch>
            <a:fillRect/>
          </a:stretch>
        </p:blipFill>
        <p:spPr>
          <a:xfrm>
            <a:off x="484632" y="4416552"/>
            <a:ext cx="256032" cy="256032"/>
          </a:xfrm>
          <a:prstGeom prst="rect">
            <a:avLst/>
          </a:prstGeom>
        </p:spPr>
      </p:pic>
      <p:sp>
        <p:nvSpPr>
          <p:cNvPr id="142" name="TextBox 141"/>
          <p:cNvSpPr txBox="1"/>
          <p:nvPr/>
        </p:nvSpPr>
        <p:spPr>
          <a:xfrm>
            <a:off x="868680" y="4315968"/>
            <a:ext cx="7772400" cy="457200"/>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Not a mock: this is the live product.  </a:t>
            </a:r>
            <a:r>
              <a:rPr sz="1000" b="0">
                <a:solidFill>
                  <a:srgbClr val="111111"/>
                </a:solidFill>
                <a:latin typeface="Google Sans Flex"/>
              </a:rPr>
              <a:t>Try it at </a:t>
            </a:r>
            <a:r>
              <a:rPr sz="1000" b="1">
                <a:solidFill>
                  <a:srgbClr val="3B5BFF"/>
                </a:solidFill>
                <a:latin typeface="Google Sans Flex"/>
                <a:hlinkClick r:id="rId9"/>
              </a:rPr>
              <a:t>shop-honest-ai.web.app</a:t>
            </a:r>
            <a:r>
              <a:rPr sz="1000" b="0">
                <a:solidFill>
                  <a:srgbClr val="5F6368"/>
                </a:solidFill>
                <a:latin typeface="Google Sans Flex"/>
              </a:rPr>
              <a:t>  ·  free recorded runs, or a live run with Gemini</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356615" y="1316736"/>
            <a:ext cx="150876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320040" y="1280160"/>
            <a:ext cx="150876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l-monitor-ink.png"/>
          <p:cNvPicPr>
            <a:picLocks noChangeAspect="1"/>
          </p:cNvPicPr>
          <p:nvPr/>
        </p:nvPicPr>
        <p:blipFill>
          <a:blip r:embed="rId5"/>
          <a:stretch>
            <a:fillRect/>
          </a:stretch>
        </p:blipFill>
        <p:spPr>
          <a:xfrm>
            <a:off x="411479" y="1472184"/>
            <a:ext cx="329184" cy="329184"/>
          </a:xfrm>
          <a:prstGeom prst="rect">
            <a:avLst/>
          </a:prstGeom>
        </p:spPr>
      </p:pic>
      <p:sp>
        <p:nvSpPr>
          <p:cNvPr id="115" name="TextBox 114"/>
          <p:cNvSpPr txBox="1"/>
          <p:nvPr/>
        </p:nvSpPr>
        <p:spPr>
          <a:xfrm>
            <a:off x="758952" y="1325880"/>
            <a:ext cx="996696"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Shopper / judge</a:t>
            </a:r>
          </a:p>
          <a:p>
            <a:pPr algn="l">
              <a:lnSpc>
                <a:spcPct val="100000"/>
              </a:lnSpc>
              <a:spcAft>
                <a:spcPts val="0"/>
              </a:spcAft>
            </a:pPr>
            <a:r>
              <a:rPr sz="800" b="0">
                <a:solidFill>
                  <a:srgbClr val="5F6368"/>
                </a:solidFill>
                <a:latin typeface="Google Sans Flex"/>
              </a:rPr>
              <a:t>any browser</a:t>
            </a:r>
          </a:p>
        </p:txBody>
      </p:sp>
      <p:sp>
        <p:nvSpPr>
          <p:cNvPr id="116" name="Rounded Rectangle 115"/>
          <p:cNvSpPr/>
          <p:nvPr/>
        </p:nvSpPr>
        <p:spPr>
          <a:xfrm>
            <a:off x="2139696" y="1316736"/>
            <a:ext cx="173736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2103120" y="1280160"/>
            <a:ext cx="173736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s-firebase.png"/>
          <p:cNvPicPr>
            <a:picLocks noChangeAspect="1"/>
          </p:cNvPicPr>
          <p:nvPr/>
        </p:nvPicPr>
        <p:blipFill>
          <a:blip r:embed="rId6"/>
          <a:stretch>
            <a:fillRect/>
          </a:stretch>
        </p:blipFill>
        <p:spPr>
          <a:xfrm>
            <a:off x="2194560" y="1472184"/>
            <a:ext cx="329184" cy="329184"/>
          </a:xfrm>
          <a:prstGeom prst="rect">
            <a:avLst/>
          </a:prstGeom>
        </p:spPr>
      </p:pic>
      <p:sp>
        <p:nvSpPr>
          <p:cNvPr id="119" name="TextBox 118"/>
          <p:cNvSpPr txBox="1"/>
          <p:nvPr/>
        </p:nvSpPr>
        <p:spPr>
          <a:xfrm>
            <a:off x="2542032" y="1325880"/>
            <a:ext cx="1225296"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Firebase Hosting</a:t>
            </a:r>
          </a:p>
          <a:p>
            <a:pPr algn="l">
              <a:lnSpc>
                <a:spcPct val="100000"/>
              </a:lnSpc>
              <a:spcAft>
                <a:spcPts val="0"/>
              </a:spcAft>
            </a:pPr>
            <a:r>
              <a:rPr sz="800" b="0">
                <a:solidFill>
                  <a:srgbClr val="5F6368"/>
                </a:solidFill>
                <a:latin typeface="Google Sans Flex"/>
              </a:rPr>
              <a:t>React app + demo stores</a:t>
            </a:r>
          </a:p>
        </p:txBody>
      </p:sp>
      <p:cxnSp>
        <p:nvCxnSpPr>
          <p:cNvPr id="120" name="Connector 119"/>
          <p:cNvCxnSpPr/>
          <p:nvPr/>
        </p:nvCxnSpPr>
        <p:spPr>
          <a:xfrm>
            <a:off x="1856231" y="1636776"/>
            <a:ext cx="219457"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867912" y="1636776"/>
            <a:ext cx="219456"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3767328" y="1389888"/>
            <a:ext cx="457200" cy="182880"/>
          </a:xfrm>
          <a:prstGeom prst="rect">
            <a:avLst/>
          </a:prstGeom>
          <a:noFill/>
        </p:spPr>
        <p:txBody>
          <a:bodyPr wrap="square" lIns="0" rIns="0" tIns="0" bIns="0" anchor="t">
            <a:noAutofit/>
          </a:bodyPr>
          <a:lstStyle/>
          <a:p>
            <a:pPr algn="ctr">
              <a:lnSpc>
                <a:spcPct val="100000"/>
              </a:lnSpc>
              <a:spcAft>
                <a:spcPts val="0"/>
              </a:spcAft>
            </a:pPr>
            <a:r>
              <a:rPr sz="800" b="0">
                <a:solidFill>
                  <a:srgbClr val="5F6368"/>
                </a:solidFill>
                <a:latin typeface="Google Sans Flex SemiBold"/>
              </a:rPr>
              <a:t>/api</a:t>
            </a:r>
          </a:p>
        </p:txBody>
      </p:sp>
      <p:cxnSp>
        <p:nvCxnSpPr>
          <p:cNvPr id="123" name="Connector 122"/>
          <p:cNvCxnSpPr/>
          <p:nvPr/>
        </p:nvCxnSpPr>
        <p:spPr>
          <a:xfrm>
            <a:off x="1005840" y="1993392"/>
            <a:ext cx="0" cy="219456"/>
          </a:xfrm>
          <a:prstGeom prst="line">
            <a:avLst/>
          </a:prstGeom>
          <a:ln w="19050">
            <a:solidFill>
              <a:srgbClr val="3B5BFF"/>
            </a:solidFill>
            <a:prstDash val="dash"/>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05840" y="2212848"/>
            <a:ext cx="3081528" cy="0"/>
          </a:xfrm>
          <a:prstGeom prst="line">
            <a:avLst/>
          </a:prstGeom>
          <a:ln w="19050">
            <a:solidFill>
              <a:srgbClr val="3B5B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2249424"/>
            <a:ext cx="2834640" cy="182880"/>
          </a:xfrm>
          <a:prstGeom prst="rect">
            <a:avLst/>
          </a:prstGeom>
          <a:noFill/>
        </p:spPr>
        <p:txBody>
          <a:bodyPr wrap="square" lIns="0" rIns="0" tIns="0" bIns="0" anchor="t">
            <a:noAutofit/>
          </a:bodyPr>
          <a:lstStyle/>
          <a:p>
            <a:pPr algn="l">
              <a:lnSpc>
                <a:spcPct val="100000"/>
              </a:lnSpc>
              <a:spcAft>
                <a:spcPts val="0"/>
              </a:spcAft>
            </a:pPr>
            <a:r>
              <a:rPr sz="800" b="0">
                <a:solidFill>
                  <a:srgbClr val="3B5BFF"/>
                </a:solidFill>
                <a:latin typeface="Google Sans Flex SemiBold"/>
              </a:rPr>
              <a:t>live event stream (SSE), straight to Cloud Run</a:t>
            </a:r>
          </a:p>
        </p:txBody>
      </p:sp>
      <p:sp>
        <p:nvSpPr>
          <p:cNvPr id="126" name="Rounded Rectangle 125"/>
          <p:cNvSpPr/>
          <p:nvPr/>
        </p:nvSpPr>
        <p:spPr>
          <a:xfrm>
            <a:off x="4160520" y="1280160"/>
            <a:ext cx="2606040" cy="2395728"/>
          </a:xfrm>
          <a:prstGeom prst="roundRect">
            <a:avLst>
              <a:gd name="adj" fmla="val 458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ounded Rectangle 126"/>
          <p:cNvSpPr/>
          <p:nvPr/>
        </p:nvSpPr>
        <p:spPr>
          <a:xfrm>
            <a:off x="4114800" y="1234440"/>
            <a:ext cx="2606040" cy="2395728"/>
          </a:xfrm>
          <a:prstGeom prst="roundRect">
            <a:avLst>
              <a:gd name="adj" fmla="val 4580"/>
            </a:avLst>
          </a:prstGeom>
          <a:solidFill>
            <a:srgbClr val="E8F0FE"/>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8" name="Picture 127" descr="g-cloud_run.png"/>
          <p:cNvPicPr>
            <a:picLocks noChangeAspect="1"/>
          </p:cNvPicPr>
          <p:nvPr/>
        </p:nvPicPr>
        <p:blipFill>
          <a:blip r:embed="rId7"/>
          <a:stretch>
            <a:fillRect/>
          </a:stretch>
        </p:blipFill>
        <p:spPr>
          <a:xfrm>
            <a:off x="4224528" y="1325880"/>
            <a:ext cx="329184" cy="329184"/>
          </a:xfrm>
          <a:prstGeom prst="rect">
            <a:avLst/>
          </a:prstGeom>
        </p:spPr>
      </p:pic>
      <p:sp>
        <p:nvSpPr>
          <p:cNvPr id="129" name="TextBox 128"/>
          <p:cNvSpPr txBox="1"/>
          <p:nvPr/>
        </p:nvSpPr>
        <p:spPr>
          <a:xfrm>
            <a:off x="4626864" y="1307592"/>
            <a:ext cx="2011680" cy="384048"/>
          </a:xfrm>
          <a:prstGeom prst="rect">
            <a:avLst/>
          </a:prstGeom>
          <a:noFill/>
        </p:spPr>
        <p:txBody>
          <a:bodyPr wrap="square" lIns="0" rIns="0" tIns="0" bIns="0" anchor="t">
            <a:noAutofit/>
          </a:bodyPr>
          <a:lstStyle/>
          <a:p>
            <a:pPr algn="l">
              <a:lnSpc>
                <a:spcPct val="100000"/>
              </a:lnSpc>
              <a:spcAft>
                <a:spcPts val="0"/>
              </a:spcAft>
            </a:pPr>
            <a:r>
              <a:rPr sz="1100" b="1">
                <a:solidFill>
                  <a:srgbClr val="111111"/>
                </a:solidFill>
                <a:latin typeface="Google Sans Flex"/>
              </a:rPr>
              <a:t>Cloud Run</a:t>
            </a:r>
          </a:p>
          <a:p>
            <a:pPr algn="l">
              <a:lnSpc>
                <a:spcPct val="100000"/>
              </a:lnSpc>
              <a:spcAft>
                <a:spcPts val="0"/>
              </a:spcAft>
            </a:pPr>
            <a:r>
              <a:rPr sz="800" b="0">
                <a:solidFill>
                  <a:srgbClr val="5F6368"/>
                </a:solidFill>
                <a:latin typeface="Google Sans Flex"/>
              </a:rPr>
              <a:t>FastAPI audit runner · asia-south1</a:t>
            </a:r>
          </a:p>
        </p:txBody>
      </p:sp>
      <p:sp>
        <p:nvSpPr>
          <p:cNvPr id="130" name="Rounded Rectangle 129"/>
          <p:cNvSpPr/>
          <p:nvPr/>
        </p:nvSpPr>
        <p:spPr>
          <a:xfrm>
            <a:off x="4242816" y="1801368"/>
            <a:ext cx="2350008" cy="493776"/>
          </a:xfrm>
          <a:prstGeom prst="roundRect">
            <a:avLst>
              <a:gd name="adj" fmla="val 1481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1" name="Picture 130" descr="l-bot-ink.png"/>
          <p:cNvPicPr>
            <a:picLocks noChangeAspect="1"/>
          </p:cNvPicPr>
          <p:nvPr/>
        </p:nvPicPr>
        <p:blipFill>
          <a:blip r:embed="rId8"/>
          <a:stretch>
            <a:fillRect/>
          </a:stretch>
        </p:blipFill>
        <p:spPr>
          <a:xfrm>
            <a:off x="4334255" y="1911096"/>
            <a:ext cx="274320" cy="274320"/>
          </a:xfrm>
          <a:prstGeom prst="rect">
            <a:avLst/>
          </a:prstGeom>
        </p:spPr>
      </p:pic>
      <p:sp>
        <p:nvSpPr>
          <p:cNvPr id="132" name="TextBox 131"/>
          <p:cNvSpPr txBox="1"/>
          <p:nvPr/>
        </p:nvSpPr>
        <p:spPr>
          <a:xfrm>
            <a:off x="4626864" y="1847088"/>
            <a:ext cx="1892808" cy="402336"/>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Navigator</a:t>
            </a:r>
          </a:p>
          <a:p>
            <a:pPr algn="l">
              <a:lnSpc>
                <a:spcPct val="100000"/>
              </a:lnSpc>
              <a:spcAft>
                <a:spcPts val="0"/>
              </a:spcAft>
            </a:pPr>
            <a:r>
              <a:rPr sz="750" b="0">
                <a:solidFill>
                  <a:srgbClr val="5F6368"/>
                </a:solidFill>
                <a:latin typeface="Google Sans Flex"/>
              </a:rPr>
              <a:t>Playwright Chromium · click guard</a:t>
            </a:r>
          </a:p>
        </p:txBody>
      </p:sp>
      <p:sp>
        <p:nvSpPr>
          <p:cNvPr id="133" name="Rounded Rectangle 132"/>
          <p:cNvSpPr/>
          <p:nvPr/>
        </p:nvSpPr>
        <p:spPr>
          <a:xfrm>
            <a:off x="4242816" y="2386584"/>
            <a:ext cx="2350008" cy="493776"/>
          </a:xfrm>
          <a:prstGeom prst="roundRect">
            <a:avLst>
              <a:gd name="adj" fmla="val 1481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4" name="Picture 133" descr="brand-gemini.png"/>
          <p:cNvPicPr>
            <a:picLocks noChangeAspect="1"/>
          </p:cNvPicPr>
          <p:nvPr/>
        </p:nvPicPr>
        <p:blipFill>
          <a:blip r:embed="rId9"/>
          <a:stretch>
            <a:fillRect/>
          </a:stretch>
        </p:blipFill>
        <p:spPr>
          <a:xfrm>
            <a:off x="4334255" y="2496312"/>
            <a:ext cx="274320" cy="274320"/>
          </a:xfrm>
          <a:prstGeom prst="rect">
            <a:avLst/>
          </a:prstGeom>
        </p:spPr>
      </p:pic>
      <p:sp>
        <p:nvSpPr>
          <p:cNvPr id="135" name="TextBox 134"/>
          <p:cNvSpPr txBox="1"/>
          <p:nvPr/>
        </p:nvSpPr>
        <p:spPr>
          <a:xfrm>
            <a:off x="4626864" y="2432304"/>
            <a:ext cx="1892808" cy="402336"/>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ADK agents</a:t>
            </a:r>
          </a:p>
          <a:p>
            <a:pPr algn="l">
              <a:lnSpc>
                <a:spcPct val="100000"/>
              </a:lnSpc>
              <a:spcAft>
                <a:spcPts val="0"/>
              </a:spcAft>
            </a:pPr>
            <a:r>
              <a:rPr sz="750" b="0">
                <a:solidFill>
                  <a:srgbClr val="5F6368"/>
                </a:solidFill>
                <a:latin typeface="Google Sans Flex"/>
              </a:rPr>
              <a:t>Pattern Analyst · Adjudicator</a:t>
            </a:r>
          </a:p>
        </p:txBody>
      </p:sp>
      <p:sp>
        <p:nvSpPr>
          <p:cNvPr id="136" name="Rounded Rectangle 135"/>
          <p:cNvSpPr/>
          <p:nvPr/>
        </p:nvSpPr>
        <p:spPr>
          <a:xfrm>
            <a:off x="4242816" y="2971800"/>
            <a:ext cx="2350008" cy="493776"/>
          </a:xfrm>
          <a:prstGeom prst="roundRect">
            <a:avLst>
              <a:gd name="adj" fmla="val 1481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7" name="Picture 136" descr="l-ruler-ink.png"/>
          <p:cNvPicPr>
            <a:picLocks noChangeAspect="1"/>
          </p:cNvPicPr>
          <p:nvPr/>
        </p:nvPicPr>
        <p:blipFill>
          <a:blip r:embed="rId10"/>
          <a:stretch>
            <a:fillRect/>
          </a:stretch>
        </p:blipFill>
        <p:spPr>
          <a:xfrm>
            <a:off x="4334255" y="3081528"/>
            <a:ext cx="274320" cy="274320"/>
          </a:xfrm>
          <a:prstGeom prst="rect">
            <a:avLst/>
          </a:prstGeom>
        </p:spPr>
      </p:pic>
      <p:sp>
        <p:nvSpPr>
          <p:cNvPr id="138" name="TextBox 137"/>
          <p:cNvSpPr txBox="1"/>
          <p:nvPr/>
        </p:nvSpPr>
        <p:spPr>
          <a:xfrm>
            <a:off x="4626864" y="3017520"/>
            <a:ext cx="1892808" cy="402336"/>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Checks + Reporter</a:t>
            </a:r>
          </a:p>
          <a:p>
            <a:pPr algn="l">
              <a:lnSpc>
                <a:spcPct val="100000"/>
              </a:lnSpc>
              <a:spcAft>
                <a:spcPts val="0"/>
              </a:spcAft>
            </a:pPr>
            <a:r>
              <a:rPr sz="750" b="0">
                <a:solidFill>
                  <a:srgbClr val="5F6368"/>
                </a:solidFill>
                <a:latin typeface="Google Sans Flex"/>
              </a:rPr>
              <a:t>measured checks · score · ₹ · law</a:t>
            </a:r>
          </a:p>
        </p:txBody>
      </p:sp>
      <p:sp>
        <p:nvSpPr>
          <p:cNvPr id="139" name="Rounded Rectangle 138"/>
          <p:cNvSpPr/>
          <p:nvPr/>
        </p:nvSpPr>
        <p:spPr>
          <a:xfrm>
            <a:off x="7004304" y="1316736"/>
            <a:ext cx="1856231"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ounded Rectangle 139"/>
          <p:cNvSpPr/>
          <p:nvPr/>
        </p:nvSpPr>
        <p:spPr>
          <a:xfrm>
            <a:off x="6967728" y="1280160"/>
            <a:ext cx="1856231"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1" name="Picture 140" descr="g-vertexai.png"/>
          <p:cNvPicPr>
            <a:picLocks noChangeAspect="1"/>
          </p:cNvPicPr>
          <p:nvPr/>
        </p:nvPicPr>
        <p:blipFill>
          <a:blip r:embed="rId11"/>
          <a:stretch>
            <a:fillRect/>
          </a:stretch>
        </p:blipFill>
        <p:spPr>
          <a:xfrm>
            <a:off x="7059168" y="1463039"/>
            <a:ext cx="347472" cy="347472"/>
          </a:xfrm>
          <a:prstGeom prst="rect">
            <a:avLst/>
          </a:prstGeom>
        </p:spPr>
      </p:pic>
      <p:sp>
        <p:nvSpPr>
          <p:cNvPr id="142" name="TextBox 141"/>
          <p:cNvSpPr txBox="1"/>
          <p:nvPr/>
        </p:nvSpPr>
        <p:spPr>
          <a:xfrm>
            <a:off x="7424928" y="1325880"/>
            <a:ext cx="1325880"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Gemini · Vertex AI</a:t>
            </a:r>
          </a:p>
          <a:p>
            <a:pPr algn="l">
              <a:lnSpc>
                <a:spcPct val="100000"/>
              </a:lnSpc>
              <a:spcAft>
                <a:spcPts val="0"/>
              </a:spcAft>
            </a:pPr>
            <a:r>
              <a:rPr sz="800" b="0">
                <a:solidFill>
                  <a:srgbClr val="5F6368"/>
                </a:solidFill>
                <a:latin typeface="Google Sans Flex"/>
              </a:rPr>
              <a:t>3.8 Flash; 2.5 Flash as fallback</a:t>
            </a:r>
          </a:p>
        </p:txBody>
      </p:sp>
      <p:cxnSp>
        <p:nvCxnSpPr>
          <p:cNvPr id="143" name="Connector 142"/>
          <p:cNvCxnSpPr/>
          <p:nvPr/>
        </p:nvCxnSpPr>
        <p:spPr>
          <a:xfrm>
            <a:off x="6748272" y="1636776"/>
            <a:ext cx="192024"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4" name="Rounded Rectangle 143"/>
          <p:cNvSpPr/>
          <p:nvPr/>
        </p:nvSpPr>
        <p:spPr>
          <a:xfrm>
            <a:off x="7004304" y="2642616"/>
            <a:ext cx="1856231"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6967728" y="2606040"/>
            <a:ext cx="1856231"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6" name="Picture 145" descr="l-globe-ink.png"/>
          <p:cNvPicPr>
            <a:picLocks noChangeAspect="1"/>
          </p:cNvPicPr>
          <p:nvPr/>
        </p:nvPicPr>
        <p:blipFill>
          <a:blip r:embed="rId12"/>
          <a:stretch>
            <a:fillRect/>
          </a:stretch>
        </p:blipFill>
        <p:spPr>
          <a:xfrm>
            <a:off x="7059168" y="2788920"/>
            <a:ext cx="347472" cy="347472"/>
          </a:xfrm>
          <a:prstGeom prst="rect">
            <a:avLst/>
          </a:prstGeom>
        </p:spPr>
      </p:pic>
      <p:sp>
        <p:nvSpPr>
          <p:cNvPr id="147" name="TextBox 146"/>
          <p:cNvSpPr txBox="1"/>
          <p:nvPr/>
        </p:nvSpPr>
        <p:spPr>
          <a:xfrm>
            <a:off x="7424928" y="2651760"/>
            <a:ext cx="1325880"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The store</a:t>
            </a:r>
          </a:p>
          <a:p>
            <a:pPr algn="l">
              <a:lnSpc>
                <a:spcPct val="100000"/>
              </a:lnSpc>
              <a:spcAft>
                <a:spcPts val="0"/>
              </a:spcAft>
            </a:pPr>
            <a:r>
              <a:rPr sz="800" b="0">
                <a:solidFill>
                  <a:srgbClr val="5F6368"/>
                </a:solidFill>
                <a:latin typeface="Google Sans Flex"/>
              </a:rPr>
              <a:t>allowlisted, logged out, SSRF guard</a:t>
            </a:r>
          </a:p>
        </p:txBody>
      </p:sp>
      <p:cxnSp>
        <p:nvCxnSpPr>
          <p:cNvPr id="148" name="Connector 147"/>
          <p:cNvCxnSpPr/>
          <p:nvPr/>
        </p:nvCxnSpPr>
        <p:spPr>
          <a:xfrm>
            <a:off x="6748272" y="2962656"/>
            <a:ext cx="192024"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356615" y="2615184"/>
            <a:ext cx="3520440" cy="475488"/>
          </a:xfrm>
          <a:prstGeom prst="roundRect">
            <a:avLst>
              <a:gd name="adj" fmla="val 15384"/>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ounded Rectangle 149"/>
          <p:cNvSpPr/>
          <p:nvPr/>
        </p:nvSpPr>
        <p:spPr>
          <a:xfrm>
            <a:off x="320040" y="2578608"/>
            <a:ext cx="3520440" cy="475488"/>
          </a:xfrm>
          <a:prstGeom prst="roundRect">
            <a:avLst>
              <a:gd name="adj" fmla="val 1538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1" name="Picture 150" descr="g-cloud_build.png"/>
          <p:cNvPicPr>
            <a:picLocks noChangeAspect="1"/>
          </p:cNvPicPr>
          <p:nvPr/>
        </p:nvPicPr>
        <p:blipFill>
          <a:blip r:embed="rId13"/>
          <a:stretch>
            <a:fillRect/>
          </a:stretch>
        </p:blipFill>
        <p:spPr>
          <a:xfrm>
            <a:off x="411479" y="2651760"/>
            <a:ext cx="310896" cy="310896"/>
          </a:xfrm>
          <a:prstGeom prst="rect">
            <a:avLst/>
          </a:prstGeom>
        </p:spPr>
      </p:pic>
      <p:pic>
        <p:nvPicPr>
          <p:cNvPr id="152" name="Picture 151" descr="g-artifact_registry.png"/>
          <p:cNvPicPr>
            <a:picLocks noChangeAspect="1"/>
          </p:cNvPicPr>
          <p:nvPr/>
        </p:nvPicPr>
        <p:blipFill>
          <a:blip r:embed="rId14"/>
          <a:stretch>
            <a:fillRect/>
          </a:stretch>
        </p:blipFill>
        <p:spPr>
          <a:xfrm>
            <a:off x="777240" y="2651760"/>
            <a:ext cx="310896" cy="310896"/>
          </a:xfrm>
          <a:prstGeom prst="rect">
            <a:avLst/>
          </a:prstGeom>
        </p:spPr>
      </p:pic>
      <p:sp>
        <p:nvSpPr>
          <p:cNvPr id="153" name="TextBox 152"/>
          <p:cNvSpPr txBox="1"/>
          <p:nvPr/>
        </p:nvSpPr>
        <p:spPr>
          <a:xfrm>
            <a:off x="1188719" y="2578608"/>
            <a:ext cx="2606040" cy="47548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Build → Artifact Registry</a:t>
            </a:r>
          </a:p>
          <a:p>
            <a:pPr algn="l">
              <a:lnSpc>
                <a:spcPct val="100000"/>
              </a:lnSpc>
              <a:spcAft>
                <a:spcPts val="0"/>
              </a:spcAft>
            </a:pPr>
            <a:r>
              <a:rPr sz="750" b="0">
                <a:solidFill>
                  <a:srgbClr val="5F6368"/>
                </a:solidFill>
                <a:latin typeface="Google Sans Flex"/>
              </a:rPr>
              <a:t>image tagged with the commit · keeps the newest 3</a:t>
            </a:r>
          </a:p>
        </p:txBody>
      </p:sp>
      <p:sp>
        <p:nvSpPr>
          <p:cNvPr id="154" name="Rounded Rectangle 153"/>
          <p:cNvSpPr/>
          <p:nvPr/>
        </p:nvSpPr>
        <p:spPr>
          <a:xfrm>
            <a:off x="356615" y="3191256"/>
            <a:ext cx="3520440" cy="475488"/>
          </a:xfrm>
          <a:prstGeom prst="roundRect">
            <a:avLst>
              <a:gd name="adj" fmla="val 15384"/>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320040" y="3154680"/>
            <a:ext cx="3520440" cy="475488"/>
          </a:xfrm>
          <a:prstGeom prst="roundRect">
            <a:avLst>
              <a:gd name="adj" fmla="val 1538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6" name="Picture 155" descr="g-cloud_monitoring.png"/>
          <p:cNvPicPr>
            <a:picLocks noChangeAspect="1"/>
          </p:cNvPicPr>
          <p:nvPr/>
        </p:nvPicPr>
        <p:blipFill>
          <a:blip r:embed="rId15"/>
          <a:stretch>
            <a:fillRect/>
          </a:stretch>
        </p:blipFill>
        <p:spPr>
          <a:xfrm>
            <a:off x="411479" y="3227832"/>
            <a:ext cx="310896" cy="310896"/>
          </a:xfrm>
          <a:prstGeom prst="rect">
            <a:avLst/>
          </a:prstGeom>
        </p:spPr>
      </p:pic>
      <p:pic>
        <p:nvPicPr>
          <p:cNvPr id="157" name="Picture 156" descr="g-billing.png"/>
          <p:cNvPicPr>
            <a:picLocks noChangeAspect="1"/>
          </p:cNvPicPr>
          <p:nvPr/>
        </p:nvPicPr>
        <p:blipFill>
          <a:blip r:embed="rId16"/>
          <a:stretch>
            <a:fillRect/>
          </a:stretch>
        </p:blipFill>
        <p:spPr>
          <a:xfrm>
            <a:off x="777240" y="3227832"/>
            <a:ext cx="310896" cy="310896"/>
          </a:xfrm>
          <a:prstGeom prst="rect">
            <a:avLst/>
          </a:prstGeom>
        </p:spPr>
      </p:pic>
      <p:sp>
        <p:nvSpPr>
          <p:cNvPr id="158" name="TextBox 157"/>
          <p:cNvSpPr txBox="1"/>
          <p:nvPr/>
        </p:nvSpPr>
        <p:spPr>
          <a:xfrm>
            <a:off x="1188719" y="3154680"/>
            <a:ext cx="2606040" cy="47548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Monitoring + Billing budgets</a:t>
            </a:r>
          </a:p>
          <a:p>
            <a:pPr algn="l">
              <a:lnSpc>
                <a:spcPct val="100000"/>
              </a:lnSpc>
              <a:spcAft>
                <a:spcPts val="0"/>
              </a:spcAft>
            </a:pPr>
            <a:r>
              <a:rPr sz="750" b="0">
                <a:solidFill>
                  <a:srgbClr val="5F6368"/>
                </a:solidFill>
                <a:latin typeface="Google Sans Flex"/>
              </a:rPr>
              <a:t>error and 5xx alerts · daily live-run cap</a:t>
            </a:r>
          </a:p>
        </p:txBody>
      </p:sp>
      <p:cxnSp>
        <p:nvCxnSpPr>
          <p:cNvPr id="159" name="Connector 158"/>
          <p:cNvCxnSpPr/>
          <p:nvPr/>
        </p:nvCxnSpPr>
        <p:spPr>
          <a:xfrm>
            <a:off x="3867911" y="2816352"/>
            <a:ext cx="219457" cy="0"/>
          </a:xfrm>
          <a:prstGeom prst="line">
            <a:avLst/>
          </a:prstGeom>
          <a:ln w="1587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5417820" y="3657600"/>
            <a:ext cx="0" cy="155448"/>
          </a:xfrm>
          <a:prstGeom prst="line">
            <a:avLst/>
          </a:prstGeom>
          <a:ln w="2222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3886200" y="3813048"/>
            <a:ext cx="4023360" cy="0"/>
          </a:xfrm>
          <a:prstGeom prst="line">
            <a:avLst/>
          </a:prstGeom>
          <a:ln w="2222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3886200" y="3813048"/>
            <a:ext cx="0" cy="192024"/>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3" name="Rounded Rectangle 162"/>
          <p:cNvSpPr/>
          <p:nvPr/>
        </p:nvSpPr>
        <p:spPr>
          <a:xfrm>
            <a:off x="3008376" y="4078224"/>
            <a:ext cx="182880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ounded Rectangle 163"/>
          <p:cNvSpPr/>
          <p:nvPr/>
        </p:nvSpPr>
        <p:spPr>
          <a:xfrm>
            <a:off x="2971800" y="4041648"/>
            <a:ext cx="182880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5" name="Picture 164" descr="g-firestore.png"/>
          <p:cNvPicPr>
            <a:picLocks noChangeAspect="1"/>
          </p:cNvPicPr>
          <p:nvPr/>
        </p:nvPicPr>
        <p:blipFill>
          <a:blip r:embed="rId17"/>
          <a:stretch>
            <a:fillRect/>
          </a:stretch>
        </p:blipFill>
        <p:spPr>
          <a:xfrm>
            <a:off x="3063240" y="4224528"/>
            <a:ext cx="347472" cy="347472"/>
          </a:xfrm>
          <a:prstGeom prst="rect">
            <a:avLst/>
          </a:prstGeom>
        </p:spPr>
      </p:pic>
      <p:sp>
        <p:nvSpPr>
          <p:cNvPr id="166" name="TextBox 165"/>
          <p:cNvSpPr txBox="1"/>
          <p:nvPr/>
        </p:nvSpPr>
        <p:spPr>
          <a:xfrm>
            <a:off x="3429000" y="4087368"/>
            <a:ext cx="1298448"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Firestore</a:t>
            </a:r>
          </a:p>
          <a:p>
            <a:pPr algn="l">
              <a:lnSpc>
                <a:spcPct val="100000"/>
              </a:lnSpc>
              <a:spcAft>
                <a:spcPts val="0"/>
              </a:spcAft>
            </a:pPr>
            <a:r>
              <a:rPr sz="800" b="0">
                <a:solidFill>
                  <a:srgbClr val="5F6368"/>
                </a:solidFill>
                <a:latin typeface="Google Sans Flex"/>
              </a:rPr>
              <a:t>audits + event log (resumable)</a:t>
            </a:r>
          </a:p>
        </p:txBody>
      </p:sp>
      <p:cxnSp>
        <p:nvCxnSpPr>
          <p:cNvPr id="167" name="Connector 166"/>
          <p:cNvCxnSpPr/>
          <p:nvPr/>
        </p:nvCxnSpPr>
        <p:spPr>
          <a:xfrm>
            <a:off x="5897880" y="3813048"/>
            <a:ext cx="0" cy="192024"/>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8" name="Rounded Rectangle 167"/>
          <p:cNvSpPr/>
          <p:nvPr/>
        </p:nvSpPr>
        <p:spPr>
          <a:xfrm>
            <a:off x="5020056" y="4078224"/>
            <a:ext cx="182880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ounded Rectangle 168"/>
          <p:cNvSpPr/>
          <p:nvPr/>
        </p:nvSpPr>
        <p:spPr>
          <a:xfrm>
            <a:off x="4983480" y="4041648"/>
            <a:ext cx="182880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0" name="Picture 169" descr="g-cloud_storage.png"/>
          <p:cNvPicPr>
            <a:picLocks noChangeAspect="1"/>
          </p:cNvPicPr>
          <p:nvPr/>
        </p:nvPicPr>
        <p:blipFill>
          <a:blip r:embed="rId18"/>
          <a:stretch>
            <a:fillRect/>
          </a:stretch>
        </p:blipFill>
        <p:spPr>
          <a:xfrm>
            <a:off x="5074920" y="4224528"/>
            <a:ext cx="347472" cy="347472"/>
          </a:xfrm>
          <a:prstGeom prst="rect">
            <a:avLst/>
          </a:prstGeom>
        </p:spPr>
      </p:pic>
      <p:sp>
        <p:nvSpPr>
          <p:cNvPr id="171" name="TextBox 170"/>
          <p:cNvSpPr txBox="1"/>
          <p:nvPr/>
        </p:nvSpPr>
        <p:spPr>
          <a:xfrm>
            <a:off x="5440680" y="4087368"/>
            <a:ext cx="1298448"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Cloud Storage</a:t>
            </a:r>
          </a:p>
          <a:p>
            <a:pPr algn="l">
              <a:lnSpc>
                <a:spcPct val="100000"/>
              </a:lnSpc>
              <a:spcAft>
                <a:spcPts val="0"/>
              </a:spcAft>
            </a:pPr>
            <a:r>
              <a:rPr sz="800" b="0">
                <a:solidFill>
                  <a:srgbClr val="5F6368"/>
                </a:solidFill>
                <a:latin typeface="Google Sans Flex"/>
              </a:rPr>
              <a:t>screenshots of every step</a:t>
            </a:r>
          </a:p>
        </p:txBody>
      </p:sp>
      <p:cxnSp>
        <p:nvCxnSpPr>
          <p:cNvPr id="172" name="Connector 171"/>
          <p:cNvCxnSpPr/>
          <p:nvPr/>
        </p:nvCxnSpPr>
        <p:spPr>
          <a:xfrm>
            <a:off x="7909560" y="3813048"/>
            <a:ext cx="0" cy="192024"/>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Rounded Rectangle 172"/>
          <p:cNvSpPr/>
          <p:nvPr/>
        </p:nvSpPr>
        <p:spPr>
          <a:xfrm>
            <a:off x="7031736" y="4078224"/>
            <a:ext cx="182880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ounded Rectangle 173"/>
          <p:cNvSpPr/>
          <p:nvPr/>
        </p:nvSpPr>
        <p:spPr>
          <a:xfrm>
            <a:off x="6995160" y="4041648"/>
            <a:ext cx="182880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5" name="Picture 174" descr="g-bigquery.png"/>
          <p:cNvPicPr>
            <a:picLocks noChangeAspect="1"/>
          </p:cNvPicPr>
          <p:nvPr/>
        </p:nvPicPr>
        <p:blipFill>
          <a:blip r:embed="rId19"/>
          <a:stretch>
            <a:fillRect/>
          </a:stretch>
        </p:blipFill>
        <p:spPr>
          <a:xfrm>
            <a:off x="7086600" y="4224528"/>
            <a:ext cx="347472" cy="347472"/>
          </a:xfrm>
          <a:prstGeom prst="rect">
            <a:avLst/>
          </a:prstGeom>
        </p:spPr>
      </p:pic>
      <p:sp>
        <p:nvSpPr>
          <p:cNvPr id="176" name="TextBox 175"/>
          <p:cNvSpPr txBox="1"/>
          <p:nvPr/>
        </p:nvSpPr>
        <p:spPr>
          <a:xfrm>
            <a:off x="7452360" y="4087368"/>
            <a:ext cx="1298448"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BigQuery</a:t>
            </a:r>
          </a:p>
          <a:p>
            <a:pPr algn="l">
              <a:lnSpc>
                <a:spcPct val="100000"/>
              </a:lnSpc>
              <a:spcAft>
                <a:spcPts val="0"/>
              </a:spcAft>
            </a:pPr>
            <a:r>
              <a:rPr sz="800" b="0">
                <a:solidFill>
                  <a:srgbClr val="5F6368"/>
                </a:solidFill>
                <a:latin typeface="Google Sans Flex"/>
              </a:rPr>
              <a:t>price history · MRP check</a:t>
            </a:r>
          </a:p>
        </p:txBody>
      </p:sp>
      <p:sp>
        <p:nvSpPr>
          <p:cNvPr id="177" name="Rounded Rectangle 176"/>
          <p:cNvSpPr/>
          <p:nvPr/>
        </p:nvSpPr>
        <p:spPr>
          <a:xfrm>
            <a:off x="320040" y="4041648"/>
            <a:ext cx="2468880" cy="713232"/>
          </a:xfrm>
          <a:prstGeom prst="roundRect">
            <a:avLst>
              <a:gd name="adj" fmla="val 10256"/>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429768" y="4041648"/>
            <a:ext cx="2286000" cy="713232"/>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Safe by design</a:t>
            </a:r>
          </a:p>
          <a:p>
            <a:pPr algn="l">
              <a:lnSpc>
                <a:spcPct val="100000"/>
              </a:lnSpc>
              <a:spcAft>
                <a:spcPts val="0"/>
              </a:spcAft>
            </a:pPr>
            <a:r>
              <a:rPr sz="750" b="0">
                <a:solidFill>
                  <a:srgbClr val="5F6368"/>
                </a:solidFill>
                <a:latin typeface="Google Sans Flex"/>
              </a:rPr>
              <a:t>never pays, signs in or types · budgets per audit · service account, no keys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56615" y="1280160"/>
            <a:ext cx="1143000" cy="384048"/>
          </a:xfrm>
          <a:prstGeom prst="roundRect">
            <a:avLst>
              <a:gd name="adj" fmla="val 23809"/>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320040" y="1243584"/>
            <a:ext cx="1143000" cy="384048"/>
          </a:xfrm>
          <a:prstGeom prst="roundRect">
            <a:avLst>
              <a:gd name="adj" fmla="val 23809"/>
            </a:avLst>
          </a:prstGeom>
          <a:solidFill>
            <a:srgbClr val="C4B5FD"/>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411479" y="1243584"/>
            <a:ext cx="960120" cy="384048"/>
          </a:xfrm>
          <a:prstGeom prst="rect">
            <a:avLst/>
          </a:prstGeom>
          <a:noFill/>
        </p:spPr>
        <p:txBody>
          <a:bodyPr wrap="square" lIns="0" rIns="0" tIns="0" bIns="0" anchor="ctr">
            <a:noAutofit/>
          </a:bodyPr>
          <a:lstStyle/>
          <a:p>
            <a:pPr algn="ctr">
              <a:lnSpc>
                <a:spcPct val="100000"/>
              </a:lnSpc>
              <a:spcAft>
                <a:spcPts val="0"/>
              </a:spcAft>
            </a:pPr>
            <a:r>
              <a:rPr sz="1150" b="1">
                <a:solidFill>
                  <a:srgbClr val="111111"/>
                </a:solidFill>
                <a:latin typeface="Google Sans Flex"/>
              </a:rPr>
              <a:t>AI</a:t>
            </a:r>
          </a:p>
        </p:txBody>
      </p:sp>
      <p:sp>
        <p:nvSpPr>
          <p:cNvPr id="123" name="Rounded Rectangle 122"/>
          <p:cNvSpPr/>
          <p:nvPr/>
        </p:nvSpPr>
        <p:spPr>
          <a:xfrm>
            <a:off x="1627632" y="1271016"/>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ounded Rectangle 123"/>
          <p:cNvSpPr/>
          <p:nvPr/>
        </p:nvSpPr>
        <p:spPr>
          <a:xfrm>
            <a:off x="1600200" y="1243584"/>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5" name="Picture 124" descr="brand-gemini.png"/>
          <p:cNvPicPr>
            <a:picLocks noChangeAspect="1"/>
          </p:cNvPicPr>
          <p:nvPr/>
        </p:nvPicPr>
        <p:blipFill>
          <a:blip r:embed="rId5"/>
          <a:stretch>
            <a:fillRect/>
          </a:stretch>
        </p:blipFill>
        <p:spPr>
          <a:xfrm>
            <a:off x="1682496" y="1307592"/>
            <a:ext cx="256032" cy="256032"/>
          </a:xfrm>
          <a:prstGeom prst="rect">
            <a:avLst/>
          </a:prstGeom>
        </p:spPr>
      </p:pic>
      <p:sp>
        <p:nvSpPr>
          <p:cNvPr id="126" name="TextBox 125"/>
          <p:cNvSpPr txBox="1"/>
          <p:nvPr/>
        </p:nvSpPr>
        <p:spPr>
          <a:xfrm>
            <a:off x="2020824" y="1243584"/>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Gemini 3.8 Flash</a:t>
            </a:r>
            <a:r>
              <a:rPr sz="800" b="0">
                <a:solidFill>
                  <a:srgbClr val="5F6368"/>
                </a:solidFill>
                <a:latin typeface="Google Sans Flex"/>
              </a:rPr>
              <a:t>  on Vertex AI</a:t>
            </a:r>
          </a:p>
        </p:txBody>
      </p:sp>
      <p:sp>
        <p:nvSpPr>
          <p:cNvPr id="127" name="Rounded Rectangle 126"/>
          <p:cNvSpPr/>
          <p:nvPr/>
        </p:nvSpPr>
        <p:spPr>
          <a:xfrm>
            <a:off x="4072128" y="1271016"/>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ounded Rectangle 127"/>
          <p:cNvSpPr/>
          <p:nvPr/>
        </p:nvSpPr>
        <p:spPr>
          <a:xfrm>
            <a:off x="4044696" y="1243584"/>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9" name="Picture 128" descr="l-bot-ink.png"/>
          <p:cNvPicPr>
            <a:picLocks noChangeAspect="1"/>
          </p:cNvPicPr>
          <p:nvPr/>
        </p:nvPicPr>
        <p:blipFill>
          <a:blip r:embed="rId6"/>
          <a:stretch>
            <a:fillRect/>
          </a:stretch>
        </p:blipFill>
        <p:spPr>
          <a:xfrm>
            <a:off x="4126992" y="1307592"/>
            <a:ext cx="256032" cy="256032"/>
          </a:xfrm>
          <a:prstGeom prst="rect">
            <a:avLst/>
          </a:prstGeom>
        </p:spPr>
      </p:pic>
      <p:sp>
        <p:nvSpPr>
          <p:cNvPr id="130" name="TextBox 129"/>
          <p:cNvSpPr txBox="1"/>
          <p:nvPr/>
        </p:nvSpPr>
        <p:spPr>
          <a:xfrm>
            <a:off x="4465320" y="1243584"/>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Google ADK</a:t>
            </a:r>
            <a:r>
              <a:rPr sz="800" b="0">
                <a:solidFill>
                  <a:srgbClr val="5F6368"/>
                </a:solidFill>
                <a:latin typeface="Google Sans Flex"/>
              </a:rPr>
              <a:t>  agents + tools</a:t>
            </a:r>
          </a:p>
        </p:txBody>
      </p:sp>
      <p:sp>
        <p:nvSpPr>
          <p:cNvPr id="131" name="Rounded Rectangle 130"/>
          <p:cNvSpPr/>
          <p:nvPr/>
        </p:nvSpPr>
        <p:spPr>
          <a:xfrm>
            <a:off x="6516624" y="1271016"/>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ounded Rectangle 131"/>
          <p:cNvSpPr/>
          <p:nvPr/>
        </p:nvSpPr>
        <p:spPr>
          <a:xfrm>
            <a:off x="6489192" y="1243584"/>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3" name="Picture 132" descr="l-cpu-ink.png"/>
          <p:cNvPicPr>
            <a:picLocks noChangeAspect="1"/>
          </p:cNvPicPr>
          <p:nvPr/>
        </p:nvPicPr>
        <p:blipFill>
          <a:blip r:embed="rId7"/>
          <a:stretch>
            <a:fillRect/>
          </a:stretch>
        </p:blipFill>
        <p:spPr>
          <a:xfrm>
            <a:off x="6571488" y="1307592"/>
            <a:ext cx="256032" cy="256032"/>
          </a:xfrm>
          <a:prstGeom prst="rect">
            <a:avLst/>
          </a:prstGeom>
        </p:spPr>
      </p:pic>
      <p:sp>
        <p:nvSpPr>
          <p:cNvPr id="134" name="TextBox 133"/>
          <p:cNvSpPr txBox="1"/>
          <p:nvPr/>
        </p:nvSpPr>
        <p:spPr>
          <a:xfrm>
            <a:off x="6909816" y="1243584"/>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Gemma 3 4B</a:t>
            </a:r>
            <a:r>
              <a:rPr sz="800" b="0">
                <a:solidFill>
                  <a:srgbClr val="5F6368"/>
                </a:solidFill>
                <a:latin typeface="Google Sans Flex"/>
              </a:rPr>
              <a:t>  local dev, via Ollama</a:t>
            </a:r>
          </a:p>
        </p:txBody>
      </p:sp>
      <p:sp>
        <p:nvSpPr>
          <p:cNvPr id="135" name="Rounded Rectangle 134"/>
          <p:cNvSpPr/>
          <p:nvPr/>
        </p:nvSpPr>
        <p:spPr>
          <a:xfrm>
            <a:off x="356615" y="1810512"/>
            <a:ext cx="1143000" cy="1298448"/>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ounded Rectangle 135"/>
          <p:cNvSpPr/>
          <p:nvPr/>
        </p:nvSpPr>
        <p:spPr>
          <a:xfrm>
            <a:off x="320040" y="1773936"/>
            <a:ext cx="1143000" cy="1298448"/>
          </a:xfrm>
          <a:prstGeom prst="roundRect">
            <a:avLst>
              <a:gd name="adj" fmla="val 8000"/>
            </a:avLst>
          </a:prstGeom>
          <a:solidFill>
            <a:srgbClr val="D2E3F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411479" y="1773936"/>
            <a:ext cx="960120" cy="1298448"/>
          </a:xfrm>
          <a:prstGeom prst="rect">
            <a:avLst/>
          </a:prstGeom>
          <a:noFill/>
        </p:spPr>
        <p:txBody>
          <a:bodyPr wrap="square" lIns="0" rIns="0" tIns="0" bIns="0" anchor="ctr">
            <a:noAutofit/>
          </a:bodyPr>
          <a:lstStyle/>
          <a:p>
            <a:pPr algn="ctr">
              <a:lnSpc>
                <a:spcPct val="100000"/>
              </a:lnSpc>
              <a:spcAft>
                <a:spcPts val="0"/>
              </a:spcAft>
            </a:pPr>
            <a:r>
              <a:rPr sz="1150" b="1">
                <a:solidFill>
                  <a:srgbClr val="111111"/>
                </a:solidFill>
                <a:latin typeface="Google Sans Flex"/>
              </a:rPr>
              <a:t>Google Cloud</a:t>
            </a:r>
          </a:p>
        </p:txBody>
      </p:sp>
      <p:sp>
        <p:nvSpPr>
          <p:cNvPr id="138" name="Rounded Rectangle 137"/>
          <p:cNvSpPr/>
          <p:nvPr/>
        </p:nvSpPr>
        <p:spPr>
          <a:xfrm>
            <a:off x="1627632" y="18013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ounded Rectangle 138"/>
          <p:cNvSpPr/>
          <p:nvPr/>
        </p:nvSpPr>
        <p:spPr>
          <a:xfrm>
            <a:off x="1600200" y="17739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0" name="Picture 139" descr="g-cloud_run.png"/>
          <p:cNvPicPr>
            <a:picLocks noChangeAspect="1"/>
          </p:cNvPicPr>
          <p:nvPr/>
        </p:nvPicPr>
        <p:blipFill>
          <a:blip r:embed="rId8"/>
          <a:stretch>
            <a:fillRect/>
          </a:stretch>
        </p:blipFill>
        <p:spPr>
          <a:xfrm>
            <a:off x="1682496" y="1837943"/>
            <a:ext cx="256032" cy="256032"/>
          </a:xfrm>
          <a:prstGeom prst="rect">
            <a:avLst/>
          </a:prstGeom>
        </p:spPr>
      </p:pic>
      <p:sp>
        <p:nvSpPr>
          <p:cNvPr id="141" name="TextBox 140"/>
          <p:cNvSpPr txBox="1"/>
          <p:nvPr/>
        </p:nvSpPr>
        <p:spPr>
          <a:xfrm>
            <a:off x="2020824" y="17739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Run</a:t>
            </a:r>
            <a:r>
              <a:rPr sz="800" b="0">
                <a:solidFill>
                  <a:srgbClr val="5F6368"/>
                </a:solidFill>
                <a:latin typeface="Google Sans Flex"/>
              </a:rPr>
              <a:t>  API + browsers</a:t>
            </a:r>
          </a:p>
        </p:txBody>
      </p:sp>
      <p:sp>
        <p:nvSpPr>
          <p:cNvPr id="142" name="Rounded Rectangle 141"/>
          <p:cNvSpPr/>
          <p:nvPr/>
        </p:nvSpPr>
        <p:spPr>
          <a:xfrm>
            <a:off x="4072128" y="18013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ounded Rectangle 142"/>
          <p:cNvSpPr/>
          <p:nvPr/>
        </p:nvSpPr>
        <p:spPr>
          <a:xfrm>
            <a:off x="4044696" y="17739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4" name="Picture 143" descr="g-firestore.png"/>
          <p:cNvPicPr>
            <a:picLocks noChangeAspect="1"/>
          </p:cNvPicPr>
          <p:nvPr/>
        </p:nvPicPr>
        <p:blipFill>
          <a:blip r:embed="rId9"/>
          <a:stretch>
            <a:fillRect/>
          </a:stretch>
        </p:blipFill>
        <p:spPr>
          <a:xfrm>
            <a:off x="4126992" y="1837943"/>
            <a:ext cx="256032" cy="256032"/>
          </a:xfrm>
          <a:prstGeom prst="rect">
            <a:avLst/>
          </a:prstGeom>
        </p:spPr>
      </p:pic>
      <p:sp>
        <p:nvSpPr>
          <p:cNvPr id="145" name="TextBox 144"/>
          <p:cNvSpPr txBox="1"/>
          <p:nvPr/>
        </p:nvSpPr>
        <p:spPr>
          <a:xfrm>
            <a:off x="4465320" y="17739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Firestore</a:t>
            </a:r>
            <a:r>
              <a:rPr sz="800" b="0">
                <a:solidFill>
                  <a:srgbClr val="5F6368"/>
                </a:solidFill>
                <a:latin typeface="Google Sans Flex"/>
              </a:rPr>
              <a:t>  audits, events</a:t>
            </a:r>
          </a:p>
        </p:txBody>
      </p:sp>
      <p:sp>
        <p:nvSpPr>
          <p:cNvPr id="146" name="Rounded Rectangle 145"/>
          <p:cNvSpPr/>
          <p:nvPr/>
        </p:nvSpPr>
        <p:spPr>
          <a:xfrm>
            <a:off x="6516624" y="18013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6489192" y="17739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8" name="Picture 147" descr="g-cloud_storage.png"/>
          <p:cNvPicPr>
            <a:picLocks noChangeAspect="1"/>
          </p:cNvPicPr>
          <p:nvPr/>
        </p:nvPicPr>
        <p:blipFill>
          <a:blip r:embed="rId10"/>
          <a:stretch>
            <a:fillRect/>
          </a:stretch>
        </p:blipFill>
        <p:spPr>
          <a:xfrm>
            <a:off x="6571488" y="1837943"/>
            <a:ext cx="256032" cy="256032"/>
          </a:xfrm>
          <a:prstGeom prst="rect">
            <a:avLst/>
          </a:prstGeom>
        </p:spPr>
      </p:pic>
      <p:sp>
        <p:nvSpPr>
          <p:cNvPr id="149" name="TextBox 148"/>
          <p:cNvSpPr txBox="1"/>
          <p:nvPr/>
        </p:nvSpPr>
        <p:spPr>
          <a:xfrm>
            <a:off x="6909816" y="17739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Storage</a:t>
            </a:r>
            <a:r>
              <a:rPr sz="800" b="0">
                <a:solidFill>
                  <a:srgbClr val="5F6368"/>
                </a:solidFill>
                <a:latin typeface="Google Sans Flex"/>
              </a:rPr>
              <a:t>  screenshots</a:t>
            </a:r>
          </a:p>
        </p:txBody>
      </p:sp>
      <p:sp>
        <p:nvSpPr>
          <p:cNvPr id="150" name="Rounded Rectangle 149"/>
          <p:cNvSpPr/>
          <p:nvPr/>
        </p:nvSpPr>
        <p:spPr>
          <a:xfrm>
            <a:off x="1627632" y="22585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ounded Rectangle 150"/>
          <p:cNvSpPr/>
          <p:nvPr/>
        </p:nvSpPr>
        <p:spPr>
          <a:xfrm>
            <a:off x="1600200" y="22311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2" name="Picture 151" descr="g-bigquery.png"/>
          <p:cNvPicPr>
            <a:picLocks noChangeAspect="1"/>
          </p:cNvPicPr>
          <p:nvPr/>
        </p:nvPicPr>
        <p:blipFill>
          <a:blip r:embed="rId11"/>
          <a:stretch>
            <a:fillRect/>
          </a:stretch>
        </p:blipFill>
        <p:spPr>
          <a:xfrm>
            <a:off x="1682496" y="2295144"/>
            <a:ext cx="256032" cy="256032"/>
          </a:xfrm>
          <a:prstGeom prst="rect">
            <a:avLst/>
          </a:prstGeom>
        </p:spPr>
      </p:pic>
      <p:sp>
        <p:nvSpPr>
          <p:cNvPr id="153" name="TextBox 152"/>
          <p:cNvSpPr txBox="1"/>
          <p:nvPr/>
        </p:nvSpPr>
        <p:spPr>
          <a:xfrm>
            <a:off x="2020824" y="22311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BigQuery</a:t>
            </a:r>
            <a:r>
              <a:rPr sz="800" b="0">
                <a:solidFill>
                  <a:srgbClr val="5F6368"/>
                </a:solidFill>
                <a:latin typeface="Google Sans Flex"/>
              </a:rPr>
              <a:t>  price history</a:t>
            </a:r>
          </a:p>
        </p:txBody>
      </p:sp>
      <p:sp>
        <p:nvSpPr>
          <p:cNvPr id="154" name="Rounded Rectangle 153"/>
          <p:cNvSpPr/>
          <p:nvPr/>
        </p:nvSpPr>
        <p:spPr>
          <a:xfrm>
            <a:off x="4072128" y="22585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4044696" y="22311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6" name="Picture 155" descr="g-cloud_build.png"/>
          <p:cNvPicPr>
            <a:picLocks noChangeAspect="1"/>
          </p:cNvPicPr>
          <p:nvPr/>
        </p:nvPicPr>
        <p:blipFill>
          <a:blip r:embed="rId12"/>
          <a:stretch>
            <a:fillRect/>
          </a:stretch>
        </p:blipFill>
        <p:spPr>
          <a:xfrm>
            <a:off x="4126992" y="2295144"/>
            <a:ext cx="256032" cy="256032"/>
          </a:xfrm>
          <a:prstGeom prst="rect">
            <a:avLst/>
          </a:prstGeom>
        </p:spPr>
      </p:pic>
      <p:sp>
        <p:nvSpPr>
          <p:cNvPr id="157" name="TextBox 156"/>
          <p:cNvSpPr txBox="1"/>
          <p:nvPr/>
        </p:nvSpPr>
        <p:spPr>
          <a:xfrm>
            <a:off x="4465320" y="22311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Build</a:t>
            </a:r>
            <a:r>
              <a:rPr sz="800" b="0">
                <a:solidFill>
                  <a:srgbClr val="5F6368"/>
                </a:solidFill>
                <a:latin typeface="Google Sans Flex"/>
              </a:rPr>
              <a:t>  container builds</a:t>
            </a:r>
          </a:p>
        </p:txBody>
      </p:sp>
      <p:sp>
        <p:nvSpPr>
          <p:cNvPr id="158" name="Rounded Rectangle 157"/>
          <p:cNvSpPr/>
          <p:nvPr/>
        </p:nvSpPr>
        <p:spPr>
          <a:xfrm>
            <a:off x="6516624" y="22585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6489192" y="22311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0" name="Picture 159" descr="g-artifact_registry.png"/>
          <p:cNvPicPr>
            <a:picLocks noChangeAspect="1"/>
          </p:cNvPicPr>
          <p:nvPr/>
        </p:nvPicPr>
        <p:blipFill>
          <a:blip r:embed="rId13"/>
          <a:stretch>
            <a:fillRect/>
          </a:stretch>
        </p:blipFill>
        <p:spPr>
          <a:xfrm>
            <a:off x="6571488" y="2295144"/>
            <a:ext cx="256032" cy="256032"/>
          </a:xfrm>
          <a:prstGeom prst="rect">
            <a:avLst/>
          </a:prstGeom>
        </p:spPr>
      </p:pic>
      <p:sp>
        <p:nvSpPr>
          <p:cNvPr id="161" name="TextBox 160"/>
          <p:cNvSpPr txBox="1"/>
          <p:nvPr/>
        </p:nvSpPr>
        <p:spPr>
          <a:xfrm>
            <a:off x="6909816" y="22311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Artifact Registry</a:t>
            </a:r>
            <a:r>
              <a:rPr sz="800" b="0">
                <a:solidFill>
                  <a:srgbClr val="5F6368"/>
                </a:solidFill>
                <a:latin typeface="Google Sans Flex"/>
              </a:rPr>
              <a:t>  images</a:t>
            </a:r>
          </a:p>
        </p:txBody>
      </p:sp>
      <p:sp>
        <p:nvSpPr>
          <p:cNvPr id="162" name="Rounded Rectangle 161"/>
          <p:cNvSpPr/>
          <p:nvPr/>
        </p:nvSpPr>
        <p:spPr>
          <a:xfrm>
            <a:off x="1627632" y="27157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1600200" y="26883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4" name="Picture 163" descr="g-cloud_monitoring.png"/>
          <p:cNvPicPr>
            <a:picLocks noChangeAspect="1"/>
          </p:cNvPicPr>
          <p:nvPr/>
        </p:nvPicPr>
        <p:blipFill>
          <a:blip r:embed="rId14"/>
          <a:stretch>
            <a:fillRect/>
          </a:stretch>
        </p:blipFill>
        <p:spPr>
          <a:xfrm>
            <a:off x="1682496" y="2752344"/>
            <a:ext cx="256032" cy="256032"/>
          </a:xfrm>
          <a:prstGeom prst="rect">
            <a:avLst/>
          </a:prstGeom>
        </p:spPr>
      </p:pic>
      <p:sp>
        <p:nvSpPr>
          <p:cNvPr id="165" name="TextBox 164"/>
          <p:cNvSpPr txBox="1"/>
          <p:nvPr/>
        </p:nvSpPr>
        <p:spPr>
          <a:xfrm>
            <a:off x="2020824" y="26883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Monitoring</a:t>
            </a:r>
            <a:r>
              <a:rPr sz="800" b="0">
                <a:solidFill>
                  <a:srgbClr val="5F6368"/>
                </a:solidFill>
                <a:latin typeface="Google Sans Flex"/>
              </a:rPr>
              <a:t>  alerts, uptime</a:t>
            </a:r>
          </a:p>
        </p:txBody>
      </p:sp>
      <p:sp>
        <p:nvSpPr>
          <p:cNvPr id="166" name="Rounded Rectangle 165"/>
          <p:cNvSpPr/>
          <p:nvPr/>
        </p:nvSpPr>
        <p:spPr>
          <a:xfrm>
            <a:off x="4072128" y="27157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ounded Rectangle 166"/>
          <p:cNvSpPr/>
          <p:nvPr/>
        </p:nvSpPr>
        <p:spPr>
          <a:xfrm>
            <a:off x="4044696" y="26883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8" name="Picture 167" descr="g-billing.png"/>
          <p:cNvPicPr>
            <a:picLocks noChangeAspect="1"/>
          </p:cNvPicPr>
          <p:nvPr/>
        </p:nvPicPr>
        <p:blipFill>
          <a:blip r:embed="rId15"/>
          <a:stretch>
            <a:fillRect/>
          </a:stretch>
        </p:blipFill>
        <p:spPr>
          <a:xfrm>
            <a:off x="4126992" y="2752344"/>
            <a:ext cx="256032" cy="256032"/>
          </a:xfrm>
          <a:prstGeom prst="rect">
            <a:avLst/>
          </a:prstGeom>
        </p:spPr>
      </p:pic>
      <p:sp>
        <p:nvSpPr>
          <p:cNvPr id="169" name="TextBox 168"/>
          <p:cNvSpPr txBox="1"/>
          <p:nvPr/>
        </p:nvSpPr>
        <p:spPr>
          <a:xfrm>
            <a:off x="4465320" y="26883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Billing</a:t>
            </a:r>
            <a:r>
              <a:rPr sz="800" b="0">
                <a:solidFill>
                  <a:srgbClr val="5F6368"/>
                </a:solidFill>
                <a:latin typeface="Google Sans Flex"/>
              </a:rPr>
              <a:t>  budgets</a:t>
            </a:r>
          </a:p>
        </p:txBody>
      </p:sp>
      <p:sp>
        <p:nvSpPr>
          <p:cNvPr id="170" name="Rounded Rectangle 169"/>
          <p:cNvSpPr/>
          <p:nvPr/>
        </p:nvSpPr>
        <p:spPr>
          <a:xfrm>
            <a:off x="6516624" y="27157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6489192" y="26883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2" name="Picture 171" descr="s-firebase.png"/>
          <p:cNvPicPr>
            <a:picLocks noChangeAspect="1"/>
          </p:cNvPicPr>
          <p:nvPr/>
        </p:nvPicPr>
        <p:blipFill>
          <a:blip r:embed="rId16"/>
          <a:stretch>
            <a:fillRect/>
          </a:stretch>
        </p:blipFill>
        <p:spPr>
          <a:xfrm>
            <a:off x="6571488" y="2752344"/>
            <a:ext cx="256032" cy="256032"/>
          </a:xfrm>
          <a:prstGeom prst="rect">
            <a:avLst/>
          </a:prstGeom>
        </p:spPr>
      </p:pic>
      <p:sp>
        <p:nvSpPr>
          <p:cNvPr id="173" name="TextBox 172"/>
          <p:cNvSpPr txBox="1"/>
          <p:nvPr/>
        </p:nvSpPr>
        <p:spPr>
          <a:xfrm>
            <a:off x="6909816" y="26883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Firebase Hosting</a:t>
            </a:r>
            <a:r>
              <a:rPr sz="800" b="0">
                <a:solidFill>
                  <a:srgbClr val="5F6368"/>
                </a:solidFill>
                <a:latin typeface="Google Sans Flex"/>
              </a:rPr>
              <a:t>  web app + CDN</a:t>
            </a:r>
          </a:p>
        </p:txBody>
      </p:sp>
      <p:sp>
        <p:nvSpPr>
          <p:cNvPr id="174" name="Rounded Rectangle 173"/>
          <p:cNvSpPr/>
          <p:nvPr/>
        </p:nvSpPr>
        <p:spPr>
          <a:xfrm>
            <a:off x="356615" y="3255263"/>
            <a:ext cx="1143000" cy="1298448"/>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ounded Rectangle 174"/>
          <p:cNvSpPr/>
          <p:nvPr/>
        </p:nvSpPr>
        <p:spPr>
          <a:xfrm>
            <a:off x="320040" y="3218687"/>
            <a:ext cx="1143000" cy="1298448"/>
          </a:xfrm>
          <a:prstGeom prst="roundRect">
            <a:avLst>
              <a:gd name="adj" fmla="val 8000"/>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411479" y="3218687"/>
            <a:ext cx="960120" cy="1298448"/>
          </a:xfrm>
          <a:prstGeom prst="rect">
            <a:avLst/>
          </a:prstGeom>
          <a:noFill/>
        </p:spPr>
        <p:txBody>
          <a:bodyPr wrap="square" lIns="0" rIns="0" tIns="0" bIns="0" anchor="ctr">
            <a:noAutofit/>
          </a:bodyPr>
          <a:lstStyle/>
          <a:p>
            <a:pPr algn="ctr">
              <a:lnSpc>
                <a:spcPct val="100000"/>
              </a:lnSpc>
              <a:spcAft>
                <a:spcPts val="0"/>
              </a:spcAft>
            </a:pPr>
            <a:r>
              <a:rPr sz="1150" b="1">
                <a:solidFill>
                  <a:srgbClr val="111111"/>
                </a:solidFill>
                <a:latin typeface="Google Sans Flex"/>
              </a:rPr>
              <a:t>App</a:t>
            </a:r>
          </a:p>
        </p:txBody>
      </p:sp>
      <p:sp>
        <p:nvSpPr>
          <p:cNvPr id="177" name="Rounded Rectangle 176"/>
          <p:cNvSpPr/>
          <p:nvPr/>
        </p:nvSpPr>
        <p:spPr>
          <a:xfrm>
            <a:off x="1627632" y="3246119"/>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ounded Rectangle 177"/>
          <p:cNvSpPr/>
          <p:nvPr/>
        </p:nvSpPr>
        <p:spPr>
          <a:xfrm>
            <a:off x="1600200" y="32186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9" name="Picture 178" descr="s-python.png"/>
          <p:cNvPicPr>
            <a:picLocks noChangeAspect="1"/>
          </p:cNvPicPr>
          <p:nvPr/>
        </p:nvPicPr>
        <p:blipFill>
          <a:blip r:embed="rId17"/>
          <a:stretch>
            <a:fillRect/>
          </a:stretch>
        </p:blipFill>
        <p:spPr>
          <a:xfrm>
            <a:off x="1682496" y="3282695"/>
            <a:ext cx="256032" cy="256032"/>
          </a:xfrm>
          <a:prstGeom prst="rect">
            <a:avLst/>
          </a:prstGeom>
        </p:spPr>
      </p:pic>
      <p:sp>
        <p:nvSpPr>
          <p:cNvPr id="180" name="TextBox 179"/>
          <p:cNvSpPr txBox="1"/>
          <p:nvPr/>
        </p:nvSpPr>
        <p:spPr>
          <a:xfrm>
            <a:off x="2020824" y="32186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Python 3.12</a:t>
            </a:r>
            <a:r>
              <a:rPr sz="800" b="0">
                <a:solidFill>
                  <a:srgbClr val="5F6368"/>
                </a:solidFill>
                <a:latin typeface="Google Sans Flex"/>
              </a:rPr>
              <a:t>  + uv</a:t>
            </a:r>
          </a:p>
        </p:txBody>
      </p:sp>
      <p:sp>
        <p:nvSpPr>
          <p:cNvPr id="181" name="Rounded Rectangle 180"/>
          <p:cNvSpPr/>
          <p:nvPr/>
        </p:nvSpPr>
        <p:spPr>
          <a:xfrm>
            <a:off x="4072128" y="3246119"/>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ounded Rectangle 181"/>
          <p:cNvSpPr/>
          <p:nvPr/>
        </p:nvSpPr>
        <p:spPr>
          <a:xfrm>
            <a:off x="4044696" y="32186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3" name="Picture 182" descr="s-fastapi.png"/>
          <p:cNvPicPr>
            <a:picLocks noChangeAspect="1"/>
          </p:cNvPicPr>
          <p:nvPr/>
        </p:nvPicPr>
        <p:blipFill>
          <a:blip r:embed="rId18"/>
          <a:stretch>
            <a:fillRect/>
          </a:stretch>
        </p:blipFill>
        <p:spPr>
          <a:xfrm>
            <a:off x="4126992" y="3282695"/>
            <a:ext cx="256032" cy="256032"/>
          </a:xfrm>
          <a:prstGeom prst="rect">
            <a:avLst/>
          </a:prstGeom>
        </p:spPr>
      </p:pic>
      <p:sp>
        <p:nvSpPr>
          <p:cNvPr id="184" name="TextBox 183"/>
          <p:cNvSpPr txBox="1"/>
          <p:nvPr/>
        </p:nvSpPr>
        <p:spPr>
          <a:xfrm>
            <a:off x="4465320" y="32186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FastAPI</a:t>
            </a:r>
            <a:r>
              <a:rPr sz="800" b="0">
                <a:solidFill>
                  <a:srgbClr val="5F6368"/>
                </a:solidFill>
                <a:latin typeface="Google Sans Flex"/>
              </a:rPr>
              <a:t>  API + live stream</a:t>
            </a:r>
          </a:p>
        </p:txBody>
      </p:sp>
      <p:sp>
        <p:nvSpPr>
          <p:cNvPr id="185" name="Rounded Rectangle 184"/>
          <p:cNvSpPr/>
          <p:nvPr/>
        </p:nvSpPr>
        <p:spPr>
          <a:xfrm>
            <a:off x="6516624" y="3246119"/>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ounded Rectangle 185"/>
          <p:cNvSpPr/>
          <p:nvPr/>
        </p:nvSpPr>
        <p:spPr>
          <a:xfrm>
            <a:off x="6489192" y="32186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7" name="Picture 186" descr="s-googlechrome.png"/>
          <p:cNvPicPr>
            <a:picLocks noChangeAspect="1"/>
          </p:cNvPicPr>
          <p:nvPr/>
        </p:nvPicPr>
        <p:blipFill>
          <a:blip r:embed="rId19"/>
          <a:stretch>
            <a:fillRect/>
          </a:stretch>
        </p:blipFill>
        <p:spPr>
          <a:xfrm>
            <a:off x="6571488" y="3282695"/>
            <a:ext cx="256032" cy="256032"/>
          </a:xfrm>
          <a:prstGeom prst="rect">
            <a:avLst/>
          </a:prstGeom>
        </p:spPr>
      </p:pic>
      <p:sp>
        <p:nvSpPr>
          <p:cNvPr id="188" name="TextBox 187"/>
          <p:cNvSpPr txBox="1"/>
          <p:nvPr/>
        </p:nvSpPr>
        <p:spPr>
          <a:xfrm>
            <a:off x="6909816" y="32186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Playwright</a:t>
            </a:r>
            <a:r>
              <a:rPr sz="800" b="0">
                <a:solidFill>
                  <a:srgbClr val="5F6368"/>
                </a:solidFill>
                <a:latin typeface="Google Sans Flex"/>
              </a:rPr>
              <a:t>  headless Chromium</a:t>
            </a:r>
          </a:p>
        </p:txBody>
      </p:sp>
      <p:sp>
        <p:nvSpPr>
          <p:cNvPr id="189" name="Rounded Rectangle 188"/>
          <p:cNvSpPr/>
          <p:nvPr/>
        </p:nvSpPr>
        <p:spPr>
          <a:xfrm>
            <a:off x="1627632" y="37033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Rounded Rectangle 189"/>
          <p:cNvSpPr/>
          <p:nvPr/>
        </p:nvSpPr>
        <p:spPr>
          <a:xfrm>
            <a:off x="1600200" y="36758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1" name="Picture 190" descr="s-pydantic.png"/>
          <p:cNvPicPr>
            <a:picLocks noChangeAspect="1"/>
          </p:cNvPicPr>
          <p:nvPr/>
        </p:nvPicPr>
        <p:blipFill>
          <a:blip r:embed="rId20"/>
          <a:stretch>
            <a:fillRect/>
          </a:stretch>
        </p:blipFill>
        <p:spPr>
          <a:xfrm>
            <a:off x="1682496" y="3739896"/>
            <a:ext cx="256032" cy="256032"/>
          </a:xfrm>
          <a:prstGeom prst="rect">
            <a:avLst/>
          </a:prstGeom>
        </p:spPr>
      </p:pic>
      <p:sp>
        <p:nvSpPr>
          <p:cNvPr id="192" name="TextBox 191"/>
          <p:cNvSpPr txBox="1"/>
          <p:nvPr/>
        </p:nvSpPr>
        <p:spPr>
          <a:xfrm>
            <a:off x="2020824" y="36758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Pydantic</a:t>
            </a:r>
            <a:r>
              <a:rPr sz="800" b="0">
                <a:solidFill>
                  <a:srgbClr val="5F6368"/>
                </a:solidFill>
                <a:latin typeface="Google Sans Flex"/>
              </a:rPr>
              <a:t>  typed model output</a:t>
            </a:r>
          </a:p>
        </p:txBody>
      </p:sp>
      <p:sp>
        <p:nvSpPr>
          <p:cNvPr id="193" name="Rounded Rectangle 192"/>
          <p:cNvSpPr/>
          <p:nvPr/>
        </p:nvSpPr>
        <p:spPr>
          <a:xfrm>
            <a:off x="4072128" y="37033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ounded Rectangle 193"/>
          <p:cNvSpPr/>
          <p:nvPr/>
        </p:nvSpPr>
        <p:spPr>
          <a:xfrm>
            <a:off x="4044696" y="36758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5" name="Picture 194" descr="s-react.png"/>
          <p:cNvPicPr>
            <a:picLocks noChangeAspect="1"/>
          </p:cNvPicPr>
          <p:nvPr/>
        </p:nvPicPr>
        <p:blipFill>
          <a:blip r:embed="rId21"/>
          <a:stretch>
            <a:fillRect/>
          </a:stretch>
        </p:blipFill>
        <p:spPr>
          <a:xfrm>
            <a:off x="4126992" y="3739896"/>
            <a:ext cx="256032" cy="256032"/>
          </a:xfrm>
          <a:prstGeom prst="rect">
            <a:avLst/>
          </a:prstGeom>
        </p:spPr>
      </p:pic>
      <p:sp>
        <p:nvSpPr>
          <p:cNvPr id="196" name="TextBox 195"/>
          <p:cNvSpPr txBox="1"/>
          <p:nvPr/>
        </p:nvSpPr>
        <p:spPr>
          <a:xfrm>
            <a:off x="4465320" y="36758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React 19</a:t>
            </a:r>
            <a:r>
              <a:rPr sz="800" b="0">
                <a:solidFill>
                  <a:srgbClr val="5F6368"/>
                </a:solidFill>
                <a:latin typeface="Google Sans Flex"/>
              </a:rPr>
              <a:t>  dashboard</a:t>
            </a:r>
          </a:p>
        </p:txBody>
      </p:sp>
      <p:sp>
        <p:nvSpPr>
          <p:cNvPr id="197" name="Rounded Rectangle 196"/>
          <p:cNvSpPr/>
          <p:nvPr/>
        </p:nvSpPr>
        <p:spPr>
          <a:xfrm>
            <a:off x="6516624" y="37033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ounded Rectangle 197"/>
          <p:cNvSpPr/>
          <p:nvPr/>
        </p:nvSpPr>
        <p:spPr>
          <a:xfrm>
            <a:off x="6489192" y="36758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9" name="Picture 198" descr="s-typescript.png"/>
          <p:cNvPicPr>
            <a:picLocks noChangeAspect="1"/>
          </p:cNvPicPr>
          <p:nvPr/>
        </p:nvPicPr>
        <p:blipFill>
          <a:blip r:embed="rId22"/>
          <a:stretch>
            <a:fillRect/>
          </a:stretch>
        </p:blipFill>
        <p:spPr>
          <a:xfrm>
            <a:off x="6571488" y="3739896"/>
            <a:ext cx="256032" cy="256032"/>
          </a:xfrm>
          <a:prstGeom prst="rect">
            <a:avLst/>
          </a:prstGeom>
        </p:spPr>
      </p:pic>
      <p:sp>
        <p:nvSpPr>
          <p:cNvPr id="200" name="TextBox 199"/>
          <p:cNvSpPr txBox="1"/>
          <p:nvPr/>
        </p:nvSpPr>
        <p:spPr>
          <a:xfrm>
            <a:off x="6909816" y="36758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TypeScript</a:t>
            </a:r>
            <a:r>
              <a:rPr sz="800" b="0">
                <a:solidFill>
                  <a:srgbClr val="5F6368"/>
                </a:solidFill>
                <a:latin typeface="Google Sans Flex"/>
              </a:rPr>
              <a:t>  end to end</a:t>
            </a:r>
          </a:p>
        </p:txBody>
      </p:sp>
      <p:sp>
        <p:nvSpPr>
          <p:cNvPr id="201" name="Rounded Rectangle 200"/>
          <p:cNvSpPr/>
          <p:nvPr/>
        </p:nvSpPr>
        <p:spPr>
          <a:xfrm>
            <a:off x="1627632" y="41605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ounded Rectangle 201"/>
          <p:cNvSpPr/>
          <p:nvPr/>
        </p:nvSpPr>
        <p:spPr>
          <a:xfrm>
            <a:off x="1600200" y="41330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3" name="Picture 202" descr="s-vite.png"/>
          <p:cNvPicPr>
            <a:picLocks noChangeAspect="1"/>
          </p:cNvPicPr>
          <p:nvPr/>
        </p:nvPicPr>
        <p:blipFill>
          <a:blip r:embed="rId23"/>
          <a:stretch>
            <a:fillRect/>
          </a:stretch>
        </p:blipFill>
        <p:spPr>
          <a:xfrm>
            <a:off x="1682496" y="4197096"/>
            <a:ext cx="256032" cy="256032"/>
          </a:xfrm>
          <a:prstGeom prst="rect">
            <a:avLst/>
          </a:prstGeom>
        </p:spPr>
      </p:pic>
      <p:sp>
        <p:nvSpPr>
          <p:cNvPr id="204" name="TextBox 203"/>
          <p:cNvSpPr txBox="1"/>
          <p:nvPr/>
        </p:nvSpPr>
        <p:spPr>
          <a:xfrm>
            <a:off x="2020824" y="41330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Vite</a:t>
            </a:r>
            <a:r>
              <a:rPr sz="800" b="0">
                <a:solidFill>
                  <a:srgbClr val="5F6368"/>
                </a:solidFill>
                <a:latin typeface="Google Sans Flex"/>
              </a:rPr>
              <a:t>  build</a:t>
            </a:r>
          </a:p>
        </p:txBody>
      </p:sp>
      <p:sp>
        <p:nvSpPr>
          <p:cNvPr id="205" name="Rounded Rectangle 204"/>
          <p:cNvSpPr/>
          <p:nvPr/>
        </p:nvSpPr>
        <p:spPr>
          <a:xfrm>
            <a:off x="4072128" y="41605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ounded Rectangle 205"/>
          <p:cNvSpPr/>
          <p:nvPr/>
        </p:nvSpPr>
        <p:spPr>
          <a:xfrm>
            <a:off x="4044696" y="41330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7" name="Picture 206" descr="s-tailwindcss.png"/>
          <p:cNvPicPr>
            <a:picLocks noChangeAspect="1"/>
          </p:cNvPicPr>
          <p:nvPr/>
        </p:nvPicPr>
        <p:blipFill>
          <a:blip r:embed="rId24"/>
          <a:stretch>
            <a:fillRect/>
          </a:stretch>
        </p:blipFill>
        <p:spPr>
          <a:xfrm>
            <a:off x="4126992" y="4197096"/>
            <a:ext cx="256032" cy="256032"/>
          </a:xfrm>
          <a:prstGeom prst="rect">
            <a:avLst/>
          </a:prstGeom>
        </p:spPr>
      </p:pic>
      <p:sp>
        <p:nvSpPr>
          <p:cNvPr id="208" name="TextBox 207"/>
          <p:cNvSpPr txBox="1"/>
          <p:nvPr/>
        </p:nvSpPr>
        <p:spPr>
          <a:xfrm>
            <a:off x="4465320" y="41330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Tailwind CSS</a:t>
            </a:r>
            <a:r>
              <a:rPr sz="800" b="0">
                <a:solidFill>
                  <a:srgbClr val="5F6368"/>
                </a:solidFill>
                <a:latin typeface="Google Sans Flex"/>
              </a:rPr>
              <a:t>  styling</a:t>
            </a:r>
          </a:p>
        </p:txBody>
      </p:sp>
      <p:sp>
        <p:nvSpPr>
          <p:cNvPr id="209" name="Rounded Rectangle 208"/>
          <p:cNvSpPr/>
          <p:nvPr/>
        </p:nvSpPr>
        <p:spPr>
          <a:xfrm>
            <a:off x="6516624" y="41605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ounded Rectangle 209"/>
          <p:cNvSpPr/>
          <p:nvPr/>
        </p:nvSpPr>
        <p:spPr>
          <a:xfrm>
            <a:off x="6489192" y="41330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1" name="Picture 210" descr="s-threedotjs.png"/>
          <p:cNvPicPr>
            <a:picLocks noChangeAspect="1"/>
          </p:cNvPicPr>
          <p:nvPr/>
        </p:nvPicPr>
        <p:blipFill>
          <a:blip r:embed="rId25"/>
          <a:stretch>
            <a:fillRect/>
          </a:stretch>
        </p:blipFill>
        <p:spPr>
          <a:xfrm>
            <a:off x="6571488" y="4197096"/>
            <a:ext cx="256032" cy="256032"/>
          </a:xfrm>
          <a:prstGeom prst="rect">
            <a:avLst/>
          </a:prstGeom>
        </p:spPr>
      </p:pic>
      <p:sp>
        <p:nvSpPr>
          <p:cNvPr id="212" name="TextBox 211"/>
          <p:cNvSpPr txBox="1"/>
          <p:nvPr/>
        </p:nvSpPr>
        <p:spPr>
          <a:xfrm>
            <a:off x="6909816" y="41330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three.js</a:t>
            </a:r>
            <a:r>
              <a:rPr sz="800" b="0">
                <a:solidFill>
                  <a:srgbClr val="5F6368"/>
                </a:solidFill>
                <a:latin typeface="Google Sans Flex"/>
              </a:rPr>
              <a:t>  3D hero</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365759" y="1307592"/>
            <a:ext cx="3520440" cy="3538728"/>
          </a:xfrm>
          <a:prstGeom prst="roundRect">
            <a:avLst>
              <a:gd name="adj" fmla="val 363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320040" y="1261872"/>
            <a:ext cx="3520440" cy="3538728"/>
          </a:xfrm>
          <a:prstGeom prst="roundRect">
            <a:avLst>
              <a:gd name="adj" fmla="val 3636"/>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548640" y="1371600"/>
            <a:ext cx="310896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PER LIVE AUDIT</a:t>
            </a:r>
          </a:p>
        </p:txBody>
      </p:sp>
      <p:sp>
        <p:nvSpPr>
          <p:cNvPr id="131" name="TextBox 130"/>
          <p:cNvSpPr txBox="1"/>
          <p:nvPr/>
        </p:nvSpPr>
        <p:spPr>
          <a:xfrm>
            <a:off x="548640" y="1572768"/>
            <a:ext cx="3108960" cy="731520"/>
          </a:xfrm>
          <a:prstGeom prst="rect">
            <a:avLst/>
          </a:prstGeom>
          <a:noFill/>
        </p:spPr>
        <p:txBody>
          <a:bodyPr wrap="square" lIns="0" rIns="0" tIns="0" bIns="0" anchor="t">
            <a:noAutofit/>
          </a:bodyPr>
          <a:lstStyle/>
          <a:p>
            <a:pPr algn="l">
              <a:lnSpc>
                <a:spcPct val="100000"/>
              </a:lnSpc>
              <a:spcAft>
                <a:spcPts val="0"/>
              </a:spcAft>
            </a:pPr>
            <a:r>
              <a:rPr sz="4600" b="1">
                <a:solidFill>
                  <a:srgbClr val="111111"/>
                </a:solidFill>
                <a:latin typeface="Google Sans Flex"/>
              </a:rPr>
              <a:t>≈ ₹2</a:t>
            </a:r>
          </a:p>
        </p:txBody>
      </p:sp>
      <p:sp>
        <p:nvSpPr>
          <p:cNvPr id="132" name="TextBox 131"/>
          <p:cNvSpPr txBox="1"/>
          <p:nvPr/>
        </p:nvSpPr>
        <p:spPr>
          <a:xfrm>
            <a:off x="548640" y="2286000"/>
            <a:ext cx="3108960" cy="274320"/>
          </a:xfrm>
          <a:prstGeom prst="rect">
            <a:avLst/>
          </a:prstGeom>
          <a:noFill/>
        </p:spPr>
        <p:txBody>
          <a:bodyPr wrap="square" lIns="0" rIns="0" tIns="0" bIns="0" anchor="t">
            <a:noAutofit/>
          </a:bodyPr>
          <a:lstStyle/>
          <a:p>
            <a:pPr algn="l">
              <a:lnSpc>
                <a:spcPct val="100000"/>
              </a:lnSpc>
              <a:spcAft>
                <a:spcPts val="0"/>
              </a:spcAft>
            </a:pPr>
            <a:r>
              <a:rPr sz="1000" b="0">
                <a:solidFill>
                  <a:srgbClr val="111111"/>
                </a:solidFill>
                <a:latin typeface="Google Sans Flex Medium"/>
              </a:rPr>
              <a:t>a full journey: 5 steps, about 40 seconds</a:t>
            </a:r>
          </a:p>
        </p:txBody>
      </p:sp>
      <p:cxnSp>
        <p:nvCxnSpPr>
          <p:cNvPr id="133" name="Connector 132"/>
          <p:cNvCxnSpPr/>
          <p:nvPr/>
        </p:nvCxnSpPr>
        <p:spPr>
          <a:xfrm>
            <a:off x="548640" y="2651760"/>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48640" y="2715768"/>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Gemini 3.8 Flash</a:t>
            </a:r>
          </a:p>
          <a:p>
            <a:pPr algn="l">
              <a:lnSpc>
                <a:spcPct val="100000"/>
              </a:lnSpc>
              <a:spcAft>
                <a:spcPts val="0"/>
              </a:spcAft>
            </a:pPr>
            <a:r>
              <a:rPr sz="800" b="0">
                <a:solidFill>
                  <a:srgbClr val="3C4043"/>
                </a:solidFill>
                <a:latin typeface="Google Sans Flex"/>
              </a:rPr>
              <a:t>~17k in + 7k out tokens</a:t>
            </a:r>
          </a:p>
        </p:txBody>
      </p:sp>
      <p:sp>
        <p:nvSpPr>
          <p:cNvPr id="135" name="TextBox 134"/>
          <p:cNvSpPr txBox="1"/>
          <p:nvPr/>
        </p:nvSpPr>
        <p:spPr>
          <a:xfrm>
            <a:off x="2697480" y="2715768"/>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₹1.5–2</a:t>
            </a:r>
          </a:p>
        </p:txBody>
      </p:sp>
      <p:cxnSp>
        <p:nvCxnSpPr>
          <p:cNvPr id="136" name="Connector 135"/>
          <p:cNvCxnSpPr/>
          <p:nvPr/>
        </p:nvCxnSpPr>
        <p:spPr>
          <a:xfrm>
            <a:off x="548640" y="3163824"/>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548640" y="3227832"/>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Cloud Run</a:t>
            </a:r>
          </a:p>
          <a:p>
            <a:pPr algn="l">
              <a:lnSpc>
                <a:spcPct val="100000"/>
              </a:lnSpc>
              <a:spcAft>
                <a:spcPts val="0"/>
              </a:spcAft>
            </a:pPr>
            <a:r>
              <a:rPr sz="800" b="0">
                <a:solidFill>
                  <a:srgbClr val="3C4043"/>
                </a:solidFill>
                <a:latin typeface="Google Sans Flex"/>
              </a:rPr>
              <a:t>~45 s on 2 vCPU</a:t>
            </a:r>
          </a:p>
        </p:txBody>
      </p:sp>
      <p:sp>
        <p:nvSpPr>
          <p:cNvPr id="138" name="TextBox 137"/>
          <p:cNvSpPr txBox="1"/>
          <p:nvPr/>
        </p:nvSpPr>
        <p:spPr>
          <a:xfrm>
            <a:off x="2697480" y="3227832"/>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&lt; ₹0.5</a:t>
            </a:r>
          </a:p>
        </p:txBody>
      </p:sp>
      <p:cxnSp>
        <p:nvCxnSpPr>
          <p:cNvPr id="139" name="Connector 138"/>
          <p:cNvCxnSpPr/>
          <p:nvPr/>
        </p:nvCxnSpPr>
        <p:spPr>
          <a:xfrm>
            <a:off x="548640" y="3675887"/>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548640" y="3739896"/>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Firestore · Storage · BigQuery</a:t>
            </a:r>
          </a:p>
          <a:p>
            <a:pPr algn="l">
              <a:lnSpc>
                <a:spcPct val="100000"/>
              </a:lnSpc>
              <a:spcAft>
                <a:spcPts val="0"/>
              </a:spcAft>
            </a:pPr>
            <a:r>
              <a:rPr sz="800" b="0">
                <a:solidFill>
                  <a:srgbClr val="3C4043"/>
                </a:solidFill>
                <a:latin typeface="Google Sans Flex"/>
              </a:rPr>
              <a:t>events, screenshots, prices</a:t>
            </a:r>
          </a:p>
        </p:txBody>
      </p:sp>
      <p:sp>
        <p:nvSpPr>
          <p:cNvPr id="141" name="TextBox 140"/>
          <p:cNvSpPr txBox="1"/>
          <p:nvPr/>
        </p:nvSpPr>
        <p:spPr>
          <a:xfrm>
            <a:off x="2697480" y="3739896"/>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paise</a:t>
            </a:r>
          </a:p>
        </p:txBody>
      </p:sp>
      <p:cxnSp>
        <p:nvCxnSpPr>
          <p:cNvPr id="142" name="Connector 141"/>
          <p:cNvCxnSpPr/>
          <p:nvPr/>
        </p:nvCxnSpPr>
        <p:spPr>
          <a:xfrm>
            <a:off x="548640" y="4187952"/>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548640" y="4251960"/>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Replays ("Scan it")</a:t>
            </a:r>
          </a:p>
          <a:p>
            <a:pPr algn="l">
              <a:lnSpc>
                <a:spcPct val="100000"/>
              </a:lnSpc>
              <a:spcAft>
                <a:spcPts val="0"/>
              </a:spcAft>
            </a:pPr>
            <a:r>
              <a:rPr sz="800" b="0">
                <a:solidFill>
                  <a:srgbClr val="3C4043"/>
                </a:solidFill>
                <a:latin typeface="Google Sans Flex"/>
              </a:rPr>
              <a:t>recorded runs, no model</a:t>
            </a:r>
          </a:p>
        </p:txBody>
      </p:sp>
      <p:sp>
        <p:nvSpPr>
          <p:cNvPr id="144" name="TextBox 143"/>
          <p:cNvSpPr txBox="1"/>
          <p:nvPr/>
        </p:nvSpPr>
        <p:spPr>
          <a:xfrm>
            <a:off x="2697480" y="4251960"/>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₹0</a:t>
            </a:r>
          </a:p>
        </p:txBody>
      </p:sp>
      <p:sp>
        <p:nvSpPr>
          <p:cNvPr id="145" name="TextBox 144"/>
          <p:cNvSpPr txBox="1"/>
          <p:nvPr/>
        </p:nvSpPr>
        <p:spPr>
          <a:xfrm>
            <a:off x="4069079" y="1243584"/>
            <a:ext cx="475488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MONTHLY ESTIMATE  </a:t>
            </a:r>
            <a:r>
              <a:rPr sz="900" b="0">
                <a:solidFill>
                  <a:srgbClr val="5F6368"/>
                </a:solidFill>
                <a:latin typeface="Google Sans Flex"/>
              </a:rPr>
              <a:t>live audits only; idle costs ≈ ₹0 (Cloud Run scales to zero)</a:t>
            </a:r>
          </a:p>
        </p:txBody>
      </p:sp>
      <p:sp>
        <p:nvSpPr>
          <p:cNvPr id="146" name="Rounded Rectangle 145"/>
          <p:cNvSpPr/>
          <p:nvPr/>
        </p:nvSpPr>
        <p:spPr>
          <a:xfrm>
            <a:off x="4105655" y="1572768"/>
            <a:ext cx="1499616" cy="1417320"/>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4069079" y="1536192"/>
            <a:ext cx="1499616" cy="1417320"/>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4197095" y="1627632"/>
            <a:ext cx="1271016" cy="45720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1,000</a:t>
            </a:r>
          </a:p>
          <a:p>
            <a:pPr algn="l">
              <a:lnSpc>
                <a:spcPct val="100000"/>
              </a:lnSpc>
              <a:spcAft>
                <a:spcPts val="0"/>
              </a:spcAft>
            </a:pPr>
            <a:r>
              <a:rPr sz="850" b="0">
                <a:solidFill>
                  <a:srgbClr val="3C4043"/>
                </a:solidFill>
                <a:latin typeface="Google Sans Flex"/>
              </a:rPr>
              <a:t>audits / month</a:t>
            </a:r>
          </a:p>
        </p:txBody>
      </p:sp>
      <p:sp>
        <p:nvSpPr>
          <p:cNvPr id="149" name="TextBox 148"/>
          <p:cNvSpPr txBox="1"/>
          <p:nvPr/>
        </p:nvSpPr>
        <p:spPr>
          <a:xfrm>
            <a:off x="4197095" y="2212848"/>
            <a:ext cx="1271016" cy="384048"/>
          </a:xfrm>
          <a:prstGeom prst="rect">
            <a:avLst/>
          </a:prstGeom>
          <a:noFill/>
        </p:spPr>
        <p:txBody>
          <a:bodyPr wrap="square" lIns="0" rIns="0" tIns="0" bIns="0" anchor="t">
            <a:noAutofit/>
          </a:bodyPr>
          <a:lstStyle/>
          <a:p>
            <a:pPr algn="l">
              <a:lnSpc>
                <a:spcPct val="100000"/>
              </a:lnSpc>
              <a:spcAft>
                <a:spcPts val="0"/>
              </a:spcAft>
            </a:pPr>
            <a:r>
              <a:rPr sz="1900" b="1">
                <a:solidFill>
                  <a:srgbClr val="111111"/>
                </a:solidFill>
                <a:latin typeface="Google Sans Flex"/>
              </a:rPr>
              <a:t>₹2,000</a:t>
            </a:r>
          </a:p>
        </p:txBody>
      </p:sp>
      <p:sp>
        <p:nvSpPr>
          <p:cNvPr id="150" name="TextBox 149"/>
          <p:cNvSpPr txBox="1"/>
          <p:nvPr/>
        </p:nvSpPr>
        <p:spPr>
          <a:xfrm>
            <a:off x="4197095" y="2615184"/>
            <a:ext cx="1271016" cy="274320"/>
          </a:xfrm>
          <a:prstGeom prst="rect">
            <a:avLst/>
          </a:prstGeom>
          <a:noFill/>
        </p:spPr>
        <p:txBody>
          <a:bodyPr wrap="square" lIns="0" rIns="0" tIns="0" bIns="0" anchor="t">
            <a:noAutofit/>
          </a:bodyPr>
          <a:lstStyle/>
          <a:p>
            <a:pPr algn="l">
              <a:lnSpc>
                <a:spcPct val="100000"/>
              </a:lnSpc>
              <a:spcAft>
                <a:spcPts val="0"/>
              </a:spcAft>
            </a:pPr>
            <a:r>
              <a:rPr sz="800" b="0">
                <a:solidFill>
                  <a:srgbClr val="3C4043"/>
                </a:solidFill>
                <a:latin typeface="Google Sans Flex Medium"/>
              </a:rPr>
              <a:t>a pilot with one platform</a:t>
            </a:r>
          </a:p>
        </p:txBody>
      </p:sp>
      <p:sp>
        <p:nvSpPr>
          <p:cNvPr id="151" name="Rounded Rectangle 150"/>
          <p:cNvSpPr/>
          <p:nvPr/>
        </p:nvSpPr>
        <p:spPr>
          <a:xfrm>
            <a:off x="5733287" y="1572768"/>
            <a:ext cx="1499616" cy="1417320"/>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ounded Rectangle 151"/>
          <p:cNvSpPr/>
          <p:nvPr/>
        </p:nvSpPr>
        <p:spPr>
          <a:xfrm>
            <a:off x="5696711" y="1536192"/>
            <a:ext cx="1499616" cy="1417320"/>
          </a:xfrm>
          <a:prstGeom prst="roundRect">
            <a:avLst>
              <a:gd name="adj" fmla="val 6451"/>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5824727" y="1627632"/>
            <a:ext cx="1271016" cy="45720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10,000</a:t>
            </a:r>
          </a:p>
          <a:p>
            <a:pPr algn="l">
              <a:lnSpc>
                <a:spcPct val="100000"/>
              </a:lnSpc>
              <a:spcAft>
                <a:spcPts val="0"/>
              </a:spcAft>
            </a:pPr>
            <a:r>
              <a:rPr sz="850" b="0">
                <a:solidFill>
                  <a:srgbClr val="3C4043"/>
                </a:solidFill>
                <a:latin typeface="Google Sans Flex"/>
              </a:rPr>
              <a:t>audits / month</a:t>
            </a:r>
          </a:p>
        </p:txBody>
      </p:sp>
      <p:sp>
        <p:nvSpPr>
          <p:cNvPr id="154" name="TextBox 153"/>
          <p:cNvSpPr txBox="1"/>
          <p:nvPr/>
        </p:nvSpPr>
        <p:spPr>
          <a:xfrm>
            <a:off x="5824727" y="2212848"/>
            <a:ext cx="1271016" cy="384048"/>
          </a:xfrm>
          <a:prstGeom prst="rect">
            <a:avLst/>
          </a:prstGeom>
          <a:noFill/>
        </p:spPr>
        <p:txBody>
          <a:bodyPr wrap="square" lIns="0" rIns="0" tIns="0" bIns="0" anchor="t">
            <a:noAutofit/>
          </a:bodyPr>
          <a:lstStyle/>
          <a:p>
            <a:pPr algn="l">
              <a:lnSpc>
                <a:spcPct val="100000"/>
              </a:lnSpc>
              <a:spcAft>
                <a:spcPts val="0"/>
              </a:spcAft>
            </a:pPr>
            <a:r>
              <a:rPr sz="1900" b="1">
                <a:solidFill>
                  <a:srgbClr val="111111"/>
                </a:solidFill>
                <a:latin typeface="Google Sans Flex"/>
              </a:rPr>
              <a:t>₹20,000</a:t>
            </a:r>
          </a:p>
        </p:txBody>
      </p:sp>
      <p:sp>
        <p:nvSpPr>
          <p:cNvPr id="155" name="TextBox 154"/>
          <p:cNvSpPr txBox="1"/>
          <p:nvPr/>
        </p:nvSpPr>
        <p:spPr>
          <a:xfrm>
            <a:off x="5824727" y="2615184"/>
            <a:ext cx="1271016" cy="274320"/>
          </a:xfrm>
          <a:prstGeom prst="rect">
            <a:avLst/>
          </a:prstGeom>
          <a:noFill/>
        </p:spPr>
        <p:txBody>
          <a:bodyPr wrap="square" lIns="0" rIns="0" tIns="0" bIns="0" anchor="t">
            <a:noAutofit/>
          </a:bodyPr>
          <a:lstStyle/>
          <a:p>
            <a:pPr algn="l">
              <a:lnSpc>
                <a:spcPct val="100000"/>
              </a:lnSpc>
              <a:spcAft>
                <a:spcPts val="0"/>
              </a:spcAft>
            </a:pPr>
            <a:r>
              <a:rPr sz="800" b="0">
                <a:solidFill>
                  <a:srgbClr val="3C4043"/>
                </a:solidFill>
                <a:latin typeface="Google Sans Flex Medium"/>
              </a:rPr>
              <a:t>daily checks on 300+ products</a:t>
            </a:r>
          </a:p>
        </p:txBody>
      </p:sp>
      <p:sp>
        <p:nvSpPr>
          <p:cNvPr id="156" name="Rounded Rectangle 155"/>
          <p:cNvSpPr/>
          <p:nvPr/>
        </p:nvSpPr>
        <p:spPr>
          <a:xfrm>
            <a:off x="7360919" y="1572768"/>
            <a:ext cx="1499616" cy="1417320"/>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ounded Rectangle 156"/>
          <p:cNvSpPr/>
          <p:nvPr/>
        </p:nvSpPr>
        <p:spPr>
          <a:xfrm>
            <a:off x="7324343" y="1536192"/>
            <a:ext cx="1499616" cy="1417320"/>
          </a:xfrm>
          <a:prstGeom prst="roundRect">
            <a:avLst>
              <a:gd name="adj" fmla="val 6451"/>
            </a:avLst>
          </a:prstGeom>
          <a:solidFill>
            <a:srgbClr val="FF5CA8"/>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7452359" y="1627632"/>
            <a:ext cx="1271016" cy="45720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1 lakh</a:t>
            </a:r>
          </a:p>
          <a:p>
            <a:pPr algn="l">
              <a:lnSpc>
                <a:spcPct val="100000"/>
              </a:lnSpc>
              <a:spcAft>
                <a:spcPts val="0"/>
              </a:spcAft>
            </a:pPr>
            <a:r>
              <a:rPr sz="850" b="0">
                <a:solidFill>
                  <a:srgbClr val="3C4043"/>
                </a:solidFill>
                <a:latin typeface="Google Sans Flex"/>
              </a:rPr>
              <a:t>audits / month</a:t>
            </a:r>
          </a:p>
        </p:txBody>
      </p:sp>
      <p:sp>
        <p:nvSpPr>
          <p:cNvPr id="159" name="TextBox 158"/>
          <p:cNvSpPr txBox="1"/>
          <p:nvPr/>
        </p:nvSpPr>
        <p:spPr>
          <a:xfrm>
            <a:off x="7452359" y="2212848"/>
            <a:ext cx="1271016" cy="384048"/>
          </a:xfrm>
          <a:prstGeom prst="rect">
            <a:avLst/>
          </a:prstGeom>
          <a:noFill/>
        </p:spPr>
        <p:txBody>
          <a:bodyPr wrap="square" lIns="0" rIns="0" tIns="0" bIns="0" anchor="t">
            <a:noAutofit/>
          </a:bodyPr>
          <a:lstStyle/>
          <a:p>
            <a:pPr algn="l">
              <a:lnSpc>
                <a:spcPct val="100000"/>
              </a:lnSpc>
              <a:spcAft>
                <a:spcPts val="0"/>
              </a:spcAft>
            </a:pPr>
            <a:r>
              <a:rPr sz="1900" b="1">
                <a:solidFill>
                  <a:srgbClr val="111111"/>
                </a:solidFill>
                <a:latin typeface="Google Sans Flex"/>
              </a:rPr>
              <a:t>₹2 lakh</a:t>
            </a:r>
          </a:p>
        </p:txBody>
      </p:sp>
      <p:sp>
        <p:nvSpPr>
          <p:cNvPr id="160" name="TextBox 159"/>
          <p:cNvSpPr txBox="1"/>
          <p:nvPr/>
        </p:nvSpPr>
        <p:spPr>
          <a:xfrm>
            <a:off x="7452359" y="2615184"/>
            <a:ext cx="1271016" cy="274320"/>
          </a:xfrm>
          <a:prstGeom prst="rect">
            <a:avLst/>
          </a:prstGeom>
          <a:noFill/>
        </p:spPr>
        <p:txBody>
          <a:bodyPr wrap="square" lIns="0" rIns="0" tIns="0" bIns="0" anchor="t">
            <a:noAutofit/>
          </a:bodyPr>
          <a:lstStyle/>
          <a:p>
            <a:pPr algn="l">
              <a:lnSpc>
                <a:spcPct val="100000"/>
              </a:lnSpc>
              <a:spcAft>
                <a:spcPts val="0"/>
              </a:spcAft>
            </a:pPr>
            <a:r>
              <a:rPr sz="800" b="0">
                <a:solidFill>
                  <a:srgbClr val="3C4043"/>
                </a:solidFill>
                <a:latin typeface="Google Sans Flex Medium"/>
              </a:rPr>
              <a:t>a regulator's sweep</a:t>
            </a:r>
          </a:p>
        </p:txBody>
      </p:sp>
      <p:sp>
        <p:nvSpPr>
          <p:cNvPr id="161" name="TextBox 160"/>
          <p:cNvSpPr txBox="1"/>
          <p:nvPr/>
        </p:nvSpPr>
        <p:spPr>
          <a:xfrm>
            <a:off x="4069079" y="3136392"/>
            <a:ext cx="475488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GUARDRAILS  </a:t>
            </a:r>
            <a:r>
              <a:rPr sz="900" b="0">
                <a:solidFill>
                  <a:srgbClr val="5F6368"/>
                </a:solidFill>
                <a:latin typeface="Google Sans Flex"/>
              </a:rPr>
              <a:t>so a bill can't surprise anyone</a:t>
            </a:r>
          </a:p>
        </p:txBody>
      </p:sp>
      <p:sp>
        <p:nvSpPr>
          <p:cNvPr id="162" name="Rounded Rectangle 161"/>
          <p:cNvSpPr/>
          <p:nvPr/>
        </p:nvSpPr>
        <p:spPr>
          <a:xfrm>
            <a:off x="4096511" y="34564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4069079" y="34290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4" name="Picture 163" descr="l-ban-ink.png"/>
          <p:cNvPicPr>
            <a:picLocks noChangeAspect="1"/>
          </p:cNvPicPr>
          <p:nvPr/>
        </p:nvPicPr>
        <p:blipFill>
          <a:blip r:embed="rId5"/>
          <a:stretch>
            <a:fillRect/>
          </a:stretch>
        </p:blipFill>
        <p:spPr>
          <a:xfrm>
            <a:off x="4160519" y="3502152"/>
            <a:ext cx="219456" cy="219456"/>
          </a:xfrm>
          <a:prstGeom prst="rect">
            <a:avLst/>
          </a:prstGeom>
        </p:spPr>
      </p:pic>
      <p:sp>
        <p:nvSpPr>
          <p:cNvPr id="165" name="TextBox 164"/>
          <p:cNvSpPr txBox="1"/>
          <p:nvPr/>
        </p:nvSpPr>
        <p:spPr>
          <a:xfrm>
            <a:off x="4471416" y="34290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100 live runs a day, site-wide</a:t>
            </a:r>
          </a:p>
        </p:txBody>
      </p:sp>
      <p:sp>
        <p:nvSpPr>
          <p:cNvPr id="166" name="Rounded Rectangle 165"/>
          <p:cNvSpPr/>
          <p:nvPr/>
        </p:nvSpPr>
        <p:spPr>
          <a:xfrm>
            <a:off x="6528816" y="34564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ounded Rectangle 166"/>
          <p:cNvSpPr/>
          <p:nvPr/>
        </p:nvSpPr>
        <p:spPr>
          <a:xfrm>
            <a:off x="6501383" y="34290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8" name="Picture 167" descr="l-coins-ink.png"/>
          <p:cNvPicPr>
            <a:picLocks noChangeAspect="1"/>
          </p:cNvPicPr>
          <p:nvPr/>
        </p:nvPicPr>
        <p:blipFill>
          <a:blip r:embed="rId6"/>
          <a:stretch>
            <a:fillRect/>
          </a:stretch>
        </p:blipFill>
        <p:spPr>
          <a:xfrm>
            <a:off x="6592823" y="3502152"/>
            <a:ext cx="219456" cy="219456"/>
          </a:xfrm>
          <a:prstGeom prst="rect">
            <a:avLst/>
          </a:prstGeom>
        </p:spPr>
      </p:pic>
      <p:sp>
        <p:nvSpPr>
          <p:cNvPr id="169" name="TextBox 168"/>
          <p:cNvSpPr txBox="1"/>
          <p:nvPr/>
        </p:nvSpPr>
        <p:spPr>
          <a:xfrm>
            <a:off x="6903720" y="34290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 400k tokens, 40 calls per audit</a:t>
            </a:r>
          </a:p>
        </p:txBody>
      </p:sp>
      <p:sp>
        <p:nvSpPr>
          <p:cNvPr id="170" name="Rounded Rectangle 169"/>
          <p:cNvSpPr/>
          <p:nvPr/>
        </p:nvSpPr>
        <p:spPr>
          <a:xfrm>
            <a:off x="4096511" y="39136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4069079" y="38862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2" name="Picture 171" descr="l-timer-ink.png"/>
          <p:cNvPicPr>
            <a:picLocks noChangeAspect="1"/>
          </p:cNvPicPr>
          <p:nvPr/>
        </p:nvPicPr>
        <p:blipFill>
          <a:blip r:embed="rId7"/>
          <a:stretch>
            <a:fillRect/>
          </a:stretch>
        </p:blipFill>
        <p:spPr>
          <a:xfrm>
            <a:off x="4160519" y="3959352"/>
            <a:ext cx="219456" cy="219456"/>
          </a:xfrm>
          <a:prstGeom prst="rect">
            <a:avLst/>
          </a:prstGeom>
        </p:spPr>
      </p:pic>
      <p:sp>
        <p:nvSpPr>
          <p:cNvPr id="173" name="TextBox 172"/>
          <p:cNvSpPr txBox="1"/>
          <p:nvPr/>
        </p:nvSpPr>
        <p:spPr>
          <a:xfrm>
            <a:off x="4471416" y="38862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6-minute limit per audit</a:t>
            </a:r>
          </a:p>
        </p:txBody>
      </p:sp>
      <p:sp>
        <p:nvSpPr>
          <p:cNvPr id="174" name="Rounded Rectangle 173"/>
          <p:cNvSpPr/>
          <p:nvPr/>
        </p:nvSpPr>
        <p:spPr>
          <a:xfrm>
            <a:off x="6528816" y="39136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ounded Rectangle 174"/>
          <p:cNvSpPr/>
          <p:nvPr/>
        </p:nvSpPr>
        <p:spPr>
          <a:xfrm>
            <a:off x="6501383" y="38862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6" name="Picture 175" descr="l-flag-ink.png"/>
          <p:cNvPicPr>
            <a:picLocks noChangeAspect="1"/>
          </p:cNvPicPr>
          <p:nvPr/>
        </p:nvPicPr>
        <p:blipFill>
          <a:blip r:embed="rId8"/>
          <a:stretch>
            <a:fillRect/>
          </a:stretch>
        </p:blipFill>
        <p:spPr>
          <a:xfrm>
            <a:off x="6592823" y="3959352"/>
            <a:ext cx="219456" cy="219456"/>
          </a:xfrm>
          <a:prstGeom prst="rect">
            <a:avLst/>
          </a:prstGeom>
        </p:spPr>
      </p:pic>
      <p:sp>
        <p:nvSpPr>
          <p:cNvPr id="177" name="TextBox 176"/>
          <p:cNvSpPr txBox="1"/>
          <p:nvPr/>
        </p:nvSpPr>
        <p:spPr>
          <a:xfrm>
            <a:off x="6903720" y="38862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Budget alerts at ₹2,000 / month</a:t>
            </a:r>
          </a:p>
        </p:txBody>
      </p:sp>
      <p:sp>
        <p:nvSpPr>
          <p:cNvPr id="178" name="Rounded Rectangle 177"/>
          <p:cNvSpPr/>
          <p:nvPr/>
        </p:nvSpPr>
        <p:spPr>
          <a:xfrm>
            <a:off x="4096511" y="43708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ounded Rectangle 178"/>
          <p:cNvSpPr/>
          <p:nvPr/>
        </p:nvSpPr>
        <p:spPr>
          <a:xfrm>
            <a:off x="4069079" y="43434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0" name="Picture 179" descr="l-layers-ink.png"/>
          <p:cNvPicPr>
            <a:picLocks noChangeAspect="1"/>
          </p:cNvPicPr>
          <p:nvPr/>
        </p:nvPicPr>
        <p:blipFill>
          <a:blip r:embed="rId9"/>
          <a:stretch>
            <a:fillRect/>
          </a:stretch>
        </p:blipFill>
        <p:spPr>
          <a:xfrm>
            <a:off x="4160519" y="4416552"/>
            <a:ext cx="219456" cy="219456"/>
          </a:xfrm>
          <a:prstGeom prst="rect">
            <a:avLst/>
          </a:prstGeom>
        </p:spPr>
      </p:pic>
      <p:sp>
        <p:nvSpPr>
          <p:cNvPr id="181" name="TextBox 180"/>
          <p:cNvSpPr txBox="1"/>
          <p:nvPr/>
        </p:nvSpPr>
        <p:spPr>
          <a:xfrm>
            <a:off x="4471416" y="43434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Keeps only the 3 newest images</a:t>
            </a:r>
          </a:p>
        </p:txBody>
      </p:sp>
      <p:sp>
        <p:nvSpPr>
          <p:cNvPr id="182" name="Rounded Rectangle 181"/>
          <p:cNvSpPr/>
          <p:nvPr/>
        </p:nvSpPr>
        <p:spPr>
          <a:xfrm>
            <a:off x="6528816" y="43708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ounded Rectangle 182"/>
          <p:cNvSpPr/>
          <p:nvPr/>
        </p:nvSpPr>
        <p:spPr>
          <a:xfrm>
            <a:off x="6501383" y="43434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4" name="Picture 183" descr="l-zap-ink.png"/>
          <p:cNvPicPr>
            <a:picLocks noChangeAspect="1"/>
          </p:cNvPicPr>
          <p:nvPr/>
        </p:nvPicPr>
        <p:blipFill>
          <a:blip r:embed="rId10"/>
          <a:stretch>
            <a:fillRect/>
          </a:stretch>
        </p:blipFill>
        <p:spPr>
          <a:xfrm>
            <a:off x="6592823" y="4416552"/>
            <a:ext cx="219456" cy="219456"/>
          </a:xfrm>
          <a:prstGeom prst="rect">
            <a:avLst/>
          </a:prstGeom>
        </p:spPr>
      </p:pic>
      <p:sp>
        <p:nvSpPr>
          <p:cNvPr id="185" name="TextBox 184"/>
          <p:cNvSpPr txBox="1"/>
          <p:nvPr/>
        </p:nvSpPr>
        <p:spPr>
          <a:xfrm>
            <a:off x="6903720" y="43434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Scales to zero when idle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Rectangle 135"/>
          <p:cNvSpPr/>
          <p:nvPr/>
        </p:nvSpPr>
        <p:spPr>
          <a:xfrm>
            <a:off x="431122" y="1289304"/>
            <a:ext cx="3984074"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7" name="Picture 136" descr="Verdict: trust score, overcharge, fine risk"/>
          <p:cNvPicPr>
            <a:picLocks noChangeAspect="1"/>
          </p:cNvPicPr>
          <p:nvPr/>
        </p:nvPicPr>
        <p:blipFill>
          <a:blip r:embed="rId5"/>
          <a:stretch>
            <a:fillRect/>
          </a:stretch>
        </p:blipFill>
        <p:spPr>
          <a:xfrm>
            <a:off x="385402" y="1243584"/>
            <a:ext cx="3984074" cy="1581912"/>
          </a:xfrm>
          <a:prstGeom prst="rect">
            <a:avLst/>
          </a:prstGeom>
          <a:ln w="19050">
            <a:solidFill>
              <a:srgbClr val="111111"/>
            </a:solidFill>
          </a:ln>
        </p:spPr>
      </p:pic>
      <p:sp>
        <p:nvSpPr>
          <p:cNvPr id="138" name="Rounded Rectangle 137"/>
          <p:cNvSpPr/>
          <p:nvPr/>
        </p:nvSpPr>
        <p:spPr>
          <a:xfrm>
            <a:off x="312250" y="2642615"/>
            <a:ext cx="2887675" cy="274320"/>
          </a:xfrm>
          <a:prstGeom prst="roundRect">
            <a:avLst>
              <a:gd name="adj" fmla="val 5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Verdict: trust score, overcharge, fine risk</a:t>
            </a:r>
          </a:p>
        </p:txBody>
      </p:sp>
      <p:sp>
        <p:nvSpPr>
          <p:cNvPr id="139" name="Rectangle 138"/>
          <p:cNvSpPr/>
          <p:nvPr/>
        </p:nvSpPr>
        <p:spPr>
          <a:xfrm>
            <a:off x="5225181" y="1289304"/>
            <a:ext cx="3174197"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0" name="Picture 139" descr="The bill: ₹1,499 shown, ₹1,894 charged"/>
          <p:cNvPicPr>
            <a:picLocks noChangeAspect="1"/>
          </p:cNvPicPr>
          <p:nvPr/>
        </p:nvPicPr>
        <p:blipFill>
          <a:blip r:embed="rId6"/>
          <a:stretch>
            <a:fillRect/>
          </a:stretch>
        </p:blipFill>
        <p:spPr>
          <a:xfrm>
            <a:off x="5179461" y="1243584"/>
            <a:ext cx="3174197" cy="1581912"/>
          </a:xfrm>
          <a:prstGeom prst="rect">
            <a:avLst/>
          </a:prstGeom>
          <a:ln w="19050">
            <a:solidFill>
              <a:srgbClr val="111111"/>
            </a:solidFill>
          </a:ln>
        </p:spPr>
      </p:pic>
      <p:sp>
        <p:nvSpPr>
          <p:cNvPr id="141" name="Rounded Rectangle 140"/>
          <p:cNvSpPr/>
          <p:nvPr/>
        </p:nvSpPr>
        <p:spPr>
          <a:xfrm>
            <a:off x="5106309" y="2642615"/>
            <a:ext cx="2585923" cy="274320"/>
          </a:xfrm>
          <a:prstGeom prst="roundRect">
            <a:avLst>
              <a:gd name="adj" fmla="val 50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The bill: ₹1,499 shown, ₹1,894 charged</a:t>
            </a:r>
          </a:p>
        </p:txBody>
      </p:sp>
      <p:sp>
        <p:nvSpPr>
          <p:cNvPr id="142" name="Rectangle 141"/>
          <p:cNvSpPr/>
          <p:nvPr/>
        </p:nvSpPr>
        <p:spPr>
          <a:xfrm>
            <a:off x="988893" y="3099815"/>
            <a:ext cx="2868533"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3" name="Picture 142" descr="Evidence: the countdown restarts on reload"/>
          <p:cNvPicPr>
            <a:picLocks noChangeAspect="1"/>
          </p:cNvPicPr>
          <p:nvPr/>
        </p:nvPicPr>
        <p:blipFill>
          <a:blip r:embed="rId7"/>
          <a:stretch>
            <a:fillRect/>
          </a:stretch>
        </p:blipFill>
        <p:spPr>
          <a:xfrm>
            <a:off x="943173" y="3054096"/>
            <a:ext cx="2868533" cy="1581912"/>
          </a:xfrm>
          <a:prstGeom prst="rect">
            <a:avLst/>
          </a:prstGeom>
          <a:ln w="19050">
            <a:solidFill>
              <a:srgbClr val="111111"/>
            </a:solidFill>
          </a:ln>
        </p:spPr>
      </p:pic>
      <p:sp>
        <p:nvSpPr>
          <p:cNvPr id="144" name="Rounded Rectangle 143"/>
          <p:cNvSpPr/>
          <p:nvPr/>
        </p:nvSpPr>
        <p:spPr>
          <a:xfrm>
            <a:off x="870021" y="4453128"/>
            <a:ext cx="2827324" cy="274320"/>
          </a:xfrm>
          <a:prstGeom prst="roundRect">
            <a:avLst>
              <a:gd name="adj" fmla="val 50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Evidence: the countdown restarts on reload</a:t>
            </a:r>
          </a:p>
        </p:txBody>
      </p:sp>
      <p:sp>
        <p:nvSpPr>
          <p:cNvPr id="145" name="Rectangle 144"/>
          <p:cNvSpPr/>
          <p:nvPr/>
        </p:nvSpPr>
        <p:spPr>
          <a:xfrm>
            <a:off x="5024867" y="3099815"/>
            <a:ext cx="3574825"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6" name="Picture 145" descr="A real store, logged out: stops at sign-in"/>
          <p:cNvPicPr>
            <a:picLocks noChangeAspect="1"/>
          </p:cNvPicPr>
          <p:nvPr/>
        </p:nvPicPr>
        <p:blipFill>
          <a:blip r:embed="rId8"/>
          <a:stretch>
            <a:fillRect/>
          </a:stretch>
        </p:blipFill>
        <p:spPr>
          <a:xfrm>
            <a:off x="4979147" y="3054096"/>
            <a:ext cx="3574825" cy="1581912"/>
          </a:xfrm>
          <a:prstGeom prst="rect">
            <a:avLst/>
          </a:prstGeom>
          <a:ln w="19050">
            <a:solidFill>
              <a:srgbClr val="111111"/>
            </a:solidFill>
          </a:ln>
        </p:spPr>
      </p:pic>
      <p:sp>
        <p:nvSpPr>
          <p:cNvPr id="147" name="Rounded Rectangle 146"/>
          <p:cNvSpPr/>
          <p:nvPr/>
        </p:nvSpPr>
        <p:spPr>
          <a:xfrm>
            <a:off x="4905995" y="4453128"/>
            <a:ext cx="2827324" cy="274320"/>
          </a:xfrm>
          <a:prstGeom prst="roundRect">
            <a:avLst>
              <a:gd name="adj" fmla="val 50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A real store, logged out: stops at sign-in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20040" y="1216152"/>
            <a:ext cx="271272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PLANTED TRICKS  </a:t>
            </a:r>
            <a:r>
              <a:rPr sz="900" b="0">
                <a:solidFill>
                  <a:srgbClr val="5F6368"/>
                </a:solidFill>
                <a:latin typeface="Google Sans Flex"/>
              </a:rPr>
              <a:t>live runs, 2 per store</a:t>
            </a:r>
          </a:p>
        </p:txBody>
      </p:sp>
      <p:sp>
        <p:nvSpPr>
          <p:cNvPr id="145" name="Rounded Rectangle 144"/>
          <p:cNvSpPr/>
          <p:nvPr/>
        </p:nvSpPr>
        <p:spPr>
          <a:xfrm>
            <a:off x="356615" y="1517904"/>
            <a:ext cx="2712720" cy="877824"/>
          </a:xfrm>
          <a:prstGeom prst="roundRect">
            <a:avLst>
              <a:gd name="adj" fmla="val 1041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ounded Rectangle 145"/>
          <p:cNvSpPr/>
          <p:nvPr/>
        </p:nvSpPr>
        <p:spPr>
          <a:xfrm>
            <a:off x="320040" y="1481328"/>
            <a:ext cx="2712720" cy="877824"/>
          </a:xfrm>
          <a:prstGeom prst="roundRect">
            <a:avLst>
              <a:gd name="adj" fmla="val 10416"/>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457200" y="1481328"/>
            <a:ext cx="960120" cy="877824"/>
          </a:xfrm>
          <a:prstGeom prst="rect">
            <a:avLst/>
          </a:prstGeom>
          <a:noFill/>
        </p:spPr>
        <p:txBody>
          <a:bodyPr wrap="square" lIns="0" rIns="0" tIns="0" bIns="0" anchor="ctr">
            <a:noAutofit/>
          </a:bodyPr>
          <a:lstStyle/>
          <a:p>
            <a:pPr algn="l">
              <a:lnSpc>
                <a:spcPct val="100000"/>
              </a:lnSpc>
              <a:spcAft>
                <a:spcPts val="0"/>
              </a:spcAft>
            </a:pPr>
            <a:r>
              <a:rPr sz="2600" b="1">
                <a:solidFill>
                  <a:srgbClr val="111111"/>
                </a:solidFill>
                <a:latin typeface="Google Sans Flex"/>
              </a:rPr>
              <a:t>9/9</a:t>
            </a:r>
          </a:p>
        </p:txBody>
      </p:sp>
      <p:sp>
        <p:nvSpPr>
          <p:cNvPr id="148" name="TextBox 147"/>
          <p:cNvSpPr txBox="1"/>
          <p:nvPr/>
        </p:nvSpPr>
        <p:spPr>
          <a:xfrm>
            <a:off x="1417319" y="1609344"/>
            <a:ext cx="1524000" cy="65836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tricks caught · Store A</a:t>
            </a:r>
          </a:p>
          <a:p>
            <a:pPr algn="l">
              <a:lnSpc>
                <a:spcPct val="100000"/>
              </a:lnSpc>
              <a:spcAft>
                <a:spcPts val="0"/>
              </a:spcAft>
            </a:pPr>
            <a:r>
              <a:rPr sz="850" b="0">
                <a:solidFill>
                  <a:srgbClr val="3C4043"/>
                </a:solidFill>
                <a:latin typeface="Google Sans Flex"/>
              </a:rPr>
              <a:t>the borderline claim went to human review</a:t>
            </a:r>
          </a:p>
        </p:txBody>
      </p:sp>
      <p:sp>
        <p:nvSpPr>
          <p:cNvPr id="149" name="Rounded Rectangle 148"/>
          <p:cNvSpPr/>
          <p:nvPr/>
        </p:nvSpPr>
        <p:spPr>
          <a:xfrm>
            <a:off x="356615" y="2523744"/>
            <a:ext cx="2712720" cy="877824"/>
          </a:xfrm>
          <a:prstGeom prst="roundRect">
            <a:avLst>
              <a:gd name="adj" fmla="val 1041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ounded Rectangle 149"/>
          <p:cNvSpPr/>
          <p:nvPr/>
        </p:nvSpPr>
        <p:spPr>
          <a:xfrm>
            <a:off x="320040" y="2487168"/>
            <a:ext cx="2712720" cy="877824"/>
          </a:xfrm>
          <a:prstGeom prst="roundRect">
            <a:avLst>
              <a:gd name="adj" fmla="val 10416"/>
            </a:avLst>
          </a:prstGeom>
          <a:solidFill>
            <a:srgbClr val="4ADE9A"/>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457200" y="2487168"/>
            <a:ext cx="960120" cy="877824"/>
          </a:xfrm>
          <a:prstGeom prst="rect">
            <a:avLst/>
          </a:prstGeom>
          <a:noFill/>
        </p:spPr>
        <p:txBody>
          <a:bodyPr wrap="square" lIns="0" rIns="0" tIns="0" bIns="0" anchor="ctr">
            <a:noAutofit/>
          </a:bodyPr>
          <a:lstStyle/>
          <a:p>
            <a:pPr algn="l">
              <a:lnSpc>
                <a:spcPct val="100000"/>
              </a:lnSpc>
              <a:spcAft>
                <a:spcPts val="0"/>
              </a:spcAft>
            </a:pPr>
            <a:r>
              <a:rPr sz="2600" b="1">
                <a:solidFill>
                  <a:srgbClr val="111111"/>
                </a:solidFill>
                <a:latin typeface="Google Sans Flex"/>
              </a:rPr>
              <a:t>0</a:t>
            </a:r>
          </a:p>
        </p:txBody>
      </p:sp>
      <p:sp>
        <p:nvSpPr>
          <p:cNvPr id="152" name="TextBox 151"/>
          <p:cNvSpPr txBox="1"/>
          <p:nvPr/>
        </p:nvSpPr>
        <p:spPr>
          <a:xfrm>
            <a:off x="1417319" y="2615184"/>
            <a:ext cx="1524000" cy="65836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false alarms · Store B</a:t>
            </a:r>
          </a:p>
          <a:p>
            <a:pPr algn="l">
              <a:lnSpc>
                <a:spcPct val="100000"/>
              </a:lnSpc>
              <a:spcAft>
                <a:spcPts val="0"/>
              </a:spcAft>
            </a:pPr>
            <a:r>
              <a:rPr sz="850" b="0">
                <a:solidFill>
                  <a:srgbClr val="3C4043"/>
                </a:solidFill>
                <a:latin typeface="Google Sans Flex"/>
              </a:rPr>
              <a:t>the honest control store</a:t>
            </a:r>
          </a:p>
        </p:txBody>
      </p:sp>
      <p:sp>
        <p:nvSpPr>
          <p:cNvPr id="153" name="Rounded Rectangle 152"/>
          <p:cNvSpPr/>
          <p:nvPr/>
        </p:nvSpPr>
        <p:spPr>
          <a:xfrm>
            <a:off x="356615" y="3529584"/>
            <a:ext cx="2712720" cy="877824"/>
          </a:xfrm>
          <a:prstGeom prst="roundRect">
            <a:avLst>
              <a:gd name="adj" fmla="val 1041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320040" y="3493008"/>
            <a:ext cx="2712720" cy="877824"/>
          </a:xfrm>
          <a:prstGeom prst="roundRect">
            <a:avLst>
              <a:gd name="adj" fmla="val 10416"/>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457200" y="3493008"/>
            <a:ext cx="960120" cy="877824"/>
          </a:xfrm>
          <a:prstGeom prst="rect">
            <a:avLst/>
          </a:prstGeom>
          <a:noFill/>
        </p:spPr>
        <p:txBody>
          <a:bodyPr wrap="square" lIns="0" rIns="0" tIns="0" bIns="0" anchor="ctr">
            <a:noAutofit/>
          </a:bodyPr>
          <a:lstStyle/>
          <a:p>
            <a:pPr algn="l">
              <a:lnSpc>
                <a:spcPct val="100000"/>
              </a:lnSpc>
              <a:spcAft>
                <a:spcPts val="0"/>
              </a:spcAft>
            </a:pPr>
            <a:r>
              <a:rPr sz="2600" b="1">
                <a:solidFill>
                  <a:srgbClr val="111111"/>
                </a:solidFill>
                <a:latin typeface="Google Sans Flex"/>
              </a:rPr>
              <a:t>6/6</a:t>
            </a:r>
          </a:p>
        </p:txBody>
      </p:sp>
      <p:sp>
        <p:nvSpPr>
          <p:cNvPr id="156" name="TextBox 155"/>
          <p:cNvSpPr txBox="1"/>
          <p:nvPr/>
        </p:nvSpPr>
        <p:spPr>
          <a:xfrm>
            <a:off x="1417319" y="3621024"/>
            <a:ext cx="1524000" cy="65836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caught before the wall · Store C</a:t>
            </a:r>
          </a:p>
          <a:p>
            <a:pPr algn="l">
              <a:lnSpc>
                <a:spcPct val="100000"/>
              </a:lnSpc>
              <a:spcAft>
                <a:spcPts val="0"/>
              </a:spcAft>
            </a:pPr>
            <a:r>
              <a:rPr sz="850" b="0">
                <a:solidFill>
                  <a:srgbClr val="3C4043"/>
                </a:solidFill>
                <a:latin typeface="Google Sans Flex"/>
              </a:rPr>
              <a:t>then stops honestly at sign-in</a:t>
            </a:r>
          </a:p>
        </p:txBody>
      </p:sp>
      <p:sp>
        <p:nvSpPr>
          <p:cNvPr id="157" name="TextBox 156"/>
          <p:cNvSpPr txBox="1"/>
          <p:nvPr/>
        </p:nvSpPr>
        <p:spPr>
          <a:xfrm>
            <a:off x="3215640" y="1216152"/>
            <a:ext cx="271272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PUBLIC DATASET  </a:t>
            </a:r>
            <a:r>
              <a:rPr sz="900" b="0">
                <a:solidFill>
                  <a:srgbClr val="5F6368"/>
                </a:solidFill>
                <a:latin typeface="Google Sans Flex"/>
              </a:rPr>
              <a:t>2,356 texts, F1</a:t>
            </a:r>
          </a:p>
        </p:txBody>
      </p:sp>
      <p:sp>
        <p:nvSpPr>
          <p:cNvPr id="158" name="Rounded Rectangle 157"/>
          <p:cNvSpPr/>
          <p:nvPr/>
        </p:nvSpPr>
        <p:spPr>
          <a:xfrm>
            <a:off x="3252216" y="1517904"/>
            <a:ext cx="2712720" cy="2798064"/>
          </a:xfrm>
          <a:prstGeom prst="roundRect">
            <a:avLst>
              <a:gd name="adj" fmla="val 337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3215640" y="1481328"/>
            <a:ext cx="2712720" cy="2798064"/>
          </a:xfrm>
          <a:prstGeom prst="roundRect">
            <a:avLst>
              <a:gd name="adj" fmla="val 337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60" name="Chart 159"/>
          <p:cNvGraphicFramePr>
            <a:graphicFrameLocks noGrp="1"/>
          </p:cNvGraphicFramePr>
          <p:nvPr/>
        </p:nvGraphicFramePr>
        <p:xfrm>
          <a:off x="3261360" y="1554480"/>
          <a:ext cx="2602992" cy="1508760"/>
        </p:xfrm>
        <a:graphic>
          <a:graphicData uri="http://schemas.openxmlformats.org/drawingml/2006/chart">
            <c:chart r:id="rId5"/>
          </a:graphicData>
        </a:graphic>
      </p:graphicFrame>
      <p:sp>
        <p:nvSpPr>
          <p:cNvPr id="161" name="TextBox 160"/>
          <p:cNvSpPr txBox="1"/>
          <p:nvPr/>
        </p:nvSpPr>
        <p:spPr>
          <a:xfrm>
            <a:off x="3352800" y="3090672"/>
            <a:ext cx="2438400" cy="1143000"/>
          </a:xfrm>
          <a:prstGeom prst="rect">
            <a:avLst/>
          </a:prstGeom>
          <a:noFill/>
        </p:spPr>
        <p:txBody>
          <a:bodyPr wrap="square" lIns="0" rIns="0" tIns="0" bIns="0" anchor="t">
            <a:noAutofit/>
          </a:bodyPr>
          <a:lstStyle/>
          <a:p>
            <a:pPr algn="l">
              <a:lnSpc>
                <a:spcPct val="100000"/>
              </a:lnSpc>
              <a:spcAft>
                <a:spcPts val="0"/>
              </a:spcAft>
            </a:pPr>
            <a:r>
              <a:rPr sz="2000" b="1">
                <a:solidFill>
                  <a:srgbClr val="FF5CA8"/>
                </a:solidFill>
                <a:latin typeface="Google Sans Flex"/>
              </a:rPr>
              <a:t>0.998</a:t>
            </a:r>
            <a:r>
              <a:rPr sz="1000" b="0">
                <a:solidFill>
                  <a:srgbClr val="111111"/>
                </a:solidFill>
                <a:latin typeface="Google Sans Flex SemiBold"/>
              </a:rPr>
              <a:t>  precision</a:t>
            </a:r>
          </a:p>
          <a:p>
            <a:pPr algn="l">
              <a:lnSpc>
                <a:spcPct val="100000"/>
              </a:lnSpc>
              <a:spcAft>
                <a:spcPts val="0"/>
              </a:spcAft>
            </a:pPr>
            <a:r>
              <a:rPr sz="850" b="0">
                <a:solidFill>
                  <a:srgbClr val="5F6368"/>
                </a:solidFill>
                <a:latin typeface="Google Sans Flex"/>
              </a:rPr>
              <a:t>2 false alarms in 2,356 texts. Our model never saw this dataset; the others were trained on it.</a:t>
            </a:r>
          </a:p>
        </p:txBody>
      </p:sp>
      <p:sp>
        <p:nvSpPr>
          <p:cNvPr id="162" name="TextBox 161"/>
          <p:cNvSpPr txBox="1"/>
          <p:nvPr/>
        </p:nvSpPr>
        <p:spPr>
          <a:xfrm>
            <a:off x="6111240" y="1216152"/>
            <a:ext cx="271272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EVERY LAYER COUNTS  </a:t>
            </a:r>
            <a:r>
              <a:rPr sz="900" b="0">
                <a:solidFill>
                  <a:srgbClr val="5F6368"/>
                </a:solidFill>
                <a:latin typeface="Google Sans Flex"/>
              </a:rPr>
              <a:t>Store A recall</a:t>
            </a:r>
          </a:p>
        </p:txBody>
      </p:sp>
      <p:sp>
        <p:nvSpPr>
          <p:cNvPr id="163" name="Rounded Rectangle 162"/>
          <p:cNvSpPr/>
          <p:nvPr/>
        </p:nvSpPr>
        <p:spPr>
          <a:xfrm>
            <a:off x="6147816" y="1517904"/>
            <a:ext cx="2712720" cy="2798064"/>
          </a:xfrm>
          <a:prstGeom prst="roundRect">
            <a:avLst>
              <a:gd name="adj" fmla="val 337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ounded Rectangle 163"/>
          <p:cNvSpPr/>
          <p:nvPr/>
        </p:nvSpPr>
        <p:spPr>
          <a:xfrm>
            <a:off x="6111240" y="1481328"/>
            <a:ext cx="2712720" cy="2798064"/>
          </a:xfrm>
          <a:prstGeom prst="roundRect">
            <a:avLst>
              <a:gd name="adj" fmla="val 337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65" name="Chart 164"/>
          <p:cNvGraphicFramePr>
            <a:graphicFrameLocks noGrp="1"/>
          </p:cNvGraphicFramePr>
          <p:nvPr/>
        </p:nvGraphicFramePr>
        <p:xfrm>
          <a:off x="6156960" y="1554480"/>
          <a:ext cx="2602992" cy="1508760"/>
        </p:xfrm>
        <a:graphic>
          <a:graphicData uri="http://schemas.openxmlformats.org/drawingml/2006/chart">
            <c:chart r:id="rId6"/>
          </a:graphicData>
        </a:graphic>
      </p:graphicFrame>
      <p:sp>
        <p:nvSpPr>
          <p:cNvPr id="166" name="TextBox 165"/>
          <p:cNvSpPr txBox="1"/>
          <p:nvPr/>
        </p:nvSpPr>
        <p:spPr>
          <a:xfrm>
            <a:off x="6248400" y="3090672"/>
            <a:ext cx="2438400" cy="1143000"/>
          </a:xfrm>
          <a:prstGeom prst="rect">
            <a:avLst/>
          </a:prstGeom>
          <a:noFill/>
        </p:spPr>
        <p:txBody>
          <a:bodyPr wrap="square" lIns="0" rIns="0" tIns="0" bIns="0" anchor="t">
            <a:noAutofit/>
          </a:bodyPr>
          <a:lstStyle/>
          <a:p>
            <a:pPr algn="l">
              <a:lnSpc>
                <a:spcPct val="100000"/>
              </a:lnSpc>
              <a:spcAft>
                <a:spcPts val="0"/>
              </a:spcAft>
            </a:pPr>
            <a:r>
              <a:rPr sz="2000" b="1">
                <a:solidFill>
                  <a:srgbClr val="111111"/>
                </a:solidFill>
                <a:latin typeface="Google Sans Flex"/>
              </a:rPr>
              <a:t>~40 s</a:t>
            </a:r>
            <a:r>
              <a:rPr sz="1000" b="0">
                <a:solidFill>
                  <a:srgbClr val="111111"/>
                </a:solidFill>
                <a:latin typeface="Google Sans Flex SemiBold"/>
              </a:rPr>
              <a:t>  per audit</a:t>
            </a:r>
          </a:p>
          <a:p>
            <a:pPr algn="l">
              <a:lnSpc>
                <a:spcPct val="100000"/>
              </a:lnSpc>
              <a:spcAft>
                <a:spcPts val="0"/>
              </a:spcAft>
            </a:pPr>
            <a:r>
              <a:rPr sz="850" b="0">
                <a:solidFill>
                  <a:srgbClr val="5F6368"/>
                </a:solidFill>
                <a:latin typeface="Google Sans Flex"/>
              </a:rPr>
              <a:t>2.5 Pro and 3.1 Pro also scored 9/9 but took 49 s and 58 s, so Flash runs both tiers.</a:t>
            </a:r>
          </a:p>
        </p:txBody>
      </p:sp>
      <p:sp>
        <p:nvSpPr>
          <p:cNvPr id="167" name="Rounded Rectangle 166"/>
          <p:cNvSpPr/>
          <p:nvPr/>
        </p:nvSpPr>
        <p:spPr>
          <a:xfrm>
            <a:off x="320040" y="4425696"/>
            <a:ext cx="8503920" cy="384048"/>
          </a:xfrm>
          <a:prstGeom prst="roundRect">
            <a:avLst>
              <a:gd name="adj" fmla="val 23809"/>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502920" y="4425696"/>
            <a:ext cx="8138160" cy="384048"/>
          </a:xfrm>
          <a:prstGeom prst="rect">
            <a:avLst/>
          </a:prstGeom>
          <a:noFill/>
        </p:spPr>
        <p:txBody>
          <a:bodyPr wrap="square" lIns="0" rIns="0" tIns="0" bIns="0" anchor="ctr">
            <a:noAutofit/>
          </a:bodyPr>
          <a:lstStyle/>
          <a:p>
            <a:pPr algn="ctr">
              <a:lnSpc>
                <a:spcPct val="100000"/>
              </a:lnSpc>
              <a:spcAft>
                <a:spcPts val="0"/>
              </a:spcAft>
            </a:pPr>
            <a:r>
              <a:rPr sz="950" b="1">
                <a:solidFill>
                  <a:srgbClr val="C6F432"/>
                </a:solidFill>
                <a:latin typeface="Google Sans Flex"/>
              </a:rPr>
              <a:t>Also tested:  </a:t>
            </a:r>
            <a:r>
              <a:rPr sz="950" b="0">
                <a:solidFill>
                  <a:srgbClr val="FFFFFF"/>
                </a:solidFill>
                <a:latin typeface="Google Sans Flex"/>
              </a:rPr>
              <a:t>137 backend tests · every live event validated against the API contract · end-to-end pre-flight on production: 6/6</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59"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ounded Rectangle 152"/>
          <p:cNvSpPr/>
          <p:nvPr/>
        </p:nvSpPr>
        <p:spPr>
          <a:xfrm>
            <a:off x="320040"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493776"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466344" y="1435607"/>
            <a:ext cx="475488" cy="475488"/>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6" name="Picture 155" descr="l-key-round-ink.png"/>
          <p:cNvPicPr>
            <a:picLocks noChangeAspect="1"/>
          </p:cNvPicPr>
          <p:nvPr/>
        </p:nvPicPr>
        <p:blipFill>
          <a:blip r:embed="rId5"/>
          <a:stretch>
            <a:fillRect/>
          </a:stretch>
        </p:blipFill>
        <p:spPr>
          <a:xfrm>
            <a:off x="561441" y="1530705"/>
            <a:ext cx="285292" cy="285292"/>
          </a:xfrm>
          <a:prstGeom prst="rect">
            <a:avLst/>
          </a:prstGeom>
        </p:spPr>
      </p:pic>
      <p:sp>
        <p:nvSpPr>
          <p:cNvPr id="157" name="Rounded Rectangle 156"/>
          <p:cNvSpPr/>
          <p:nvPr/>
        </p:nvSpPr>
        <p:spPr>
          <a:xfrm>
            <a:off x="2331720" y="1463039"/>
            <a:ext cx="56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NEXT</a:t>
            </a:r>
          </a:p>
        </p:txBody>
      </p:sp>
      <p:sp>
        <p:nvSpPr>
          <p:cNvPr id="158" name="TextBox 157"/>
          <p:cNvSpPr txBox="1"/>
          <p:nvPr/>
        </p:nvSpPr>
        <p:spPr>
          <a:xfrm>
            <a:off x="466344"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Bring your own key</a:t>
            </a:r>
          </a:p>
        </p:txBody>
      </p:sp>
      <p:sp>
        <p:nvSpPr>
          <p:cNvPr id="159" name="TextBox 158"/>
          <p:cNvSpPr txBox="1"/>
          <p:nvPr/>
        </p:nvSpPr>
        <p:spPr>
          <a:xfrm>
            <a:off x="466344"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Live audits on your own Gemini or Claude key, used for one run and never stored.</a:t>
            </a:r>
          </a:p>
        </p:txBody>
      </p:sp>
      <p:sp>
        <p:nvSpPr>
          <p:cNvPr id="160" name="Rounded Rectangle 159"/>
          <p:cNvSpPr/>
          <p:nvPr/>
        </p:nvSpPr>
        <p:spPr>
          <a:xfrm>
            <a:off x="3255264"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ounded Rectangle 160"/>
          <p:cNvSpPr/>
          <p:nvPr/>
        </p:nvSpPr>
        <p:spPr>
          <a:xfrm>
            <a:off x="3209544"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ounded Rectangle 161"/>
          <p:cNvSpPr/>
          <p:nvPr/>
        </p:nvSpPr>
        <p:spPr>
          <a:xfrm>
            <a:off x="3383280"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3355848" y="1435607"/>
            <a:ext cx="475488" cy="475488"/>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4" name="Picture 163" descr="l-log-in-ink.png"/>
          <p:cNvPicPr>
            <a:picLocks noChangeAspect="1"/>
          </p:cNvPicPr>
          <p:nvPr/>
        </p:nvPicPr>
        <p:blipFill>
          <a:blip r:embed="rId6"/>
          <a:stretch>
            <a:fillRect/>
          </a:stretch>
        </p:blipFill>
        <p:spPr>
          <a:xfrm>
            <a:off x="3450945" y="1530705"/>
            <a:ext cx="285292" cy="285292"/>
          </a:xfrm>
          <a:prstGeom prst="rect">
            <a:avLst/>
          </a:prstGeom>
        </p:spPr>
      </p:pic>
      <p:sp>
        <p:nvSpPr>
          <p:cNvPr id="165" name="Rounded Rectangle 164"/>
          <p:cNvSpPr/>
          <p:nvPr/>
        </p:nvSpPr>
        <p:spPr>
          <a:xfrm>
            <a:off x="5221224" y="1463039"/>
            <a:ext cx="56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NEXT</a:t>
            </a:r>
          </a:p>
        </p:txBody>
      </p:sp>
      <p:sp>
        <p:nvSpPr>
          <p:cNvPr id="166" name="TextBox 165"/>
          <p:cNvSpPr txBox="1"/>
          <p:nvPr/>
        </p:nvSpPr>
        <p:spPr>
          <a:xfrm>
            <a:off x="3355848"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Logged-in journeys</a:t>
            </a:r>
          </a:p>
        </p:txBody>
      </p:sp>
      <p:sp>
        <p:nvSpPr>
          <p:cNvPr id="167" name="TextBox 166"/>
          <p:cNvSpPr txBox="1"/>
          <p:nvPr/>
        </p:nvSpPr>
        <p:spPr>
          <a:xfrm>
            <a:off x="3355848"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Test accounts in Secret Manager, so checkout and payment on real stores get audited too.</a:t>
            </a:r>
          </a:p>
        </p:txBody>
      </p:sp>
      <p:sp>
        <p:nvSpPr>
          <p:cNvPr id="168" name="Rounded Rectangle 167"/>
          <p:cNvSpPr/>
          <p:nvPr/>
        </p:nvSpPr>
        <p:spPr>
          <a:xfrm>
            <a:off x="6144768"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ounded Rectangle 168"/>
          <p:cNvSpPr/>
          <p:nvPr/>
        </p:nvSpPr>
        <p:spPr>
          <a:xfrm>
            <a:off x="6099048"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ounded Rectangle 169"/>
          <p:cNvSpPr/>
          <p:nvPr/>
        </p:nvSpPr>
        <p:spPr>
          <a:xfrm>
            <a:off x="6272784"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6245352" y="1435607"/>
            <a:ext cx="475488" cy="475488"/>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2" name="Picture 171" descr="l-calendar-clock-ink.png"/>
          <p:cNvPicPr>
            <a:picLocks noChangeAspect="1"/>
          </p:cNvPicPr>
          <p:nvPr/>
        </p:nvPicPr>
        <p:blipFill>
          <a:blip r:embed="rId7"/>
          <a:stretch>
            <a:fillRect/>
          </a:stretch>
        </p:blipFill>
        <p:spPr>
          <a:xfrm>
            <a:off x="6340449" y="1530705"/>
            <a:ext cx="285292" cy="285292"/>
          </a:xfrm>
          <a:prstGeom prst="rect">
            <a:avLst/>
          </a:prstGeom>
        </p:spPr>
      </p:pic>
      <p:sp>
        <p:nvSpPr>
          <p:cNvPr id="173" name="Rounded Rectangle 172"/>
          <p:cNvSpPr/>
          <p:nvPr/>
        </p:nvSpPr>
        <p:spPr>
          <a:xfrm>
            <a:off x="8110728" y="1463039"/>
            <a:ext cx="56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NEXT</a:t>
            </a:r>
          </a:p>
        </p:txBody>
      </p:sp>
      <p:sp>
        <p:nvSpPr>
          <p:cNvPr id="174" name="TextBox 173"/>
          <p:cNvSpPr txBox="1"/>
          <p:nvPr/>
        </p:nvSpPr>
        <p:spPr>
          <a:xfrm>
            <a:off x="6245352"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Scheduled monitoring</a:t>
            </a:r>
          </a:p>
        </p:txBody>
      </p:sp>
      <p:sp>
        <p:nvSpPr>
          <p:cNvPr id="175" name="TextBox 174"/>
          <p:cNvSpPr txBox="1"/>
          <p:nvPr/>
        </p:nvSpPr>
        <p:spPr>
          <a:xfrm>
            <a:off x="6245352"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Nightly audits with Cloud Scheduler; an alert the day a store adds a new trick.</a:t>
            </a:r>
          </a:p>
        </p:txBody>
      </p:sp>
      <p:sp>
        <p:nvSpPr>
          <p:cNvPr id="176" name="Rounded Rectangle 175"/>
          <p:cNvSpPr/>
          <p:nvPr/>
        </p:nvSpPr>
        <p:spPr>
          <a:xfrm>
            <a:off x="365759"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ounded Rectangle 176"/>
          <p:cNvSpPr/>
          <p:nvPr/>
        </p:nvSpPr>
        <p:spPr>
          <a:xfrm>
            <a:off x="320040"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ounded Rectangle 177"/>
          <p:cNvSpPr/>
          <p:nvPr/>
        </p:nvSpPr>
        <p:spPr>
          <a:xfrm>
            <a:off x="493776"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ounded Rectangle 178"/>
          <p:cNvSpPr/>
          <p:nvPr/>
        </p:nvSpPr>
        <p:spPr>
          <a:xfrm>
            <a:off x="466344" y="3246120"/>
            <a:ext cx="475488" cy="475488"/>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0" name="Picture 179" descr="l-puzzle-ink.png"/>
          <p:cNvPicPr>
            <a:picLocks noChangeAspect="1"/>
          </p:cNvPicPr>
          <p:nvPr/>
        </p:nvPicPr>
        <p:blipFill>
          <a:blip r:embed="rId8"/>
          <a:stretch>
            <a:fillRect/>
          </a:stretch>
        </p:blipFill>
        <p:spPr>
          <a:xfrm>
            <a:off x="561441" y="3341217"/>
            <a:ext cx="285292" cy="285292"/>
          </a:xfrm>
          <a:prstGeom prst="rect">
            <a:avLst/>
          </a:prstGeom>
        </p:spPr>
      </p:pic>
      <p:sp>
        <p:nvSpPr>
          <p:cNvPr id="181" name="Rounded Rectangle 180"/>
          <p:cNvSpPr/>
          <p:nvPr/>
        </p:nvSpPr>
        <p:spPr>
          <a:xfrm>
            <a:off x="2331720" y="3273552"/>
            <a:ext cx="56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LATER</a:t>
            </a:r>
          </a:p>
        </p:txBody>
      </p:sp>
      <p:sp>
        <p:nvSpPr>
          <p:cNvPr id="182" name="TextBox 181"/>
          <p:cNvSpPr txBox="1"/>
          <p:nvPr/>
        </p:nvSpPr>
        <p:spPr>
          <a:xfrm>
            <a:off x="466344"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Shopper extension</a:t>
            </a:r>
          </a:p>
        </p:txBody>
      </p:sp>
      <p:sp>
        <p:nvSpPr>
          <p:cNvPr id="183" name="TextBox 182"/>
          <p:cNvSpPr txBox="1"/>
          <p:nvPr/>
        </p:nvSpPr>
        <p:spPr>
          <a:xfrm>
            <a:off x="466344"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A browser extension that flags tricks while you shop, with the real price.</a:t>
            </a:r>
          </a:p>
        </p:txBody>
      </p:sp>
      <p:sp>
        <p:nvSpPr>
          <p:cNvPr id="184" name="Rounded Rectangle 183"/>
          <p:cNvSpPr/>
          <p:nvPr/>
        </p:nvSpPr>
        <p:spPr>
          <a:xfrm>
            <a:off x="3255264"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ounded Rectangle 184"/>
          <p:cNvSpPr/>
          <p:nvPr/>
        </p:nvSpPr>
        <p:spPr>
          <a:xfrm>
            <a:off x="3209544"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ounded Rectangle 185"/>
          <p:cNvSpPr/>
          <p:nvPr/>
        </p:nvSpPr>
        <p:spPr>
          <a:xfrm>
            <a:off x="3383280"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ounded Rectangle 186"/>
          <p:cNvSpPr/>
          <p:nvPr/>
        </p:nvSpPr>
        <p:spPr>
          <a:xfrm>
            <a:off x="3355848" y="3246120"/>
            <a:ext cx="475488" cy="475488"/>
          </a:xfrm>
          <a:prstGeom prst="roundRect">
            <a:avLst>
              <a:gd name="adj" fmla="val 24000"/>
            </a:avLst>
          </a:prstGeom>
          <a:solidFill>
            <a:srgbClr val="4ADE9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8" name="Picture 187" descr="l-layout-dashboard-ink.png"/>
          <p:cNvPicPr>
            <a:picLocks noChangeAspect="1"/>
          </p:cNvPicPr>
          <p:nvPr/>
        </p:nvPicPr>
        <p:blipFill>
          <a:blip r:embed="rId9"/>
          <a:stretch>
            <a:fillRect/>
          </a:stretch>
        </p:blipFill>
        <p:spPr>
          <a:xfrm>
            <a:off x="3450945" y="3341217"/>
            <a:ext cx="285292" cy="285292"/>
          </a:xfrm>
          <a:prstGeom prst="rect">
            <a:avLst/>
          </a:prstGeom>
        </p:spPr>
      </p:pic>
      <p:sp>
        <p:nvSpPr>
          <p:cNvPr id="189" name="Rounded Rectangle 188"/>
          <p:cNvSpPr/>
          <p:nvPr/>
        </p:nvSpPr>
        <p:spPr>
          <a:xfrm>
            <a:off x="5221224" y="3273552"/>
            <a:ext cx="56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LATER</a:t>
            </a:r>
          </a:p>
        </p:txBody>
      </p:sp>
      <p:sp>
        <p:nvSpPr>
          <p:cNvPr id="190" name="TextBox 189"/>
          <p:cNvSpPr txBox="1"/>
          <p:nvPr/>
        </p:nvSpPr>
        <p:spPr>
          <a:xfrm>
            <a:off x="3355848"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Regulator dashboard</a:t>
            </a:r>
          </a:p>
        </p:txBody>
      </p:sp>
      <p:sp>
        <p:nvSpPr>
          <p:cNvPr id="191" name="TextBox 190"/>
          <p:cNvSpPr txBox="1"/>
          <p:nvPr/>
        </p:nvSpPr>
        <p:spPr>
          <a:xfrm>
            <a:off x="3355848"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BigQuery + Looker Studio trends across platforms, ready for CCPA filings.</a:t>
            </a:r>
          </a:p>
        </p:txBody>
      </p:sp>
      <p:sp>
        <p:nvSpPr>
          <p:cNvPr id="192" name="Rounded Rectangle 191"/>
          <p:cNvSpPr/>
          <p:nvPr/>
        </p:nvSpPr>
        <p:spPr>
          <a:xfrm>
            <a:off x="6144768"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Rounded Rectangle 192"/>
          <p:cNvSpPr/>
          <p:nvPr/>
        </p:nvSpPr>
        <p:spPr>
          <a:xfrm>
            <a:off x="6099048"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ounded Rectangle 193"/>
          <p:cNvSpPr/>
          <p:nvPr/>
        </p:nvSpPr>
        <p:spPr>
          <a:xfrm>
            <a:off x="6272784"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Rounded Rectangle 194"/>
          <p:cNvSpPr/>
          <p:nvPr/>
        </p:nvSpPr>
        <p:spPr>
          <a:xfrm>
            <a:off x="6245352" y="3246120"/>
            <a:ext cx="475488" cy="475488"/>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6" name="Picture 195" descr="l-languages-ink.png"/>
          <p:cNvPicPr>
            <a:picLocks noChangeAspect="1"/>
          </p:cNvPicPr>
          <p:nvPr/>
        </p:nvPicPr>
        <p:blipFill>
          <a:blip r:embed="rId10"/>
          <a:stretch>
            <a:fillRect/>
          </a:stretch>
        </p:blipFill>
        <p:spPr>
          <a:xfrm>
            <a:off x="6340449" y="3341217"/>
            <a:ext cx="285292" cy="285292"/>
          </a:xfrm>
          <a:prstGeom prst="rect">
            <a:avLst/>
          </a:prstGeom>
        </p:spPr>
      </p:pic>
      <p:sp>
        <p:nvSpPr>
          <p:cNvPr id="197" name="Rounded Rectangle 196"/>
          <p:cNvSpPr/>
          <p:nvPr/>
        </p:nvSpPr>
        <p:spPr>
          <a:xfrm>
            <a:off x="8110728" y="3273552"/>
            <a:ext cx="56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LATER</a:t>
            </a:r>
          </a:p>
        </p:txBody>
      </p:sp>
      <p:sp>
        <p:nvSpPr>
          <p:cNvPr id="198" name="TextBox 197"/>
          <p:cNvSpPr txBox="1"/>
          <p:nvPr/>
        </p:nvSpPr>
        <p:spPr>
          <a:xfrm>
            <a:off x="6245352"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Apps &amp; Indian languages</a:t>
            </a:r>
          </a:p>
        </p:txBody>
      </p:sp>
      <p:sp>
        <p:nvSpPr>
          <p:cNvPr id="199" name="TextBox 198"/>
          <p:cNvSpPr txBox="1"/>
          <p:nvPr/>
        </p:nvSpPr>
        <p:spPr>
          <a:xfrm>
            <a:off x="6245352"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Mobile app journeys, and pages in Hindi and other Indian languages.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65759" y="1344168"/>
            <a:ext cx="2682240" cy="3474720"/>
          </a:xfrm>
          <a:prstGeom prst="roundRect">
            <a:avLst>
              <a:gd name="adj" fmla="val 477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ounded Rectangle 160"/>
          <p:cNvSpPr/>
          <p:nvPr/>
        </p:nvSpPr>
        <p:spPr>
          <a:xfrm>
            <a:off x="320040" y="1298448"/>
            <a:ext cx="2682240" cy="3474720"/>
          </a:xfrm>
          <a:prstGeom prst="roundRect">
            <a:avLst>
              <a:gd name="adj" fmla="val 4772"/>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ounded Rectangle 161"/>
          <p:cNvSpPr/>
          <p:nvPr/>
        </p:nvSpPr>
        <p:spPr>
          <a:xfrm>
            <a:off x="320040" y="1298448"/>
            <a:ext cx="2682240" cy="685800"/>
          </a:xfrm>
          <a:prstGeom prst="roundRect">
            <a:avLst>
              <a:gd name="adj" fmla="val 18666"/>
            </a:avLst>
          </a:prstGeom>
          <a:solidFill>
            <a:srgbClr val="C4B5FD"/>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329184" y="1737360"/>
            <a:ext cx="2663952" cy="246888"/>
          </a:xfrm>
          <a:prstGeom prst="rect">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4" name="Connector 163"/>
          <p:cNvCxnSpPr/>
          <p:nvPr/>
        </p:nvCxnSpPr>
        <p:spPr>
          <a:xfrm>
            <a:off x="320040" y="1984248"/>
            <a:ext cx="268224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pic>
        <p:nvPicPr>
          <p:cNvPr id="165" name="Picture 164" descr="s-github.png"/>
          <p:cNvPicPr>
            <a:picLocks noChangeAspect="1"/>
          </p:cNvPicPr>
          <p:nvPr/>
        </p:nvPicPr>
        <p:blipFill>
          <a:blip r:embed="rId5"/>
          <a:stretch>
            <a:fillRect/>
          </a:stretch>
        </p:blipFill>
        <p:spPr>
          <a:xfrm>
            <a:off x="484632" y="1463040"/>
            <a:ext cx="365760" cy="365760"/>
          </a:xfrm>
          <a:prstGeom prst="rect">
            <a:avLst/>
          </a:prstGeom>
        </p:spPr>
      </p:pic>
      <p:sp>
        <p:nvSpPr>
          <p:cNvPr id="166" name="TextBox 165"/>
          <p:cNvSpPr txBox="1"/>
          <p:nvPr/>
        </p:nvSpPr>
        <p:spPr>
          <a:xfrm>
            <a:off x="960119" y="1298448"/>
            <a:ext cx="1950720" cy="685800"/>
          </a:xfrm>
          <a:prstGeom prst="rect">
            <a:avLst/>
          </a:prstGeom>
          <a:noFill/>
        </p:spPr>
        <p:txBody>
          <a:bodyPr wrap="square" lIns="0" rIns="0" tIns="0" bIns="0" anchor="ctr">
            <a:noAutofit/>
          </a:bodyPr>
          <a:lstStyle/>
          <a:p>
            <a:pPr algn="l">
              <a:lnSpc>
                <a:spcPct val="100000"/>
              </a:lnSpc>
              <a:spcAft>
                <a:spcPts val="0"/>
              </a:spcAft>
            </a:pPr>
            <a:r>
              <a:rPr sz="1100" b="1">
                <a:solidFill>
                  <a:srgbClr val="111111"/>
                </a:solidFill>
                <a:latin typeface="Google Sans Flex"/>
              </a:rPr>
              <a:t>GitHub Public Repository</a:t>
            </a:r>
          </a:p>
        </p:txBody>
      </p:sp>
      <p:pic>
        <p:nvPicPr>
          <p:cNvPr id="167" name="Picture 166" descr="QR code for https://github.com/saubhagyaashish/shop-honest"/>
          <p:cNvPicPr>
            <a:picLocks noChangeAspect="1"/>
          </p:cNvPicPr>
          <p:nvPr/>
        </p:nvPicPr>
        <p:blipFill>
          <a:blip r:embed="rId6"/>
          <a:stretch>
            <a:fillRect/>
          </a:stretch>
        </p:blipFill>
        <p:spPr>
          <a:xfrm>
            <a:off x="883920" y="2176272"/>
            <a:ext cx="1554480" cy="1554480"/>
          </a:xfrm>
          <a:prstGeom prst="rect">
            <a:avLst/>
          </a:prstGeom>
        </p:spPr>
      </p:pic>
      <p:sp>
        <p:nvSpPr>
          <p:cNvPr id="168" name="TextBox 167"/>
          <p:cNvSpPr txBox="1"/>
          <p:nvPr/>
        </p:nvSpPr>
        <p:spPr>
          <a:xfrm>
            <a:off x="429768" y="3840480"/>
            <a:ext cx="2462784" cy="411480"/>
          </a:xfrm>
          <a:prstGeom prst="rect">
            <a:avLst/>
          </a:prstGeom>
          <a:noFill/>
        </p:spPr>
        <p:txBody>
          <a:bodyPr wrap="square" lIns="0" rIns="0" tIns="0" bIns="0" anchor="ctr">
            <a:noAutofit/>
          </a:bodyPr>
          <a:lstStyle/>
          <a:p>
            <a:pPr algn="ctr">
              <a:lnSpc>
                <a:spcPct val="100000"/>
              </a:lnSpc>
              <a:spcAft>
                <a:spcPts val="0"/>
              </a:spcAft>
            </a:pPr>
            <a:r>
              <a:rPr sz="1000" b="0">
                <a:solidFill>
                  <a:srgbClr val="3B5BFF"/>
                </a:solidFill>
                <a:latin typeface="Google Sans Flex SemiBold"/>
                <a:hlinkClick r:id="rId7"/>
              </a:rPr>
              <a:t>github.com/saubhagyaashish/</a:t>
            </a:r>
          </a:p>
          <a:p>
            <a:pPr algn="ctr">
              <a:lnSpc>
                <a:spcPct val="100000"/>
              </a:lnSpc>
              <a:spcAft>
                <a:spcPts val="0"/>
              </a:spcAft>
            </a:pPr>
            <a:r>
              <a:rPr sz="1000" b="0">
                <a:solidFill>
                  <a:srgbClr val="3B5BFF"/>
                </a:solidFill>
                <a:latin typeface="Google Sans Flex SemiBold"/>
                <a:hlinkClick r:id="rId7"/>
              </a:rPr>
              <a:t>shop-honest</a:t>
            </a:r>
          </a:p>
        </p:txBody>
      </p:sp>
      <p:sp>
        <p:nvSpPr>
          <p:cNvPr id="169" name="TextBox 168"/>
          <p:cNvSpPr txBox="1"/>
          <p:nvPr/>
        </p:nvSpPr>
        <p:spPr>
          <a:xfrm>
            <a:off x="429768" y="4297680"/>
            <a:ext cx="2462784" cy="274320"/>
          </a:xfrm>
          <a:prstGeom prst="rect">
            <a:avLst/>
          </a:prstGeom>
          <a:noFill/>
        </p:spPr>
        <p:txBody>
          <a:bodyPr wrap="square" lIns="0" rIns="0" tIns="0" bIns="0" anchor="t">
            <a:noAutofit/>
          </a:bodyPr>
          <a:lstStyle/>
          <a:p>
            <a:pPr algn="ctr">
              <a:lnSpc>
                <a:spcPct val="100000"/>
              </a:lnSpc>
              <a:spcAft>
                <a:spcPts val="0"/>
              </a:spcAft>
            </a:pPr>
            <a:r>
              <a:rPr sz="900" b="0">
                <a:solidFill>
                  <a:srgbClr val="5F6368"/>
                </a:solidFill>
                <a:latin typeface="Google Sans Flex Medium"/>
              </a:rPr>
              <a:t>Code, docs, design decisions and evals</a:t>
            </a:r>
          </a:p>
        </p:txBody>
      </p:sp>
      <p:sp>
        <p:nvSpPr>
          <p:cNvPr id="170" name="Rounded Rectangle 169"/>
          <p:cNvSpPr/>
          <p:nvPr/>
        </p:nvSpPr>
        <p:spPr>
          <a:xfrm>
            <a:off x="3276600" y="1344168"/>
            <a:ext cx="2682240" cy="3474720"/>
          </a:xfrm>
          <a:prstGeom prst="roundRect">
            <a:avLst>
              <a:gd name="adj" fmla="val 477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3230880" y="1298448"/>
            <a:ext cx="2682240" cy="3474720"/>
          </a:xfrm>
          <a:prstGeom prst="roundRect">
            <a:avLst>
              <a:gd name="adj" fmla="val 4772"/>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ounded Rectangle 171"/>
          <p:cNvSpPr/>
          <p:nvPr/>
        </p:nvSpPr>
        <p:spPr>
          <a:xfrm>
            <a:off x="3230880" y="1298448"/>
            <a:ext cx="2682240" cy="685800"/>
          </a:xfrm>
          <a:prstGeom prst="roundRect">
            <a:avLst>
              <a:gd name="adj" fmla="val 18666"/>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3240024" y="1737360"/>
            <a:ext cx="2663952" cy="246888"/>
          </a:xfrm>
          <a:prstGeom prst="rect">
            <a:avLst/>
          </a:prstGeom>
          <a:solidFill>
            <a:srgbClr val="FFD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74" name="Connector 173"/>
          <p:cNvCxnSpPr/>
          <p:nvPr/>
        </p:nvCxnSpPr>
        <p:spPr>
          <a:xfrm>
            <a:off x="3230880" y="1984248"/>
            <a:ext cx="268224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pic>
        <p:nvPicPr>
          <p:cNvPr id="175" name="Picture 174" descr="s-youtube.png"/>
          <p:cNvPicPr>
            <a:picLocks noChangeAspect="1"/>
          </p:cNvPicPr>
          <p:nvPr/>
        </p:nvPicPr>
        <p:blipFill>
          <a:blip r:embed="rId8"/>
          <a:stretch>
            <a:fillRect/>
          </a:stretch>
        </p:blipFill>
        <p:spPr>
          <a:xfrm>
            <a:off x="3395472" y="1463040"/>
            <a:ext cx="365760" cy="365760"/>
          </a:xfrm>
          <a:prstGeom prst="rect">
            <a:avLst/>
          </a:prstGeom>
        </p:spPr>
      </p:pic>
      <p:sp>
        <p:nvSpPr>
          <p:cNvPr id="176" name="TextBox 175"/>
          <p:cNvSpPr txBox="1"/>
          <p:nvPr/>
        </p:nvSpPr>
        <p:spPr>
          <a:xfrm>
            <a:off x="3870960" y="1298448"/>
            <a:ext cx="1950720" cy="685800"/>
          </a:xfrm>
          <a:prstGeom prst="rect">
            <a:avLst/>
          </a:prstGeom>
          <a:noFill/>
        </p:spPr>
        <p:txBody>
          <a:bodyPr wrap="square" lIns="0" rIns="0" tIns="0" bIns="0" anchor="ctr">
            <a:noAutofit/>
          </a:bodyPr>
          <a:lstStyle/>
          <a:p>
            <a:pPr algn="l">
              <a:lnSpc>
                <a:spcPct val="100000"/>
              </a:lnSpc>
              <a:spcAft>
                <a:spcPts val="0"/>
              </a:spcAft>
            </a:pPr>
            <a:r>
              <a:rPr sz="1100" b="1">
                <a:solidFill>
                  <a:srgbClr val="111111"/>
                </a:solidFill>
                <a:latin typeface="Google Sans Flex"/>
              </a:rPr>
              <a:t>Demo Video Link (3 Minutes)</a:t>
            </a:r>
          </a:p>
        </p:txBody>
      </p:sp>
      <p:sp>
        <p:nvSpPr>
          <p:cNvPr id="177" name="Rounded Rectangle 176"/>
          <p:cNvSpPr/>
          <p:nvPr/>
        </p:nvSpPr>
        <p:spPr>
          <a:xfrm>
            <a:off x="3794760" y="2176272"/>
            <a:ext cx="1554480" cy="1554480"/>
          </a:xfrm>
          <a:prstGeom prst="roundRect">
            <a:avLst>
              <a:gd name="adj" fmla="val 5882"/>
            </a:avLst>
          </a:prstGeom>
          <a:solidFill>
            <a:srgbClr val="FFF8EC"/>
          </a:solidFill>
          <a:ln w="15875">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8" name="Picture 177" descr="l-play-ink.png"/>
          <p:cNvPicPr>
            <a:picLocks noChangeAspect="1"/>
          </p:cNvPicPr>
          <p:nvPr/>
        </p:nvPicPr>
        <p:blipFill>
          <a:blip r:embed="rId9"/>
          <a:stretch>
            <a:fillRect/>
          </a:stretch>
        </p:blipFill>
        <p:spPr>
          <a:xfrm>
            <a:off x="4297680" y="2679192"/>
            <a:ext cx="548640" cy="548640"/>
          </a:xfrm>
          <a:prstGeom prst="rect">
            <a:avLst/>
          </a:prstGeom>
        </p:spPr>
      </p:pic>
      <p:sp>
        <p:nvSpPr>
          <p:cNvPr id="179" name="TextBox 178"/>
          <p:cNvSpPr txBox="1"/>
          <p:nvPr/>
        </p:nvSpPr>
        <p:spPr>
          <a:xfrm>
            <a:off x="3340608" y="3840480"/>
            <a:ext cx="2462784" cy="411480"/>
          </a:xfrm>
          <a:prstGeom prst="rect">
            <a:avLst/>
          </a:prstGeom>
          <a:noFill/>
        </p:spPr>
        <p:txBody>
          <a:bodyPr wrap="square" lIns="0" rIns="0" tIns="0" bIns="0" anchor="ctr">
            <a:noAutofit/>
          </a:bodyPr>
          <a:lstStyle/>
          <a:p>
            <a:pPr algn="ctr">
              <a:lnSpc>
                <a:spcPct val="100000"/>
              </a:lnSpc>
              <a:spcAft>
                <a:spcPts val="0"/>
              </a:spcAft>
            </a:pPr>
            <a:r>
              <a:rPr sz="1000" b="0">
                <a:solidFill>
                  <a:srgbClr val="5F6368"/>
                </a:solidFill>
                <a:latin typeface="Google Sans Flex SemiBold"/>
              </a:rPr>
              <a:t>add the video link here</a:t>
            </a:r>
          </a:p>
        </p:txBody>
      </p:sp>
      <p:sp>
        <p:nvSpPr>
          <p:cNvPr id="180" name="TextBox 179"/>
          <p:cNvSpPr txBox="1"/>
          <p:nvPr/>
        </p:nvSpPr>
        <p:spPr>
          <a:xfrm>
            <a:off x="3340608" y="4297680"/>
            <a:ext cx="2462784" cy="274320"/>
          </a:xfrm>
          <a:prstGeom prst="rect">
            <a:avLst/>
          </a:prstGeom>
          <a:noFill/>
        </p:spPr>
        <p:txBody>
          <a:bodyPr wrap="square" lIns="0" rIns="0" tIns="0" bIns="0" anchor="t">
            <a:noAutofit/>
          </a:bodyPr>
          <a:lstStyle/>
          <a:p>
            <a:pPr algn="ctr">
              <a:lnSpc>
                <a:spcPct val="100000"/>
              </a:lnSpc>
              <a:spcAft>
                <a:spcPts val="0"/>
              </a:spcAft>
            </a:pPr>
            <a:r>
              <a:rPr sz="900" b="0">
                <a:solidFill>
                  <a:srgbClr val="5F6368"/>
                </a:solidFill>
                <a:latin typeface="Google Sans Flex Medium"/>
              </a:rPr>
              <a:t>A 3-minute walkthrough</a:t>
            </a:r>
          </a:p>
        </p:txBody>
      </p:sp>
      <p:sp>
        <p:nvSpPr>
          <p:cNvPr id="181" name="Rounded Rectangle 180"/>
          <p:cNvSpPr/>
          <p:nvPr/>
        </p:nvSpPr>
        <p:spPr>
          <a:xfrm>
            <a:off x="6187440" y="1344168"/>
            <a:ext cx="2682240" cy="3474720"/>
          </a:xfrm>
          <a:prstGeom prst="roundRect">
            <a:avLst>
              <a:gd name="adj" fmla="val 477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ounded Rectangle 181"/>
          <p:cNvSpPr/>
          <p:nvPr/>
        </p:nvSpPr>
        <p:spPr>
          <a:xfrm>
            <a:off x="6141720" y="1298448"/>
            <a:ext cx="2682240" cy="3474720"/>
          </a:xfrm>
          <a:prstGeom prst="roundRect">
            <a:avLst>
              <a:gd name="adj" fmla="val 4772"/>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ounded Rectangle 182"/>
          <p:cNvSpPr/>
          <p:nvPr/>
        </p:nvSpPr>
        <p:spPr>
          <a:xfrm>
            <a:off x="6141720" y="1298448"/>
            <a:ext cx="2682240" cy="685800"/>
          </a:xfrm>
          <a:prstGeom prst="roundRect">
            <a:avLst>
              <a:gd name="adj" fmla="val 18666"/>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6150864" y="1737360"/>
            <a:ext cx="2663952" cy="246888"/>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5" name="Connector 184"/>
          <p:cNvCxnSpPr/>
          <p:nvPr/>
        </p:nvCxnSpPr>
        <p:spPr>
          <a:xfrm>
            <a:off x="6141720" y="1984248"/>
            <a:ext cx="268224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pic>
        <p:nvPicPr>
          <p:cNvPr id="186" name="Picture 185" descr="l-globe-ink.png"/>
          <p:cNvPicPr>
            <a:picLocks noChangeAspect="1"/>
          </p:cNvPicPr>
          <p:nvPr/>
        </p:nvPicPr>
        <p:blipFill>
          <a:blip r:embed="rId10"/>
          <a:stretch>
            <a:fillRect/>
          </a:stretch>
        </p:blipFill>
        <p:spPr>
          <a:xfrm>
            <a:off x="6306312" y="1463040"/>
            <a:ext cx="365760" cy="365760"/>
          </a:xfrm>
          <a:prstGeom prst="rect">
            <a:avLst/>
          </a:prstGeom>
        </p:spPr>
      </p:pic>
      <p:sp>
        <p:nvSpPr>
          <p:cNvPr id="187" name="TextBox 186"/>
          <p:cNvSpPr txBox="1"/>
          <p:nvPr/>
        </p:nvSpPr>
        <p:spPr>
          <a:xfrm>
            <a:off x="6781800" y="1298448"/>
            <a:ext cx="1950720" cy="685800"/>
          </a:xfrm>
          <a:prstGeom prst="rect">
            <a:avLst/>
          </a:prstGeom>
          <a:noFill/>
        </p:spPr>
        <p:txBody>
          <a:bodyPr wrap="square" lIns="0" rIns="0" tIns="0" bIns="0" anchor="ctr">
            <a:noAutofit/>
          </a:bodyPr>
          <a:lstStyle/>
          <a:p>
            <a:pPr algn="l">
              <a:lnSpc>
                <a:spcPct val="100000"/>
              </a:lnSpc>
              <a:spcAft>
                <a:spcPts val="0"/>
              </a:spcAft>
            </a:pPr>
            <a:r>
              <a:rPr sz="1100" b="1">
                <a:solidFill>
                  <a:srgbClr val="111111"/>
                </a:solidFill>
                <a:latin typeface="Google Sans Flex"/>
              </a:rPr>
              <a:t>Final Product Link</a:t>
            </a:r>
          </a:p>
        </p:txBody>
      </p:sp>
      <p:pic>
        <p:nvPicPr>
          <p:cNvPr id="188" name="Picture 187" descr="QR code for https://shop-honest-ai.web.app"/>
          <p:cNvPicPr>
            <a:picLocks noChangeAspect="1"/>
          </p:cNvPicPr>
          <p:nvPr/>
        </p:nvPicPr>
        <p:blipFill>
          <a:blip r:embed="rId11"/>
          <a:stretch>
            <a:fillRect/>
          </a:stretch>
        </p:blipFill>
        <p:spPr>
          <a:xfrm>
            <a:off x="6705600" y="2176272"/>
            <a:ext cx="1554480" cy="1554480"/>
          </a:xfrm>
          <a:prstGeom prst="rect">
            <a:avLst/>
          </a:prstGeom>
        </p:spPr>
      </p:pic>
      <p:sp>
        <p:nvSpPr>
          <p:cNvPr id="189" name="TextBox 188"/>
          <p:cNvSpPr txBox="1"/>
          <p:nvPr/>
        </p:nvSpPr>
        <p:spPr>
          <a:xfrm>
            <a:off x="6251448" y="3840480"/>
            <a:ext cx="2462784" cy="411480"/>
          </a:xfrm>
          <a:prstGeom prst="rect">
            <a:avLst/>
          </a:prstGeom>
          <a:noFill/>
        </p:spPr>
        <p:txBody>
          <a:bodyPr wrap="square" lIns="0" rIns="0" tIns="0" bIns="0" anchor="ctr">
            <a:noAutofit/>
          </a:bodyPr>
          <a:lstStyle/>
          <a:p>
            <a:pPr algn="ctr">
              <a:lnSpc>
                <a:spcPct val="100000"/>
              </a:lnSpc>
              <a:spcAft>
                <a:spcPts val="0"/>
              </a:spcAft>
            </a:pPr>
            <a:r>
              <a:rPr sz="1000" b="0">
                <a:solidFill>
                  <a:srgbClr val="3B5BFF"/>
                </a:solidFill>
                <a:latin typeface="Google Sans Flex SemiBold"/>
                <a:hlinkClick r:id="rId12"/>
              </a:rPr>
              <a:t>shop-honest-ai.web.app</a:t>
            </a:r>
          </a:p>
        </p:txBody>
      </p:sp>
      <p:sp>
        <p:nvSpPr>
          <p:cNvPr id="190" name="TextBox 189"/>
          <p:cNvSpPr txBox="1"/>
          <p:nvPr/>
        </p:nvSpPr>
        <p:spPr>
          <a:xfrm>
            <a:off x="6251448" y="4297680"/>
            <a:ext cx="2462784" cy="274320"/>
          </a:xfrm>
          <a:prstGeom prst="rect">
            <a:avLst/>
          </a:prstGeom>
          <a:noFill/>
        </p:spPr>
        <p:txBody>
          <a:bodyPr wrap="square" lIns="0" rIns="0" tIns="0" bIns="0" anchor="t">
            <a:noAutofit/>
          </a:bodyPr>
          <a:lstStyle/>
          <a:p>
            <a:pPr algn="ctr">
              <a:lnSpc>
                <a:spcPct val="100000"/>
              </a:lnSpc>
              <a:spcAft>
                <a:spcPts val="0"/>
              </a:spcAft>
            </a:pPr>
            <a:r>
              <a:rPr sz="900" b="0">
                <a:solidFill>
                  <a:srgbClr val="5F6368"/>
                </a:solidFill>
                <a:latin typeface="Google Sans Flex Medium"/>
              </a:rPr>
              <a:t>Sample stores, live runs and real stores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Responsible by design</a:t>
            </a:r>
            <a:endParaRPr sz="1600">
              <a:latin typeface="Google Sans Flex Medium"/>
              <a:ea typeface="Google Sans Flex Medium"/>
              <a:cs typeface="Google Sans Flex Medium"/>
              <a:sym typeface="Google Sans Flex Medium"/>
            </a:endParaRPr>
          </a:p>
        </p:txBody>
      </p:sp>
      <p:sp>
        <p:nvSpPr>
          <p:cNvPr id="168" name="Rounded Rectangle 167"/>
          <p:cNvSpPr/>
          <p:nvPr/>
        </p:nvSpPr>
        <p:spPr>
          <a:xfrm>
            <a:off x="320040" y="1261872"/>
            <a:ext cx="4160520" cy="3017520"/>
          </a:xfrm>
          <a:prstGeom prst="roundRect">
            <a:avLst>
              <a:gd name="adj" fmla="val 4242"/>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Box 168"/>
          <p:cNvSpPr txBox="1"/>
          <p:nvPr/>
        </p:nvSpPr>
        <p:spPr>
          <a:xfrm>
            <a:off x="548640" y="1389888"/>
            <a:ext cx="3794760" cy="320040"/>
          </a:xfrm>
          <a:prstGeom prst="rect">
            <a:avLst/>
          </a:prstGeom>
          <a:noFill/>
        </p:spPr>
        <p:txBody>
          <a:bodyPr wrap="square" lIns="0" rIns="0" tIns="0" bIns="0" anchor="t">
            <a:noAutofit/>
          </a:bodyPr>
          <a:lstStyle/>
          <a:p>
            <a:pPr algn="l">
              <a:lnSpc>
                <a:spcPct val="100000"/>
              </a:lnSpc>
              <a:spcAft>
                <a:spcPts val="0"/>
              </a:spcAft>
            </a:pPr>
            <a:r>
              <a:rPr sz="1500" b="1">
                <a:solidFill>
                  <a:srgbClr val="FFFFFF"/>
                </a:solidFill>
                <a:latin typeface="Google Sans Flex"/>
              </a:rPr>
              <a:t>The agent will </a:t>
            </a:r>
            <a:r>
              <a:rPr sz="1500" b="1">
                <a:solidFill>
                  <a:srgbClr val="FF5CA8"/>
                </a:solidFill>
                <a:latin typeface="Google Sans Flex"/>
              </a:rPr>
              <a:t>never</a:t>
            </a:r>
          </a:p>
        </p:txBody>
      </p:sp>
      <p:pic>
        <p:nvPicPr>
          <p:cNvPr id="170" name="Picture 169" descr="l-ban-white.png"/>
          <p:cNvPicPr>
            <a:picLocks noChangeAspect="1"/>
          </p:cNvPicPr>
          <p:nvPr/>
        </p:nvPicPr>
        <p:blipFill>
          <a:blip r:embed="rId5"/>
          <a:stretch>
            <a:fillRect/>
          </a:stretch>
        </p:blipFill>
        <p:spPr>
          <a:xfrm>
            <a:off x="576072" y="1865376"/>
            <a:ext cx="274320" cy="274320"/>
          </a:xfrm>
          <a:prstGeom prst="rect">
            <a:avLst/>
          </a:prstGeom>
        </p:spPr>
      </p:pic>
      <p:sp>
        <p:nvSpPr>
          <p:cNvPr id="171" name="TextBox 170"/>
          <p:cNvSpPr txBox="1"/>
          <p:nvPr/>
        </p:nvSpPr>
        <p:spPr>
          <a:xfrm>
            <a:off x="978407" y="18288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Pay, buy now or place an order</a:t>
            </a:r>
          </a:p>
        </p:txBody>
      </p:sp>
      <p:pic>
        <p:nvPicPr>
          <p:cNvPr id="172" name="Picture 171" descr="l-ban-white.png"/>
          <p:cNvPicPr>
            <a:picLocks noChangeAspect="1"/>
          </p:cNvPicPr>
          <p:nvPr/>
        </p:nvPicPr>
        <p:blipFill>
          <a:blip r:embed="rId5"/>
          <a:stretch>
            <a:fillRect/>
          </a:stretch>
        </p:blipFill>
        <p:spPr>
          <a:xfrm>
            <a:off x="576072" y="2322576"/>
            <a:ext cx="274320" cy="274320"/>
          </a:xfrm>
          <a:prstGeom prst="rect">
            <a:avLst/>
          </a:prstGeom>
        </p:spPr>
      </p:pic>
      <p:sp>
        <p:nvSpPr>
          <p:cNvPr id="173" name="TextBox 172"/>
          <p:cNvSpPr txBox="1"/>
          <p:nvPr/>
        </p:nvSpPr>
        <p:spPr>
          <a:xfrm>
            <a:off x="978407" y="22860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Sign in, register or subscribe</a:t>
            </a:r>
          </a:p>
        </p:txBody>
      </p:sp>
      <p:pic>
        <p:nvPicPr>
          <p:cNvPr id="174" name="Picture 173" descr="l-ban-white.png"/>
          <p:cNvPicPr>
            <a:picLocks noChangeAspect="1"/>
          </p:cNvPicPr>
          <p:nvPr/>
        </p:nvPicPr>
        <p:blipFill>
          <a:blip r:embed="rId5"/>
          <a:stretch>
            <a:fillRect/>
          </a:stretch>
        </p:blipFill>
        <p:spPr>
          <a:xfrm>
            <a:off x="576072" y="2779776"/>
            <a:ext cx="274320" cy="274320"/>
          </a:xfrm>
          <a:prstGeom prst="rect">
            <a:avLst/>
          </a:prstGeom>
        </p:spPr>
      </p:pic>
      <p:sp>
        <p:nvSpPr>
          <p:cNvPr id="175" name="TextBox 174"/>
          <p:cNvSpPr txBox="1"/>
          <p:nvPr/>
        </p:nvSpPr>
        <p:spPr>
          <a:xfrm>
            <a:off x="978407" y="27432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Type into any field</a:t>
            </a:r>
          </a:p>
        </p:txBody>
      </p:sp>
      <p:pic>
        <p:nvPicPr>
          <p:cNvPr id="176" name="Picture 175" descr="l-ban-white.png"/>
          <p:cNvPicPr>
            <a:picLocks noChangeAspect="1"/>
          </p:cNvPicPr>
          <p:nvPr/>
        </p:nvPicPr>
        <p:blipFill>
          <a:blip r:embed="rId5"/>
          <a:stretch>
            <a:fillRect/>
          </a:stretch>
        </p:blipFill>
        <p:spPr>
          <a:xfrm>
            <a:off x="576072" y="3236976"/>
            <a:ext cx="274320" cy="274320"/>
          </a:xfrm>
          <a:prstGeom prst="rect">
            <a:avLst/>
          </a:prstGeom>
        </p:spPr>
      </p:pic>
      <p:sp>
        <p:nvSpPr>
          <p:cNvPr id="177" name="TextBox 176"/>
          <p:cNvSpPr txBox="1"/>
          <p:nvPr/>
        </p:nvSpPr>
        <p:spPr>
          <a:xfrm>
            <a:off x="978407" y="32004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Accept cookies or terms (it declines or closes)</a:t>
            </a:r>
          </a:p>
        </p:txBody>
      </p:sp>
      <p:pic>
        <p:nvPicPr>
          <p:cNvPr id="178" name="Picture 177" descr="l-ban-white.png"/>
          <p:cNvPicPr>
            <a:picLocks noChangeAspect="1"/>
          </p:cNvPicPr>
          <p:nvPr/>
        </p:nvPicPr>
        <p:blipFill>
          <a:blip r:embed="rId5"/>
          <a:stretch>
            <a:fillRect/>
          </a:stretch>
        </p:blipFill>
        <p:spPr>
          <a:xfrm>
            <a:off x="576072" y="3694176"/>
            <a:ext cx="274320" cy="274320"/>
          </a:xfrm>
          <a:prstGeom prst="rect">
            <a:avLst/>
          </a:prstGeom>
        </p:spPr>
      </p:pic>
      <p:sp>
        <p:nvSpPr>
          <p:cNvPr id="179" name="TextBox 178"/>
          <p:cNvSpPr txBox="1"/>
          <p:nvPr/>
        </p:nvSpPr>
        <p:spPr>
          <a:xfrm>
            <a:off x="978407" y="36576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Get around a CAPTCHA or bot protection</a:t>
            </a:r>
          </a:p>
        </p:txBody>
      </p:sp>
      <p:sp>
        <p:nvSpPr>
          <p:cNvPr id="180" name="Rounded Rectangle 179"/>
          <p:cNvSpPr/>
          <p:nvPr/>
        </p:nvSpPr>
        <p:spPr>
          <a:xfrm>
            <a:off x="4709160" y="1307592"/>
            <a:ext cx="4160520" cy="3017520"/>
          </a:xfrm>
          <a:prstGeom prst="roundRect">
            <a:avLst>
              <a:gd name="adj" fmla="val 424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ounded Rectangle 180"/>
          <p:cNvSpPr/>
          <p:nvPr/>
        </p:nvSpPr>
        <p:spPr>
          <a:xfrm>
            <a:off x="4663440" y="1261872"/>
            <a:ext cx="4160520" cy="3017520"/>
          </a:xfrm>
          <a:prstGeom prst="roundRect">
            <a:avLst>
              <a:gd name="adj" fmla="val 4242"/>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4892040" y="1389888"/>
            <a:ext cx="3794760" cy="32004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Findings stay honest</a:t>
            </a:r>
          </a:p>
        </p:txBody>
      </p:sp>
      <p:pic>
        <p:nvPicPr>
          <p:cNvPr id="183" name="Picture 182" descr="l-circle-check-ink.png"/>
          <p:cNvPicPr>
            <a:picLocks noChangeAspect="1"/>
          </p:cNvPicPr>
          <p:nvPr/>
        </p:nvPicPr>
        <p:blipFill>
          <a:blip r:embed="rId6"/>
          <a:stretch>
            <a:fillRect/>
          </a:stretch>
        </p:blipFill>
        <p:spPr>
          <a:xfrm>
            <a:off x="4919472" y="1865376"/>
            <a:ext cx="274320" cy="274320"/>
          </a:xfrm>
          <a:prstGeom prst="rect">
            <a:avLst/>
          </a:prstGeom>
        </p:spPr>
      </p:pic>
      <p:sp>
        <p:nvSpPr>
          <p:cNvPr id="184" name="TextBox 183"/>
          <p:cNvSpPr txBox="1"/>
          <p:nvPr/>
        </p:nvSpPr>
        <p:spPr>
          <a:xfrm>
            <a:off x="5321808" y="18288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Grounded: </a:t>
            </a:r>
            <a:r>
              <a:rPr sz="1000" b="0">
                <a:solidFill>
                  <a:srgbClr val="111111"/>
                </a:solidFill>
                <a:latin typeface="Google Sans Flex"/>
              </a:rPr>
              <a:t>every claim must cite an element measured on the page.</a:t>
            </a:r>
          </a:p>
        </p:txBody>
      </p:sp>
      <p:pic>
        <p:nvPicPr>
          <p:cNvPr id="185" name="Picture 184" descr="l-circle-check-ink.png"/>
          <p:cNvPicPr>
            <a:picLocks noChangeAspect="1"/>
          </p:cNvPicPr>
          <p:nvPr/>
        </p:nvPicPr>
        <p:blipFill>
          <a:blip r:embed="rId6"/>
          <a:stretch>
            <a:fillRect/>
          </a:stretch>
        </p:blipFill>
        <p:spPr>
          <a:xfrm>
            <a:off x="4919472" y="2322576"/>
            <a:ext cx="274320" cy="274320"/>
          </a:xfrm>
          <a:prstGeom prst="rect">
            <a:avLst/>
          </a:prstGeom>
        </p:spPr>
      </p:pic>
      <p:sp>
        <p:nvSpPr>
          <p:cNvPr id="186" name="TextBox 185"/>
          <p:cNvSpPr txBox="1"/>
          <p:nvPr/>
        </p:nvSpPr>
        <p:spPr>
          <a:xfrm>
            <a:off x="5321808" y="22860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Double-checked: </a:t>
            </a:r>
            <a:r>
              <a:rPr sz="1000" b="0">
                <a:solidFill>
                  <a:srgbClr val="111111"/>
                </a:solidFill>
                <a:latin typeface="Google Sans Flex"/>
              </a:rPr>
              <a:t>a second Gemini pass on a crop of the evidence.</a:t>
            </a:r>
          </a:p>
        </p:txBody>
      </p:sp>
      <p:pic>
        <p:nvPicPr>
          <p:cNvPr id="187" name="Picture 186" descr="l-circle-check-ink.png"/>
          <p:cNvPicPr>
            <a:picLocks noChangeAspect="1"/>
          </p:cNvPicPr>
          <p:nvPr/>
        </p:nvPicPr>
        <p:blipFill>
          <a:blip r:embed="rId6"/>
          <a:stretch>
            <a:fillRect/>
          </a:stretch>
        </p:blipFill>
        <p:spPr>
          <a:xfrm>
            <a:off x="4919472" y="2779776"/>
            <a:ext cx="274320" cy="274320"/>
          </a:xfrm>
          <a:prstGeom prst="rect">
            <a:avLst/>
          </a:prstGeom>
        </p:spPr>
      </p:pic>
      <p:sp>
        <p:nvSpPr>
          <p:cNvPr id="188" name="TextBox 187"/>
          <p:cNvSpPr txBox="1"/>
          <p:nvPr/>
        </p:nvSpPr>
        <p:spPr>
          <a:xfrm>
            <a:off x="5321808" y="27432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Unsure? Human review, </a:t>
            </a:r>
            <a:r>
              <a:rPr sz="1000" b="0">
                <a:solidFill>
                  <a:srgbClr val="111111"/>
                </a:solidFill>
                <a:latin typeface="Google Sans Flex"/>
              </a:rPr>
              <a:t>never asserted as fact.</a:t>
            </a:r>
          </a:p>
        </p:txBody>
      </p:sp>
      <p:pic>
        <p:nvPicPr>
          <p:cNvPr id="189" name="Picture 188" descr="l-circle-check-ink.png"/>
          <p:cNvPicPr>
            <a:picLocks noChangeAspect="1"/>
          </p:cNvPicPr>
          <p:nvPr/>
        </p:nvPicPr>
        <p:blipFill>
          <a:blip r:embed="rId6"/>
          <a:stretch>
            <a:fillRect/>
          </a:stretch>
        </p:blipFill>
        <p:spPr>
          <a:xfrm>
            <a:off x="4919472" y="3236976"/>
            <a:ext cx="274320" cy="274320"/>
          </a:xfrm>
          <a:prstGeom prst="rect">
            <a:avLst/>
          </a:prstGeom>
        </p:spPr>
      </p:pic>
      <p:sp>
        <p:nvSpPr>
          <p:cNvPr id="190" name="TextBox 189"/>
          <p:cNvSpPr txBox="1"/>
          <p:nvPr/>
        </p:nvSpPr>
        <p:spPr>
          <a:xfrm>
            <a:off x="5321808" y="32004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Real stores: </a:t>
            </a:r>
            <a:r>
              <a:rPr sz="1000" b="0">
                <a:solidFill>
                  <a:srgbClr val="111111"/>
                </a:solidFill>
                <a:latin typeface="Google Sans Flex"/>
              </a:rPr>
              <a:t>layout-based findings go to review; reports say "not a legal finding".</a:t>
            </a:r>
          </a:p>
        </p:txBody>
      </p:sp>
      <p:pic>
        <p:nvPicPr>
          <p:cNvPr id="191" name="Picture 190" descr="l-circle-check-ink.png"/>
          <p:cNvPicPr>
            <a:picLocks noChangeAspect="1"/>
          </p:cNvPicPr>
          <p:nvPr/>
        </p:nvPicPr>
        <p:blipFill>
          <a:blip r:embed="rId6"/>
          <a:stretch>
            <a:fillRect/>
          </a:stretch>
        </p:blipFill>
        <p:spPr>
          <a:xfrm>
            <a:off x="4919472" y="3694176"/>
            <a:ext cx="274320" cy="274320"/>
          </a:xfrm>
          <a:prstGeom prst="rect">
            <a:avLst/>
          </a:prstGeom>
        </p:spPr>
      </p:pic>
      <p:sp>
        <p:nvSpPr>
          <p:cNvPr id="192" name="TextBox 191"/>
          <p:cNvSpPr txBox="1"/>
          <p:nvPr/>
        </p:nvSpPr>
        <p:spPr>
          <a:xfrm>
            <a:off x="5321808" y="36576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Partial audits </a:t>
            </a:r>
            <a:r>
              <a:rPr sz="1000" b="0">
                <a:solidFill>
                  <a:srgbClr val="111111"/>
                </a:solidFill>
                <a:latin typeface="Google Sans Flex"/>
              </a:rPr>
              <a:t>say exactly which steps weren't seen.</a:t>
            </a:r>
          </a:p>
        </p:txBody>
      </p:sp>
      <p:sp>
        <p:nvSpPr>
          <p:cNvPr id="193" name="Rounded Rectangle 192"/>
          <p:cNvSpPr/>
          <p:nvPr/>
        </p:nvSpPr>
        <p:spPr>
          <a:xfrm>
            <a:off x="356615" y="4462272"/>
            <a:ext cx="8503920" cy="384048"/>
          </a:xfrm>
          <a:prstGeom prst="roundRect">
            <a:avLst>
              <a:gd name="adj" fmla="val 23809"/>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ounded Rectangle 193"/>
          <p:cNvSpPr/>
          <p:nvPr/>
        </p:nvSpPr>
        <p:spPr>
          <a:xfrm>
            <a:off x="320040" y="4425696"/>
            <a:ext cx="8503920" cy="384048"/>
          </a:xfrm>
          <a:prstGeom prst="roundRect">
            <a:avLst>
              <a:gd name="adj" fmla="val 23809"/>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TextBox 194"/>
          <p:cNvSpPr txBox="1"/>
          <p:nvPr/>
        </p:nvSpPr>
        <p:spPr>
          <a:xfrm>
            <a:off x="502920" y="4425696"/>
            <a:ext cx="8138160" cy="384048"/>
          </a:xfrm>
          <a:prstGeom prst="rect">
            <a:avLst/>
          </a:prstGeom>
          <a:noFill/>
        </p:spPr>
        <p:txBody>
          <a:bodyPr wrap="square" lIns="0" rIns="0" tIns="0" bIns="0" anchor="ctr">
            <a:noAutofit/>
          </a:bodyPr>
          <a:lstStyle/>
          <a:p>
            <a:pPr algn="ctr">
              <a:lnSpc>
                <a:spcPct val="100000"/>
              </a:lnSpc>
              <a:spcAft>
                <a:spcPts val="0"/>
              </a:spcAft>
            </a:pPr>
            <a:r>
              <a:rPr sz="1000" b="1">
                <a:solidFill>
                  <a:srgbClr val="111111"/>
                </a:solidFill>
                <a:latin typeface="Google Sans Flex"/>
              </a:rPr>
              <a:t>Guardrails:  </a:t>
            </a:r>
            <a:r>
              <a:rPr sz="1000" b="0">
                <a:solidFill>
                  <a:srgbClr val="111111"/>
                </a:solidFill>
                <a:latin typeface="Google Sans Flex"/>
              </a:rPr>
              <a:t>host allowlist + SSRF guard  ·  ad networks blocked  ·  per-audit token and time budgets  ·  daily cap  ·  billing alerts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