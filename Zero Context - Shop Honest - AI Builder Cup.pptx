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17.xml" ContentType="application/vnd.openxmlformats-officedocument.presentationml.slide+xml"/>
  <Override PartName="/ppt/slides/slide18.xml" ContentType="application/vnd.openxmlformats-officedocument.presentationml.slide+xml"/>
  <Override PartName="/ppt/notesSlides/notesSlide17.xml" ContentType="application/vnd.openxmlformats-officedocument.presentationml.notesSlide+xml"/>
  <Override PartName="/ppt/notesSlides/notesSlide1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72" r:id="rId28"/>
    <p:sldId id="267" r:id="rId17"/>
    <p:sldId id="273" r:id="rId29"/>
    <p:sldId id="270" r:id="rId20"/>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  <Relationship Id="rId28" Type="http://schemas.openxmlformats.org/officeDocument/2006/relationships/slide" Target="slides/slide17.xml"/>
  <Relationship Id="rId29" Type="http://schemas.openxmlformats.org/officeDocument/2006/relationships/slide" Target="slides/slide18.xml"/>
</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FF5CA8"/>
              </a:solidFill>
              <a:ln w="12700">
                <a:solidFill>
                  <a:srgbClr val="111111"/>
                </a:solidFill>
              </a:ln>
            </c:spPr>
          </c:dPt>
          <c:dPt>
            <c:idx val="1"/>
            <c:spPr>
              <a:solidFill>
                <a:srgbClr val="E8EAED"/>
              </a:solidFill>
              <a:ln w="12700">
                <a:solidFill>
                  <a:srgbClr val="111111"/>
                </a:solidFill>
              </a:ln>
            </c:spPr>
          </c:dPt>
          <c:dPt>
            <c:idx val="2"/>
            <c:spPr>
              <a:solidFill>
                <a:srgbClr val="E8EAED"/>
              </a:solidFill>
              <a:ln w="12700">
                <a:solidFill>
                  <a:srgbClr val="111111"/>
                </a:solidFill>
              </a:ln>
            </c:spPr>
          </c:dPt>
          <c:dLbls>
            <c:dLbl>
              <c:idx val="0"/>
              <c:tx>
                <c:rich>
                  <a:bodyPr/>
                  <a:lstStyle/>
                  <a:p>
                    <a:r>
                      <a:rPr sz="1000" b="1">
                        <a:solidFill>
                          <a:srgbClr val="111111"/>
                        </a:solidFill>
                        <a:latin typeface="Google Sans Flex"/>
                      </a:rPr>
                      <a:t>0.959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0.975</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0.960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Shop Honest
(zero-shot)</c:v>
                </c:pt>
                <c:pt idx="1">
                  <c:v>RoBERTa-large
(trained on it)</c:v>
                </c:pt>
                <c:pt idx="2">
                  <c:v>Logistic reg.
(trained on it)</c:v>
                </c:pt>
              </c:strCache>
            </c:strRef>
          </c:cat>
          <c:val>
            <c:numRef>
              <c:f>Sheet1!$B$2:$B$4</c:f>
              <c:numCache>
                <c:formatCode>General</c:formatCode>
                <c:ptCount val="3"/>
                <c:pt idx="0">
                  <c:v>0.959</c:v>
                </c:pt>
                <c:pt idx="1">
                  <c:v>0.975</c:v>
                </c:pt>
                <c:pt idx="2">
                  <c:v>0.96</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
          <c:min val="0.9"/>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c:v>
                </c:pt>
              </c:strCache>
            </c:strRef>
          </c:tx>
          <c:dPt>
            <c:idx val="0"/>
            <c:spPr>
              <a:solidFill>
                <a:srgbClr val="E8EAED"/>
              </a:solidFill>
              <a:ln w="12700">
                <a:solidFill>
                  <a:srgbClr val="111111"/>
                </a:solidFill>
              </a:ln>
            </c:spPr>
          </c:dPt>
          <c:dPt>
            <c:idx val="1"/>
            <c:spPr>
              <a:solidFill>
                <a:srgbClr val="C4B5FD"/>
              </a:solidFill>
              <a:ln w="12700">
                <a:solidFill>
                  <a:srgbClr val="111111"/>
                </a:solidFill>
              </a:ln>
            </c:spPr>
          </c:dPt>
          <c:dPt>
            <c:idx val="2"/>
            <c:spPr>
              <a:solidFill>
                <a:srgbClr val="C6F432"/>
              </a:solidFill>
              <a:ln w="12700">
                <a:solidFill>
                  <a:srgbClr val="111111"/>
                </a:solidFill>
              </a:ln>
            </c:spPr>
          </c:dPt>
          <c:dLbls>
            <c:dLbl>
              <c:idx val="0"/>
              <c:tx>
                <c:rich>
                  <a:bodyPr/>
                  <a:lstStyle/>
                  <a:p>
                    <a:r>
                      <a:rPr sz="1000" b="1">
                        <a:solidFill>
                          <a:srgbClr val="111111"/>
                        </a:solidFill>
                        <a:latin typeface="Google Sans Flex"/>
                      </a:rPr>
                      <a:t>6/9</a:t>
                    </a:r>
                  </a:p>
                </c:rich>
              </c:tx>
              <c:dLblPos val="outEnd"/>
              <c:showLegendKey val="0"/>
              <c:showVal val="1"/>
              <c:showCatName val="0"/>
              <c:showSerName val="0"/>
              <c:showPercent val="0"/>
              <c:showBubbleSize val="0"/>
            </c:dLbl>
            <c:dLbl>
              <c:idx val="1"/>
              <c:tx>
                <c:rich>
                  <a:bodyPr/>
                  <a:lstStyle/>
                  <a:p>
                    <a:r>
                      <a:rPr sz="1000" b="1">
                        <a:solidFill>
                          <a:srgbClr val="111111"/>
                        </a:solidFill>
                        <a:latin typeface="Google Sans Flex"/>
                      </a:rPr>
                      <a:t>8/9</a:t>
                    </a:r>
                  </a:p>
                </c:rich>
              </c:tx>
              <c:dLblPos val="outEnd"/>
              <c:showLegendKey val="0"/>
              <c:showVal val="1"/>
              <c:showCatName val="0"/>
              <c:showSerName val="0"/>
              <c:showPercent val="0"/>
              <c:showBubbleSize val="0"/>
            </c:dLbl>
            <c:dLbl>
              <c:idx val="2"/>
              <c:tx>
                <c:rich>
                  <a:bodyPr/>
                  <a:lstStyle/>
                  <a:p>
                    <a:r>
                      <a:rPr sz="1000" b="1">
                        <a:solidFill>
                          <a:srgbClr val="111111"/>
                        </a:solidFill>
                        <a:latin typeface="Google Sans Flex"/>
                      </a:rPr>
                      <a:t>9/9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Measured
checks only</c:v>
                </c:pt>
                <c:pt idx="1">
                  <c:v>+ Gemma 3 4B
(local)</c:v>
                </c:pt>
                <c:pt idx="2">
                  <c:v>+ Gemini 3.6
Flash</c:v>
                </c:pt>
              </c:strCache>
            </c:strRef>
          </c:cat>
          <c:val>
            <c:numRef>
              <c:f>Sheet1!$B$2:$B$4</c:f>
              <c:numCache>
                <c:formatCode>General</c:formatCode>
                <c:ptCount val="3"/>
                <c:pt idx="0">
                  <c:v>6</c:v>
                </c:pt>
                <c:pt idx="1">
                  <c:v>8</c:v>
                </c:pt>
                <c:pt idx="2">
                  <c:v>9</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111111"/>
            </a:solidFill>
          </a:ln>
        </c:spPr>
        <c:txPr>
          <a:bodyPr/>
          <a:lstStyle/>
          <a:p>
            <a:pPr>
              <a:defRPr sz="800">
                <a:latin typeface="Google Sans Flex"/>
              </a:defRPr>
            </a:pPr>
          </a:p>
        </c:txPr>
        <c:crossAx val="-2113994440"/>
        <c:crosses val="autoZero"/>
        <c:auto val="1"/>
        <c:lblAlgn val="ctr"/>
        <c:lblOffset val="100"/>
        <c:noMultiLvlLbl val="0"/>
      </c:catAx>
      <c:valAx>
        <c:axId val="-2113994440"/>
        <c:scaling>
          <c:max val="10.5"/>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Team Zero Context: Saubhagya Ashish (leader) and Suvojit Konar. Shop Honest: AI agents shop an online store like a real customer and report every dark pattern with evidence, the rule it breaks, what it costs the shopper and a fix.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Problem: dark patterns make shoppers pay more than the price they saw. In our demo store the page says ₹1,499 and payment asks ₹1,894. ASCI found deceptive design in 52 of the top 53 Indian apps (2024); CCPA's 2023 guidelines ban 13 patterns. In November 2025, 26 platforms declared themselves free of dark patterns; in August 2026 CCPA fined nine platforms, including Zepto, one of the 26. Self-declaration isn't enough. Idea: Shop Honest's agents walk product → variant → cart → checkout → payment like a shopper and report each trick with screenshot evidence, the rule, the money impact and a fix, then prove the fix worked.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Different: a whole-journey, measured audit in a real browser, not a single-page or text scan, and it doesn't stop at finding: it fixes and re-audits. Solves: platforms get a real self-audit instead of a self-declaration, regulators and consumer groups get evidence at scale, shoppers see the real price. USP: every claim is grounded on a measured element and double-checked by an agent with tools; findings come with ₹ impact, law and fixes; a page it couldn't check is 'not checked', never 'clean'. Proof: 9/9 tricks, 0 false alarms, 9/9 fixes verified, F1 0.959 zero-shot.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Eight features: the live walkthrough; measured checks; the Price Historian on BigQuery; the ADK agent graph, where Gemini reads each screen and an Adjudicator agent checks evidence with tools; Fix it, which proposes a fix per finding, projects the impact and verifies it on a copy of the store; the real bill; the law in 7 regions plus a 13-pattern CCPA self-audit PDF; and reports for any public store, logged out.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navigator walks five steps like a logged-out shopper and stops honestly at sign-in walls or bot protection. On every screen: capture a screenshot and measure every element, run measured checks, let Gemini (Pattern Analyst) judge wording and design, apply evidence rules, re-check with the Adjudicator, then confirm, send to human review, or drop. The Reporter turns findings into the trust score, money, law and fixes.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Three screens: start an audit, watch the agents shop live, and read the report. These are screenshots of the deployed product, not mock-ups.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Firebase Hosting serves the React app and the demo stores, and proxies /api to Cloud Run (FastAPI). The live event stream goes straight to Cloud Run because Hosting buffers streams. Each audit runs a Playwright Chromium navigator and an ADK agent graph on Gemini via Vertex AI (gemini-3.6-flash, falling back to gemini-3.1-flash-lite): the Pattern Analyst, the Adjudicator with evidence tools, and the Fixer. Firestore keeps audits and a resumable event log, Cloud Storage the screenshots, BigQuery the price history. Cloud Build and Artifact Registry ship images; Cloud Monitoring and billing budgets watch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AI: Gemini 3.6 Flash on Vertex AI through Google's Agent Development Kit, run as an agent graph with tools; Gemma 3 4B via Ollama for offline development. Google Cloud: Cloud Run, Firestore, Cloud Storage, BigQuery, Cloud Build, Artifact Registry, Cloud Monitoring, Billing budgets, Firebase Hosting. App: Python 3.12, FastAPI, Playwright, Pydantic, React 19, TypeScript, Vite, Tailwind, three.js.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live audit of Store A uses about 21k input and 5k output tokens on Gemini 3.6 Flash (measured) and about 30 s of Cloud Run. The rupee figures are estimates: about ₹2 per live audit was measured on 3.8 Flash. Replays, and Fix it on a replay, cost nothing; verifying fixes is one live audit. Cloud Run scales to zero when idle. Guardrails: a 100-a-day live cap, per-audit token, call and time budgets, budget alerts.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Snapshots of the deployed product: the report's verdict (trust score, overcharge, fine risk), the bill shoppers actually get, one finding's evidence (the countdown restarts on reload), and a real store audited logged out that stops honestly at the sign-in wall.</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Planted tricks: 9/9 on the rigged store with the borderline claim sent to review, 0 false alarms on the honest store, 6/6 before the sign-in wall (gemini-3.6-flash, agent graph on, repeated 15–16 Oct). Public dataset (ec-darkpattern, Yada et al. 2022, 2,356 texts): zero-shot F1 0.959 with precision 0.997 (3 false alarms), against 0.960–0.975 for models trained on it. Ablation on Store A: measured checks 6/9, with Gemma 3 4B 8/9, with Gemini 3.6 Flash 9/9, in about 27 s. Fix it: with every fix applied to a copy of Store A, the re-audit found 9 of 9 gone, trust 16 → 100, ₹1,894 → ₹1,596.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Next: audit all 26 self-declared platforms logged out (we scouted six: two reach the cart, the rest block automated browsers, and we report that honestly), logged-in journeys with test accounts in Secret Manager, nightly re-audits and a CI check. Later: a shopper browser extension, a regulator dashboard on BigQuery and Looker Studio, mobile apps and Indian-language pages.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GitHub: https://github.com/saubhagyaashish/shop-honest. Final product: https://shop-honest-ai.web.app. Demo video: add the 3-minute video link.</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fb085bff3c_0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fb085bff3c_0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Responsible by design: the agent never pays, signs in, types, accepts terms or bypasses bot protection, and never presses another product's button. Findings must cite measured elements, are double-checked by an agent with tools, and go to human review when unsure. On real stores, layout-based findings go to review and reports carry a not-a-legal-finding note; a page it couldn't check is 'not checked', never 'clean'. Fix it never touches a real site: fixes run on a copy of our own demo store, in the auditor's browser only.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Thank you. Try it at shop-honest-ai.web.app.</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Fix it, on the finished report. The Fixer proposes a fix for each finding as a change to the store's own settings, each checked against the kinds of dark pattern that setting can fix. Switching fixes on moves the projected numbers: trust score, hidden extras, the fine ceiling and the CCPA patterns found. Verify then applies them to a copy of the store in the auditor's own browser and audits the copy live: on Gemini, 9 of 9 fixes verified, trust score 16 → 100, the shopper pays ₹1,596 instead of ₹1,894. Real sites are never changed; their developers get the fix list and a re-audit.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Six of the 26 platforms that declared themselves free of dark patterns in November 2025, audited logged out on 16 October 2026. Tata 1mg and Flipkart reached the cart, and each fee the product page didn't show was sent for human review, not asserted. Blinkit's product was out of stock. Zepto, which the CCPA fined in August 2026, served our browser an empty page; Myntra refused the connection; Meesho's bot protection stopped the agent. None was called clean. The lesson: outside audits get blocked, and the tricks the CCPA fined sit behind sign-in, so the audit belongs on the platform's side, before release.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hyperlink" Target="https://shop-honest-ai.web.app"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 Id="rId10" Type="http://schemas.openxmlformats.org/officeDocument/2006/relationships/image" Target="../media/image13.png"/><Relationship Id="rId11" Type="http://schemas.openxmlformats.org/officeDocument/2006/relationships/image" Target="../media/image14.png"/><Relationship Id="rId12" Type="http://schemas.openxmlformats.org/officeDocument/2006/relationships/image" Target="../media/image1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2.png"/><Relationship Id="rId9" Type="http://schemas.openxmlformats.org/officeDocument/2006/relationships/image" Target="../media/image75.png"/><Relationship Id="rId10" Type="http://schemas.openxmlformats.org/officeDocument/2006/relationships/image" Target="../media/image14.png"/><Relationship Id="rId11" Type="http://schemas.openxmlformats.org/officeDocument/2006/relationships/image" Target="../media/image19.png"/><Relationship Id="rId12" Type="http://schemas.openxmlformats.org/officeDocument/2006/relationships/image" Target="../media/image2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21.png"/><Relationship Id="rId11" Type="http://schemas.openxmlformats.org/officeDocument/2006/relationships/image" Target="../media/image12.png"/><Relationship Id="rId12" Type="http://schemas.openxmlformats.org/officeDocument/2006/relationships/image" Target="../media/image17.png"/><Relationship Id="rId13" Type="http://schemas.openxmlformats.org/officeDocument/2006/relationships/image" Target="../media/image22.png"/><Relationship Id="rId14" Type="http://schemas.openxmlformats.org/officeDocument/2006/relationships/image" Target="../media/image23.png"/><Relationship Id="rId15" Type="http://schemas.openxmlformats.org/officeDocument/2006/relationships/image" Target="../media/image13.png"/><Relationship Id="rId16" Type="http://schemas.openxmlformats.org/officeDocument/2006/relationships/image" Target="../media/image24.png"/><Relationship Id="rId17" Type="http://schemas.openxmlformats.org/officeDocument/2006/relationships/image" Target="../media/image2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7.png"/><Relationship Id="rId6" Type="http://schemas.openxmlformats.org/officeDocument/2006/relationships/image" Target="../media/image27.png"/><Relationship Id="rId7" Type="http://schemas.openxmlformats.org/officeDocument/2006/relationships/image" Target="../media/image78.png"/><Relationship Id="rId8" Type="http://schemas.openxmlformats.org/officeDocument/2006/relationships/image" Target="../media/image16.png"/><Relationship Id="rId9" Type="http://schemas.openxmlformats.org/officeDocument/2006/relationships/hyperlink" Target="https://shop-honest-ai.web.app"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22.png"/><Relationship Id="rId10" Type="http://schemas.openxmlformats.org/officeDocument/2006/relationships/image" Target="../media/image17.png"/><Relationship Id="rId11" Type="http://schemas.openxmlformats.org/officeDocument/2006/relationships/image" Target="../media/image33.png"/><Relationship Id="rId12" Type="http://schemas.openxmlformats.org/officeDocument/2006/relationships/image" Target="../media/image20.png"/><Relationship Id="rId13" Type="http://schemas.openxmlformats.org/officeDocument/2006/relationships/image" Target="../media/image34.png"/><Relationship Id="rId14" Type="http://schemas.openxmlformats.org/officeDocument/2006/relationships/image" Target="../media/image35.png"/><Relationship Id="rId15" Type="http://schemas.openxmlformats.org/officeDocument/2006/relationships/image" Target="../media/image36.png"/><Relationship Id="rId16" Type="http://schemas.openxmlformats.org/officeDocument/2006/relationships/image" Target="../media/image37.png"/><Relationship Id="rId17" Type="http://schemas.openxmlformats.org/officeDocument/2006/relationships/image" Target="../media/image38.png"/><Relationship Id="rId18" Type="http://schemas.openxmlformats.org/officeDocument/2006/relationships/image" Target="../media/image39.png"/><Relationship Id="rId19" Type="http://schemas.openxmlformats.org/officeDocument/2006/relationships/image" Target="../media/image4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22.png"/><Relationship Id="rId6" Type="http://schemas.openxmlformats.org/officeDocument/2006/relationships/image" Target="../media/image32.png"/><Relationship Id="rId7" Type="http://schemas.openxmlformats.org/officeDocument/2006/relationships/image" Target="../media/image41.png"/><Relationship Id="rId8" Type="http://schemas.openxmlformats.org/officeDocument/2006/relationships/image" Target="../media/image31.png"/><Relationship Id="rId9" Type="http://schemas.openxmlformats.org/officeDocument/2006/relationships/image" Target="../media/image38.png"/><Relationship Id="rId10" Type="http://schemas.openxmlformats.org/officeDocument/2006/relationships/image" Target="../media/image39.png"/><Relationship Id="rId11" Type="http://schemas.openxmlformats.org/officeDocument/2006/relationships/image" Target="../media/image40.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0.png"/><Relationship Id="rId17" Type="http://schemas.openxmlformats.org/officeDocument/2006/relationships/image" Target="../media/image42.png"/><Relationship Id="rId18" Type="http://schemas.openxmlformats.org/officeDocument/2006/relationships/image" Target="../media/image43.png"/><Relationship Id="rId19" Type="http://schemas.openxmlformats.org/officeDocument/2006/relationships/image" Target="../media/image44.png"/><Relationship Id="rId20" Type="http://schemas.openxmlformats.org/officeDocument/2006/relationships/image" Target="../media/image45.png"/><Relationship Id="rId21" Type="http://schemas.openxmlformats.org/officeDocument/2006/relationships/image" Target="../media/image46.png"/><Relationship Id="rId22" Type="http://schemas.openxmlformats.org/officeDocument/2006/relationships/image" Target="../media/image47.png"/><Relationship Id="rId23" Type="http://schemas.openxmlformats.org/officeDocument/2006/relationships/image" Target="../media/image48.png"/><Relationship Id="rId24" Type="http://schemas.openxmlformats.org/officeDocument/2006/relationships/image" Target="../media/image49.png"/><Relationship Id="rId25" Type="http://schemas.openxmlformats.org/officeDocument/2006/relationships/image" Target="../media/image5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5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9.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8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chart" Target="../charts/chart1.xml"/><Relationship Id="rId6"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6.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1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7.png"/><Relationship Id="rId6" Type="http://schemas.openxmlformats.org/officeDocument/2006/relationships/image" Target="../media/image68.png"/><Relationship Id="rId7" Type="http://schemas.openxmlformats.org/officeDocument/2006/relationships/hyperlink" Target="https://github.com/saubhagyaashish/shop-honest" TargetMode="External"/><Relationship Id="rId8" Type="http://schemas.openxmlformats.org/officeDocument/2006/relationships/image" Target="../media/image69.png"/><Relationship Id="rId9" Type="http://schemas.openxmlformats.org/officeDocument/2006/relationships/image" Target="../media/image16.png"/><Relationship Id="rId10" Type="http://schemas.openxmlformats.org/officeDocument/2006/relationships/image" Target="../media/image20.png"/><Relationship Id="rId11" Type="http://schemas.openxmlformats.org/officeDocument/2006/relationships/image" Target="../media/image70.png"/><Relationship Id="rId12" Type="http://schemas.openxmlformats.org/officeDocument/2006/relationships/hyperlink" Target="https://shop-honest-ai.web.app" TargetMode="External"/><Relationship Id="rId13" Type="http://schemas.openxmlformats.org/officeDocument/2006/relationships/hyperlink" Target="https://www.youtube.com/watch?v=_mG4SobZ9E0"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1.png"/><Relationship Id="rId6" Type="http://schemas.openxmlformats.org/officeDocument/2006/relationships/image" Target="../media/image7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73.png"/><Relationship Id="rId6" Type="http://schemas.openxmlformats.org/officeDocument/2006/relationships/image" Target="../media/image74.png"/><Relationship Id="rId9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9.png"/><Relationship Id="rId7" Type="http://schemas.openxmlformats.org/officeDocument/2006/relationships/image" Target="../media/image7.png"/><Relationship Id="rId8" Type="http://schemas.openxmlformats.org/officeDocument/2006/relationships/image" Target="../media/image51.png"/><Relationship Id="rId9" Type="http://schemas.openxmlformats.org/officeDocument/2006/relationships/image" Target="../media/image51.png"/><Relationship Id="rId10" Type="http://schemas.openxmlformats.org/officeDocument/2006/relationships/image" Target="../media/image21.png"/><Relationship Id="rId90"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320040" y="2907792"/>
            <a:ext cx="5532120" cy="2057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700"/>
              </a:spcAft>
              <a:buNone/>
            </a:pPr>
            <a:r>
              <a:rPr sz="1800">
                <a:solidFill>
                  <a:srgbClr val="111111"/>
                </a:solidFill>
                <a:latin typeface="Google Sans Flex SemiBold"/>
              </a:rPr>
              <a:t>Team Details</a:t>
            </a:r>
            <a:endParaRPr sz="2100">
              <a:latin typeface="Google Sans Flex SemiBold"/>
              <a:ea typeface="Google Sans Flex SemiBold"/>
              <a:cs typeface="Google Sans Flex SemiBold"/>
              <a:sym typeface="Google Sans Flex SemiBold"/>
            </a:endParaRPr>
          </a:p>
          <a:p>
            <a:pPr>
              <a:spcAft>
                <a:spcPts val="500"/>
              </a:spcAft>
            </a:pPr>
            <a:r>
              <a:rPr sz="1300">
                <a:solidFill>
                  <a:srgbClr val="111111"/>
                </a:solidFill>
                <a:latin typeface="Google Sans Flex SemiBold"/>
              </a:rPr>
              <a:t>Team name: </a:t>
            </a:r>
            <a:r>
              <a:rPr sz="1300">
                <a:solidFill>
                  <a:srgbClr val="111111"/>
                </a:solidFill>
                <a:latin typeface="Google Sans Flex"/>
              </a:rPr>
              <a:t>Zero Context</a:t>
            </a:r>
          </a:p>
          <a:p>
            <a:pPr>
              <a:spcAft>
                <a:spcPts val="500"/>
              </a:spcAft>
            </a:pPr>
            <a:r>
              <a:rPr sz="1300">
                <a:solidFill>
                  <a:srgbClr val="111111"/>
                </a:solidFill>
                <a:latin typeface="Google Sans Flex SemiBold"/>
              </a:rPr>
              <a:t>Team leader name: </a:t>
            </a:r>
            <a:r>
              <a:rPr sz="1300">
                <a:solidFill>
                  <a:srgbClr val="111111"/>
                </a:solidFill>
                <a:latin typeface="Google Sans Flex"/>
              </a:rPr>
              <a:t>Saubhagya Ashish</a:t>
            </a:r>
          </a:p>
          <a:p>
            <a:pPr>
              <a:spcAft>
                <a:spcPts val="500"/>
              </a:spcAft>
            </a:pPr>
            <a:r>
              <a:rPr sz="1300">
                <a:solidFill>
                  <a:srgbClr val="111111"/>
                </a:solidFill>
                <a:latin typeface="Google Sans Flex SemiBold"/>
              </a:rPr>
              <a:t>Team member: </a:t>
            </a:r>
            <a:r>
              <a:rPr sz="1300">
                <a:solidFill>
                  <a:srgbClr val="111111"/>
                </a:solidFill>
                <a:latin typeface="Google Sans Flex"/>
              </a:rPr>
              <a:t>Suvojit Konar</a:t>
            </a:r>
          </a:p>
          <a:p>
            <a:pPr>
              <a:spcAft>
                <a:spcPts val="500"/>
              </a:spcAft>
            </a:pPr>
            <a:r>
              <a:rPr sz="1300">
                <a:solidFill>
                  <a:srgbClr val="111111"/>
                </a:solidFill>
                <a:latin typeface="Google Sans Flex SemiBold"/>
              </a:rPr>
              <a:t>Problem Statement: </a:t>
            </a:r>
            <a:r>
              <a:rPr sz="1100">
                <a:solidFill>
                  <a:srgbClr val="111111"/>
                </a:solidFill>
                <a:latin typeface="Google Sans Flex"/>
              </a:rPr>
              <a:t>Retail &amp; Commerce. Online stores use dark patterns (fake countdowns, items sneaked into the cart, fees revealed only at payment). India's CCPA bans 13 of them and fines platforms that use them. 26 platforms self-declared compliance, yet nobody audits the whole journey the way a shopper meets it.</a:t>
            </a: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
        <p:nvSpPr>
          <p:cNvPr id="57" name="Rounded Rectangle 56"/>
          <p:cNvSpPr/>
          <p:nvPr/>
        </p:nvSpPr>
        <p:spPr>
          <a:xfrm>
            <a:off x="6172200" y="3063239"/>
            <a:ext cx="2697480" cy="1810512"/>
          </a:xfrm>
          <a:prstGeom prst="roundRect">
            <a:avLst>
              <a:gd name="adj" fmla="val 70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Rounded Rectangle 57"/>
          <p:cNvSpPr/>
          <p:nvPr/>
        </p:nvSpPr>
        <p:spPr>
          <a:xfrm>
            <a:off x="6126480" y="3017520"/>
            <a:ext cx="2697480" cy="1810512"/>
          </a:xfrm>
          <a:prstGeom prst="roundRect">
            <a:avLst>
              <a:gd name="adj" fmla="val 707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Shop Honest logo"/>
          <p:cNvPicPr>
            <a:picLocks noChangeAspect="1"/>
          </p:cNvPicPr>
          <p:nvPr/>
        </p:nvPicPr>
        <p:blipFill>
          <a:blip r:embed="rId5"/>
          <a:stretch>
            <a:fillRect/>
          </a:stretch>
        </p:blipFill>
        <p:spPr>
          <a:xfrm>
            <a:off x="6327648" y="3182112"/>
            <a:ext cx="2286000" cy="422573"/>
          </a:xfrm>
          <a:prstGeom prst="rect">
            <a:avLst/>
          </a:prstGeom>
        </p:spPr>
      </p:pic>
      <p:sp>
        <p:nvSpPr>
          <p:cNvPr id="60" name="TextBox 59"/>
          <p:cNvSpPr txBox="1"/>
          <p:nvPr/>
        </p:nvSpPr>
        <p:spPr>
          <a:xfrm>
            <a:off x="6327648" y="3730752"/>
            <a:ext cx="2377440" cy="566928"/>
          </a:xfrm>
          <a:prstGeom prst="rect">
            <a:avLst/>
          </a:prstGeom>
          <a:noFill/>
        </p:spPr>
        <p:txBody>
          <a:bodyPr wrap="square" lIns="0" rIns="0" tIns="0" bIns="0" anchor="t">
            <a:noAutofit/>
          </a:bodyPr>
          <a:lstStyle/>
          <a:p>
            <a:pPr algn="l">
              <a:lnSpc>
                <a:spcPct val="100000"/>
              </a:lnSpc>
              <a:spcAft>
                <a:spcPts val="0"/>
              </a:spcAft>
            </a:pPr>
            <a:r>
              <a:rPr sz="1700" b="1">
                <a:solidFill>
                  <a:srgbClr val="111111"/>
                </a:solidFill>
                <a:latin typeface="Google Sans Flex"/>
              </a:rPr>
              <a:t>Dark patterns? </a:t>
            </a:r>
            <a:r>
              <a:rPr sz="1700" b="1">
                <a:solidFill>
                  <a:srgbClr val="111111"/>
                </a:solidFill>
                <a:latin typeface="Google Sans Flex"/>
              </a:rPr>
              <a:t>Caught in 4K.</a:t>
            </a:r>
          </a:p>
        </p:txBody>
      </p:sp>
      <p:sp>
        <p:nvSpPr>
          <p:cNvPr id="61" name="Rounded Rectangle 60"/>
          <p:cNvSpPr/>
          <p:nvPr/>
        </p:nvSpPr>
        <p:spPr>
          <a:xfrm>
            <a:off x="6327648" y="4297680"/>
            <a:ext cx="1965960" cy="22860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Found, fixed and proven</a:t>
            </a:r>
          </a:p>
        </p:txBody>
      </p:sp>
      <p:sp>
        <p:nvSpPr>
          <p:cNvPr id="62" name="TextBox 61"/>
          <p:cNvSpPr txBox="1"/>
          <p:nvPr/>
        </p:nvSpPr>
        <p:spPr>
          <a:xfrm>
            <a:off x="6327648" y="4572000"/>
            <a:ext cx="2377440" cy="182880"/>
          </a:xfrm>
          <a:prstGeom prst="rect">
            <a:avLst/>
          </a:prstGeom>
          <a:noFill/>
        </p:spPr>
        <p:txBody>
          <a:bodyPr wrap="square" lIns="0" rIns="0" tIns="0" bIns="0" anchor="t">
            <a:noAutofit/>
          </a:bodyPr>
          <a:lstStyle/>
          <a:p>
            <a:pPr algn="l">
              <a:lnSpc>
                <a:spcPct val="100000"/>
              </a:lnSpc>
              <a:spcAft>
                <a:spcPts val="0"/>
              </a:spcAft>
            </a:pPr>
            <a:r>
              <a:rPr sz="900" b="0">
                <a:solidFill>
                  <a:srgbClr val="5F6368"/>
                </a:solidFill>
                <a:latin typeface="Google Sans Flex Medium"/>
                <a:hlinkClick r:id="rId6"/>
              </a:rPr>
              <a:t>shop-honest-ai.web.app</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Rounded Rectangle 71"/>
          <p:cNvSpPr/>
          <p:nvPr/>
        </p:nvSpPr>
        <p:spPr>
          <a:xfrm>
            <a:off x="320040" y="1234440"/>
            <a:ext cx="4023360" cy="3584448"/>
          </a:xfrm>
          <a:prstGeom prst="roundRect">
            <a:avLst>
              <a:gd name="adj" fmla="val 4081"/>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Rounded Rectangle 72"/>
          <p:cNvSpPr/>
          <p:nvPr/>
        </p:nvSpPr>
        <p:spPr>
          <a:xfrm>
            <a:off x="548640" y="1417320"/>
            <a:ext cx="1051560" cy="237744"/>
          </a:xfrm>
          <a:prstGeom prst="roundRect">
            <a:avLst>
              <a:gd name="adj" fmla="val 50000"/>
            </a:avLst>
          </a:prstGeom>
          <a:solidFill>
            <a:srgbClr val="FF5CA8"/>
          </a:solidFill>
          <a:ln w="15875">
            <a:solidFill>
              <a:srgbClr val="FF5CA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PROBLEM</a:t>
            </a:r>
          </a:p>
        </p:txBody>
      </p:sp>
      <p:sp>
        <p:nvSpPr>
          <p:cNvPr id="74" name="TextBox 73"/>
          <p:cNvSpPr txBox="1"/>
          <p:nvPr/>
        </p:nvSpPr>
        <p:spPr>
          <a:xfrm>
            <a:off x="548640" y="1737360"/>
            <a:ext cx="3657600" cy="566928"/>
          </a:xfrm>
          <a:prstGeom prst="rect">
            <a:avLst/>
          </a:prstGeom>
          <a:noFill/>
        </p:spPr>
        <p:txBody>
          <a:bodyPr wrap="square" lIns="0" rIns="0" tIns="0" bIns="0" anchor="t">
            <a:noAutofit/>
          </a:bodyPr>
          <a:lstStyle/>
          <a:p>
            <a:pPr algn="l">
              <a:lnSpc>
                <a:spcPct val="100000"/>
              </a:lnSpc>
              <a:spcAft>
                <a:spcPts val="0"/>
              </a:spcAft>
            </a:pPr>
            <a:r>
              <a:rPr sz="3200" b="1">
                <a:solidFill>
                  <a:srgbClr val="FFFFFF"/>
                </a:solidFill>
                <a:latin typeface="Google Sans Flex"/>
              </a:rPr>
              <a:t>₹1,499</a:t>
            </a:r>
            <a:r>
              <a:rPr sz="3200" b="1">
                <a:solidFill>
                  <a:srgbClr val="9AA0A6"/>
                </a:solidFill>
                <a:latin typeface="Google Sans Flex"/>
              </a:rPr>
              <a:t>  →  </a:t>
            </a:r>
            <a:r>
              <a:rPr sz="3200" b="1">
                <a:solidFill>
                  <a:srgbClr val="FF5CA8"/>
                </a:solidFill>
                <a:latin typeface="Google Sans Flex"/>
              </a:rPr>
              <a:t>₹1,894</a:t>
            </a:r>
          </a:p>
        </p:txBody>
      </p:sp>
      <p:sp>
        <p:nvSpPr>
          <p:cNvPr id="75" name="TextBox 74"/>
          <p:cNvSpPr txBox="1"/>
          <p:nvPr/>
        </p:nvSpPr>
        <p:spPr>
          <a:xfrm>
            <a:off x="548640" y="2331720"/>
            <a:ext cx="3611880" cy="566928"/>
          </a:xfrm>
          <a:prstGeom prst="rect">
            <a:avLst/>
          </a:prstGeom>
          <a:noFill/>
        </p:spPr>
        <p:txBody>
          <a:bodyPr wrap="square" lIns="0" rIns="0" tIns="0" bIns="0" anchor="t">
            <a:noAutofit/>
          </a:bodyPr>
          <a:lstStyle/>
          <a:p>
            <a:pPr algn="l">
              <a:lnSpc>
                <a:spcPct val="108000"/>
              </a:lnSpc>
              <a:spcAft>
                <a:spcPts val="0"/>
              </a:spcAft>
            </a:pPr>
            <a:r>
              <a:rPr sz="1050" b="0">
                <a:solidFill>
                  <a:srgbClr val="E8EAED"/>
                </a:solidFill>
                <a:latin typeface="Google Sans Flex"/>
              </a:rPr>
              <a:t>Our rigged test store, same earbuds: insurance sneaked into the cart, a pre-ticked membership and fees shown only at payment. The price you see isn't the price you pay.</a:t>
            </a:r>
          </a:p>
        </p:txBody>
      </p:sp>
      <p:sp>
        <p:nvSpPr>
          <p:cNvPr id="76" name="Rectangle 75"/>
          <p:cNvSpPr/>
          <p:nvPr/>
        </p:nvSpPr>
        <p:spPr>
          <a:xfrm>
            <a:off x="548640" y="308152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Box 76"/>
          <p:cNvSpPr txBox="1"/>
          <p:nvPr/>
        </p:nvSpPr>
        <p:spPr>
          <a:xfrm>
            <a:off x="704088" y="304495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52 of 53</a:t>
            </a:r>
          </a:p>
        </p:txBody>
      </p:sp>
      <p:sp>
        <p:nvSpPr>
          <p:cNvPr id="78" name="TextBox 77"/>
          <p:cNvSpPr txBox="1"/>
          <p:nvPr/>
        </p:nvSpPr>
        <p:spPr>
          <a:xfrm>
            <a:off x="1856231" y="306324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top Indian apps use deceptive design</a:t>
            </a:r>
          </a:p>
          <a:p>
            <a:pPr algn="l">
              <a:lnSpc>
                <a:spcPct val="100000"/>
              </a:lnSpc>
              <a:spcAft>
                <a:spcPts val="0"/>
              </a:spcAft>
            </a:pPr>
            <a:r>
              <a:rPr sz="800" b="0">
                <a:solidFill>
                  <a:srgbClr val="9AA0A6"/>
                </a:solidFill>
                <a:latin typeface="Google Sans Flex"/>
              </a:rPr>
              <a:t>ASCI, 2024</a:t>
            </a:r>
          </a:p>
        </p:txBody>
      </p:sp>
      <p:sp>
        <p:nvSpPr>
          <p:cNvPr id="79" name="Rectangle 78"/>
          <p:cNvSpPr/>
          <p:nvPr/>
        </p:nvSpPr>
        <p:spPr>
          <a:xfrm>
            <a:off x="548640" y="363016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Box 79"/>
          <p:cNvSpPr txBox="1"/>
          <p:nvPr/>
        </p:nvSpPr>
        <p:spPr>
          <a:xfrm>
            <a:off x="704088" y="359359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13</a:t>
            </a:r>
          </a:p>
        </p:txBody>
      </p:sp>
      <p:sp>
        <p:nvSpPr>
          <p:cNvPr id="81" name="TextBox 80"/>
          <p:cNvSpPr txBox="1"/>
          <p:nvPr/>
        </p:nvSpPr>
        <p:spPr>
          <a:xfrm>
            <a:off x="1856231" y="361188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dark patterns banned by India's CCPA</a:t>
            </a:r>
          </a:p>
          <a:p>
            <a:pPr algn="l">
              <a:lnSpc>
                <a:spcPct val="100000"/>
              </a:lnSpc>
              <a:spcAft>
                <a:spcPts val="0"/>
              </a:spcAft>
            </a:pPr>
            <a:r>
              <a:rPr sz="800" b="0">
                <a:solidFill>
                  <a:srgbClr val="9AA0A6"/>
                </a:solidFill>
                <a:latin typeface="Google Sans Flex"/>
              </a:rPr>
              <a:t>Guidelines, 2023</a:t>
            </a:r>
          </a:p>
        </p:txBody>
      </p:sp>
      <p:sp>
        <p:nvSpPr>
          <p:cNvPr id="82" name="Rectangle 81"/>
          <p:cNvSpPr/>
          <p:nvPr/>
        </p:nvSpPr>
        <p:spPr>
          <a:xfrm>
            <a:off x="548640" y="4178808"/>
            <a:ext cx="45720" cy="402336"/>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Box 82"/>
          <p:cNvSpPr txBox="1"/>
          <p:nvPr/>
        </p:nvSpPr>
        <p:spPr>
          <a:xfrm>
            <a:off x="704088" y="4142232"/>
            <a:ext cx="1143000" cy="457200"/>
          </a:xfrm>
          <a:prstGeom prst="rect">
            <a:avLst/>
          </a:prstGeom>
          <a:noFill/>
        </p:spPr>
        <p:txBody>
          <a:bodyPr wrap="square" lIns="0" rIns="0" tIns="0" bIns="0" anchor="ctr">
            <a:noAutofit/>
          </a:bodyPr>
          <a:lstStyle/>
          <a:p>
            <a:pPr algn="l">
              <a:lnSpc>
                <a:spcPct val="100000"/>
              </a:lnSpc>
              <a:spcAft>
                <a:spcPts val="0"/>
              </a:spcAft>
            </a:pPr>
            <a:r>
              <a:rPr sz="1700" b="1">
                <a:solidFill>
                  <a:srgbClr val="C6F432"/>
                </a:solidFill>
                <a:latin typeface="Google Sans Flex"/>
              </a:rPr>
              <a:t>26</a:t>
            </a:r>
          </a:p>
        </p:txBody>
      </p:sp>
      <p:sp>
        <p:nvSpPr>
          <p:cNvPr id="84" name="TextBox 83"/>
          <p:cNvSpPr txBox="1"/>
          <p:nvPr/>
        </p:nvSpPr>
        <p:spPr>
          <a:xfrm>
            <a:off x="1856231" y="4160520"/>
            <a:ext cx="2331720" cy="457200"/>
          </a:xfrm>
          <a:prstGeom prst="rect">
            <a:avLst/>
          </a:prstGeom>
          <a:noFill/>
        </p:spPr>
        <p:txBody>
          <a:bodyPr wrap="square" lIns="0" rIns="0" tIns="0" bIns="0" anchor="ctr">
            <a:noAutofit/>
          </a:bodyPr>
          <a:lstStyle/>
          <a:p>
            <a:pPr algn="l">
              <a:lnSpc>
                <a:spcPct val="100000"/>
              </a:lnSpc>
              <a:spcAft>
                <a:spcPts val="0"/>
              </a:spcAft>
            </a:pPr>
            <a:r>
              <a:rPr sz="1000" b="0">
                <a:solidFill>
                  <a:srgbClr val="FFFFFF"/>
                </a:solidFill>
                <a:latin typeface="Google Sans Flex"/>
              </a:rPr>
              <a:t>platforms self-declared no dark patterns</a:t>
            </a:r>
          </a:p>
          <a:p>
            <a:pPr algn="l">
              <a:lnSpc>
                <a:spcPct val="100000"/>
              </a:lnSpc>
              <a:spcAft>
                <a:spcPts val="0"/>
              </a:spcAft>
            </a:pPr>
            <a:r>
              <a:rPr sz="800" b="0">
                <a:solidFill>
                  <a:srgbClr val="9AA0A6"/>
                </a:solidFill>
                <a:latin typeface="Google Sans Flex"/>
              </a:rPr>
              <a:t>Nov 2025 · one, Zepto, was fined in Aug 2026</a:t>
            </a:r>
          </a:p>
        </p:txBody>
      </p:sp>
      <p:sp>
        <p:nvSpPr>
          <p:cNvPr id="85" name="Rounded Rectangle 84"/>
          <p:cNvSpPr/>
          <p:nvPr/>
        </p:nvSpPr>
        <p:spPr>
          <a:xfrm>
            <a:off x="4572000" y="1280160"/>
            <a:ext cx="868680" cy="237744"/>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00" b="1">
                <a:solidFill>
                  <a:srgbClr val="111111"/>
                </a:solidFill>
                <a:latin typeface="Google Sans Flex"/>
              </a:rPr>
              <a:t>THE IDEA</a:t>
            </a:r>
          </a:p>
        </p:txBody>
      </p:sp>
      <p:sp>
        <p:nvSpPr>
          <p:cNvPr id="86" name="TextBox 85"/>
          <p:cNvSpPr txBox="1"/>
          <p:nvPr/>
        </p:nvSpPr>
        <p:spPr>
          <a:xfrm>
            <a:off x="4572000" y="1591056"/>
            <a:ext cx="4251960" cy="713232"/>
          </a:xfrm>
          <a:prstGeom prst="rect">
            <a:avLst/>
          </a:prstGeom>
          <a:noFill/>
        </p:spPr>
        <p:txBody>
          <a:bodyPr wrap="square" lIns="0" rIns="0" tIns="0" bIns="0" anchor="t">
            <a:noAutofit/>
          </a:bodyPr>
          <a:lstStyle/>
          <a:p>
            <a:pPr algn="l">
              <a:lnSpc>
                <a:spcPct val="95000"/>
              </a:lnSpc>
              <a:spcAft>
                <a:spcPts val="0"/>
              </a:spcAft>
            </a:pPr>
            <a:r>
              <a:rPr sz="1900" b="1">
                <a:solidFill>
                  <a:srgbClr val="111111"/>
                </a:solidFill>
                <a:latin typeface="Google Sans Flex"/>
              </a:rPr>
              <a:t>AI agents shop your store like a real customer, and fix what they find.</a:t>
            </a:r>
          </a:p>
        </p:txBody>
      </p:sp>
      <p:sp>
        <p:nvSpPr>
          <p:cNvPr id="87" name="Rounded Rectangle 86"/>
          <p:cNvSpPr/>
          <p:nvPr/>
        </p:nvSpPr>
        <p:spPr>
          <a:xfrm>
            <a:off x="4645152"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Rounded Rectangle 87"/>
          <p:cNvSpPr/>
          <p:nvPr/>
        </p:nvSpPr>
        <p:spPr>
          <a:xfrm>
            <a:off x="4617720" y="2395728"/>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9" name="Picture 88" descr="l-package-ink.png"/>
          <p:cNvPicPr>
            <a:picLocks noChangeAspect="1"/>
          </p:cNvPicPr>
          <p:nvPr/>
        </p:nvPicPr>
        <p:blipFill>
          <a:blip r:embed="rId4"/>
          <a:stretch>
            <a:fillRect/>
          </a:stretch>
        </p:blipFill>
        <p:spPr>
          <a:xfrm>
            <a:off x="4712817" y="2490825"/>
            <a:ext cx="285292" cy="285292"/>
          </a:xfrm>
          <a:prstGeom prst="rect">
            <a:avLst/>
          </a:prstGeom>
        </p:spPr>
      </p:pic>
      <p:sp>
        <p:nvSpPr>
          <p:cNvPr id="90" name="TextBox 89"/>
          <p:cNvSpPr txBox="1"/>
          <p:nvPr/>
        </p:nvSpPr>
        <p:spPr>
          <a:xfrm>
            <a:off x="4434840"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Product</a:t>
            </a:r>
          </a:p>
        </p:txBody>
      </p:sp>
      <p:cxnSp>
        <p:nvCxnSpPr>
          <p:cNvPr id="91" name="Connector 90"/>
          <p:cNvCxnSpPr/>
          <p:nvPr/>
        </p:nvCxnSpPr>
        <p:spPr>
          <a:xfrm>
            <a:off x="5148072"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Rounded Rectangle 91"/>
          <p:cNvSpPr/>
          <p:nvPr/>
        </p:nvSpPr>
        <p:spPr>
          <a:xfrm>
            <a:off x="5522976"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Rounded Rectangle 92"/>
          <p:cNvSpPr/>
          <p:nvPr/>
        </p:nvSpPr>
        <p:spPr>
          <a:xfrm>
            <a:off x="5495544" y="2395728"/>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4" name="Picture 93" descr="l-palette-ink.png"/>
          <p:cNvPicPr>
            <a:picLocks noChangeAspect="1"/>
          </p:cNvPicPr>
          <p:nvPr/>
        </p:nvPicPr>
        <p:blipFill>
          <a:blip r:embed="rId5"/>
          <a:stretch>
            <a:fillRect/>
          </a:stretch>
        </p:blipFill>
        <p:spPr>
          <a:xfrm>
            <a:off x="5590641" y="2490825"/>
            <a:ext cx="285292" cy="285292"/>
          </a:xfrm>
          <a:prstGeom prst="rect">
            <a:avLst/>
          </a:prstGeom>
        </p:spPr>
      </p:pic>
      <p:sp>
        <p:nvSpPr>
          <p:cNvPr id="95" name="TextBox 94"/>
          <p:cNvSpPr txBox="1"/>
          <p:nvPr/>
        </p:nvSpPr>
        <p:spPr>
          <a:xfrm>
            <a:off x="5312664"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Variant</a:t>
            </a:r>
          </a:p>
        </p:txBody>
      </p:sp>
      <p:cxnSp>
        <p:nvCxnSpPr>
          <p:cNvPr id="96" name="Connector 95"/>
          <p:cNvCxnSpPr/>
          <p:nvPr/>
        </p:nvCxnSpPr>
        <p:spPr>
          <a:xfrm>
            <a:off x="6025896"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Rounded Rectangle 96"/>
          <p:cNvSpPr/>
          <p:nvPr/>
        </p:nvSpPr>
        <p:spPr>
          <a:xfrm>
            <a:off x="6400800"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6373368" y="2395728"/>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9" name="Picture 98" descr="l-shopping-cart-ink.png"/>
          <p:cNvPicPr>
            <a:picLocks noChangeAspect="1"/>
          </p:cNvPicPr>
          <p:nvPr/>
        </p:nvPicPr>
        <p:blipFill>
          <a:blip r:embed="rId6"/>
          <a:stretch>
            <a:fillRect/>
          </a:stretch>
        </p:blipFill>
        <p:spPr>
          <a:xfrm>
            <a:off x="6468465" y="2490825"/>
            <a:ext cx="285292" cy="285292"/>
          </a:xfrm>
          <a:prstGeom prst="rect">
            <a:avLst/>
          </a:prstGeom>
        </p:spPr>
      </p:pic>
      <p:sp>
        <p:nvSpPr>
          <p:cNvPr id="100" name="TextBox 99"/>
          <p:cNvSpPr txBox="1"/>
          <p:nvPr/>
        </p:nvSpPr>
        <p:spPr>
          <a:xfrm>
            <a:off x="6190488"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Cart</a:t>
            </a:r>
          </a:p>
        </p:txBody>
      </p:sp>
      <p:cxnSp>
        <p:nvCxnSpPr>
          <p:cNvPr id="101" name="Connector 100"/>
          <p:cNvCxnSpPr/>
          <p:nvPr/>
        </p:nvCxnSpPr>
        <p:spPr>
          <a:xfrm>
            <a:off x="6903720"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2" name="Rounded Rectangle 101"/>
          <p:cNvSpPr/>
          <p:nvPr/>
        </p:nvSpPr>
        <p:spPr>
          <a:xfrm>
            <a:off x="7278624"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Rounded Rectangle 102"/>
          <p:cNvSpPr/>
          <p:nvPr/>
        </p:nvSpPr>
        <p:spPr>
          <a:xfrm>
            <a:off x="7251192" y="239572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l-clipboard-list-ink.png"/>
          <p:cNvPicPr>
            <a:picLocks noChangeAspect="1"/>
          </p:cNvPicPr>
          <p:nvPr/>
        </p:nvPicPr>
        <p:blipFill>
          <a:blip r:embed="rId7"/>
          <a:stretch>
            <a:fillRect/>
          </a:stretch>
        </p:blipFill>
        <p:spPr>
          <a:xfrm>
            <a:off x="7346289" y="2490825"/>
            <a:ext cx="285292" cy="285292"/>
          </a:xfrm>
          <a:prstGeom prst="rect">
            <a:avLst/>
          </a:prstGeom>
        </p:spPr>
      </p:pic>
      <p:sp>
        <p:nvSpPr>
          <p:cNvPr id="105" name="TextBox 104"/>
          <p:cNvSpPr txBox="1"/>
          <p:nvPr/>
        </p:nvSpPr>
        <p:spPr>
          <a:xfrm>
            <a:off x="7068312"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Checkout</a:t>
            </a:r>
          </a:p>
        </p:txBody>
      </p:sp>
      <p:cxnSp>
        <p:nvCxnSpPr>
          <p:cNvPr id="106" name="Connector 105"/>
          <p:cNvCxnSpPr/>
          <p:nvPr/>
        </p:nvCxnSpPr>
        <p:spPr>
          <a:xfrm>
            <a:off x="7781544" y="2633472"/>
            <a:ext cx="292608"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Rounded Rectangle 106"/>
          <p:cNvSpPr/>
          <p:nvPr/>
        </p:nvSpPr>
        <p:spPr>
          <a:xfrm>
            <a:off x="8156448" y="2423160"/>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8129016" y="2395728"/>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l-credit-card-ink.png"/>
          <p:cNvPicPr>
            <a:picLocks noChangeAspect="1"/>
          </p:cNvPicPr>
          <p:nvPr/>
        </p:nvPicPr>
        <p:blipFill>
          <a:blip r:embed="rId8"/>
          <a:stretch>
            <a:fillRect/>
          </a:stretch>
        </p:blipFill>
        <p:spPr>
          <a:xfrm>
            <a:off x="8224113" y="2490825"/>
            <a:ext cx="285292" cy="285292"/>
          </a:xfrm>
          <a:prstGeom prst="rect">
            <a:avLst/>
          </a:prstGeom>
        </p:spPr>
      </p:pic>
      <p:sp>
        <p:nvSpPr>
          <p:cNvPr id="110" name="TextBox 109"/>
          <p:cNvSpPr txBox="1"/>
          <p:nvPr/>
        </p:nvSpPr>
        <p:spPr>
          <a:xfrm>
            <a:off x="7946136" y="2907792"/>
            <a:ext cx="841248" cy="182880"/>
          </a:xfrm>
          <a:prstGeom prst="rect">
            <a:avLst/>
          </a:prstGeom>
          <a:noFill/>
        </p:spPr>
        <p:txBody>
          <a:bodyPr wrap="square" lIns="0" rIns="0" tIns="0" bIns="0" anchor="t">
            <a:noAutofit/>
          </a:bodyPr>
          <a:lstStyle/>
          <a:p>
            <a:pPr algn="ctr">
              <a:lnSpc>
                <a:spcPct val="100000"/>
              </a:lnSpc>
              <a:spcAft>
                <a:spcPts val="0"/>
              </a:spcAft>
            </a:pPr>
            <a:r>
              <a:rPr sz="850" b="0">
                <a:solidFill>
                  <a:srgbClr val="111111"/>
                </a:solidFill>
                <a:latin typeface="Google Sans Flex SemiBold"/>
              </a:rPr>
              <a:t>Payment</a:t>
            </a:r>
          </a:p>
        </p:txBody>
      </p:sp>
      <p:sp>
        <p:nvSpPr>
          <p:cNvPr id="111" name="TextBox 110"/>
          <p:cNvSpPr txBox="1"/>
          <p:nvPr/>
        </p:nvSpPr>
        <p:spPr>
          <a:xfrm>
            <a:off x="4572000" y="3218688"/>
            <a:ext cx="4206240" cy="201168"/>
          </a:xfrm>
          <a:prstGeom prst="rect">
            <a:avLst/>
          </a:prstGeom>
          <a:noFill/>
        </p:spPr>
        <p:txBody>
          <a:bodyPr wrap="square" lIns="0" rIns="0" tIns="0" bIns="0" anchor="t">
            <a:noAutofit/>
          </a:bodyPr>
          <a:lstStyle/>
          <a:p>
            <a:pPr algn="l">
              <a:lnSpc>
                <a:spcPct val="100000"/>
              </a:lnSpc>
              <a:spcAft>
                <a:spcPts val="0"/>
              </a:spcAft>
            </a:pPr>
            <a:r>
              <a:rPr sz="950" b="0">
                <a:solidFill>
                  <a:srgbClr val="5F6368"/>
                </a:solidFill>
                <a:latin typeface="Google Sans Flex Medium"/>
              </a:rPr>
              <a:t>Every finding comes with</a:t>
            </a:r>
          </a:p>
        </p:txBody>
      </p:sp>
      <p:sp>
        <p:nvSpPr>
          <p:cNvPr id="112" name="Rounded Rectangle 111"/>
          <p:cNvSpPr/>
          <p:nvPr/>
        </p:nvSpPr>
        <p:spPr>
          <a:xfrm>
            <a:off x="460400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4572000" y="3474720"/>
            <a:ext cx="2029968" cy="457200"/>
          </a:xfrm>
          <a:prstGeom prst="roundRect">
            <a:avLst>
              <a:gd name="adj" fmla="val 2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can-eye-ink.png"/>
          <p:cNvPicPr>
            <a:picLocks noChangeAspect="1"/>
          </p:cNvPicPr>
          <p:nvPr/>
        </p:nvPicPr>
        <p:blipFill>
          <a:blip r:embed="rId9"/>
          <a:stretch>
            <a:fillRect/>
          </a:stretch>
        </p:blipFill>
        <p:spPr>
          <a:xfrm>
            <a:off x="4681728" y="3575303"/>
            <a:ext cx="256032" cy="256032"/>
          </a:xfrm>
          <a:prstGeom prst="rect">
            <a:avLst/>
          </a:prstGeom>
        </p:spPr>
      </p:pic>
      <p:sp>
        <p:nvSpPr>
          <p:cNvPr id="115" name="TextBox 114"/>
          <p:cNvSpPr txBox="1"/>
          <p:nvPr/>
        </p:nvSpPr>
        <p:spPr>
          <a:xfrm>
            <a:off x="502920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Screenshot evidence</a:t>
            </a:r>
          </a:p>
        </p:txBody>
      </p:sp>
      <p:sp>
        <p:nvSpPr>
          <p:cNvPr id="116" name="Rounded Rectangle 115"/>
          <p:cNvSpPr/>
          <p:nvPr/>
        </p:nvSpPr>
        <p:spPr>
          <a:xfrm>
            <a:off x="6752844" y="3506724"/>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6720840" y="3474720"/>
            <a:ext cx="2029968" cy="457200"/>
          </a:xfrm>
          <a:prstGeom prst="roundRect">
            <a:avLst>
              <a:gd name="adj" fmla="val 2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l-scale-ink.png"/>
          <p:cNvPicPr>
            <a:picLocks noChangeAspect="1"/>
          </p:cNvPicPr>
          <p:nvPr/>
        </p:nvPicPr>
        <p:blipFill>
          <a:blip r:embed="rId10"/>
          <a:stretch>
            <a:fillRect/>
          </a:stretch>
        </p:blipFill>
        <p:spPr>
          <a:xfrm>
            <a:off x="6830568" y="3575303"/>
            <a:ext cx="256032" cy="256032"/>
          </a:xfrm>
          <a:prstGeom prst="rect">
            <a:avLst/>
          </a:prstGeom>
        </p:spPr>
      </p:pic>
      <p:sp>
        <p:nvSpPr>
          <p:cNvPr id="119" name="TextBox 118"/>
          <p:cNvSpPr txBox="1"/>
          <p:nvPr/>
        </p:nvSpPr>
        <p:spPr>
          <a:xfrm>
            <a:off x="7178040" y="3474720"/>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The exact rule broken</a:t>
            </a:r>
          </a:p>
        </p:txBody>
      </p:sp>
      <p:sp>
        <p:nvSpPr>
          <p:cNvPr id="120" name="Rounded Rectangle 119"/>
          <p:cNvSpPr/>
          <p:nvPr/>
        </p:nvSpPr>
        <p:spPr>
          <a:xfrm>
            <a:off x="460400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4572000" y="4041648"/>
            <a:ext cx="2029968" cy="457200"/>
          </a:xfrm>
          <a:prstGeom prst="roundRect">
            <a:avLst>
              <a:gd name="adj" fmla="val 2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l-indian-rupee-ink.png"/>
          <p:cNvPicPr>
            <a:picLocks noChangeAspect="1"/>
          </p:cNvPicPr>
          <p:nvPr/>
        </p:nvPicPr>
        <p:blipFill>
          <a:blip r:embed="rId11"/>
          <a:stretch>
            <a:fillRect/>
          </a:stretch>
        </p:blipFill>
        <p:spPr>
          <a:xfrm>
            <a:off x="4681728" y="4142232"/>
            <a:ext cx="256032" cy="256032"/>
          </a:xfrm>
          <a:prstGeom prst="rect">
            <a:avLst/>
          </a:prstGeom>
        </p:spPr>
      </p:pic>
      <p:sp>
        <p:nvSpPr>
          <p:cNvPr id="123" name="TextBox 122"/>
          <p:cNvSpPr txBox="1"/>
          <p:nvPr/>
        </p:nvSpPr>
        <p:spPr>
          <a:xfrm>
            <a:off x="502920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What it really costs</a:t>
            </a:r>
          </a:p>
        </p:txBody>
      </p:sp>
      <p:sp>
        <p:nvSpPr>
          <p:cNvPr id="124" name="Rounded Rectangle 123"/>
          <p:cNvSpPr/>
          <p:nvPr/>
        </p:nvSpPr>
        <p:spPr>
          <a:xfrm>
            <a:off x="6752844" y="4073652"/>
            <a:ext cx="2029968"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Rounded Rectangle 124"/>
          <p:cNvSpPr/>
          <p:nvPr/>
        </p:nvSpPr>
        <p:spPr>
          <a:xfrm>
            <a:off x="6720840" y="4041648"/>
            <a:ext cx="2029968" cy="457200"/>
          </a:xfrm>
          <a:prstGeom prst="roundRect">
            <a:avLst>
              <a:gd name="adj" fmla="val 2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6" name="Picture 125" descr="l-sparkles-ink.png"/>
          <p:cNvPicPr>
            <a:picLocks noChangeAspect="1"/>
          </p:cNvPicPr>
          <p:nvPr/>
        </p:nvPicPr>
        <p:blipFill>
          <a:blip r:embed="rId12"/>
          <a:stretch>
            <a:fillRect/>
          </a:stretch>
        </p:blipFill>
        <p:spPr>
          <a:xfrm>
            <a:off x="6830568" y="4142232"/>
            <a:ext cx="256032" cy="256032"/>
          </a:xfrm>
          <a:prstGeom prst="rect">
            <a:avLst/>
          </a:prstGeom>
        </p:spPr>
      </p:pic>
      <p:sp>
        <p:nvSpPr>
          <p:cNvPr id="127" name="TextBox 126"/>
          <p:cNvSpPr txBox="1"/>
          <p:nvPr/>
        </p:nvSpPr>
        <p:spPr>
          <a:xfrm>
            <a:off x="7178040" y="4041648"/>
            <a:ext cx="1536192" cy="457200"/>
          </a:xfrm>
          <a:prstGeom prst="rect">
            <a:avLst/>
          </a:prstGeom>
          <a:noFill/>
        </p:spPr>
        <p:txBody>
          <a:bodyPr wrap="square" lIns="0" rIns="0" tIns="0" bIns="0" anchor="ctr">
            <a:noAutofit/>
          </a:bodyPr>
          <a:lstStyle/>
          <a:p>
            <a:pPr algn="l">
              <a:lnSpc>
                <a:spcPct val="100000"/>
              </a:lnSpc>
              <a:spcAft>
                <a:spcPts val="0"/>
              </a:spcAft>
            </a:pPr>
            <a:r>
              <a:rPr sz="1050" b="0">
                <a:solidFill>
                  <a:srgbClr val="111111"/>
                </a:solidFill>
                <a:latin typeface="Google Sans Flex SemiBold"/>
              </a:rPr>
              <a:t>A fix, then proof</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p:txBody>
      </p:sp>
      <p:sp>
        <p:nvSpPr>
          <p:cNvPr id="80" name="Rounded Rectangle 79"/>
          <p:cNvSpPr/>
          <p:nvPr/>
        </p:nvSpPr>
        <p:spPr>
          <a:xfrm>
            <a:off x="36575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Rounded Rectangle 80"/>
          <p:cNvSpPr/>
          <p:nvPr/>
        </p:nvSpPr>
        <p:spPr>
          <a:xfrm>
            <a:off x="32004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Rounded Rectangle 81"/>
          <p:cNvSpPr/>
          <p:nvPr/>
        </p:nvSpPr>
        <p:spPr>
          <a:xfrm>
            <a:off x="320040" y="1261872"/>
            <a:ext cx="2743200" cy="566928"/>
          </a:xfrm>
          <a:prstGeom prst="roundRect">
            <a:avLst>
              <a:gd name="adj" fmla="val 19354"/>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Rectangle 82"/>
          <p:cNvSpPr/>
          <p:nvPr/>
        </p:nvSpPr>
        <p:spPr>
          <a:xfrm>
            <a:off x="329184" y="1645920"/>
            <a:ext cx="2724912" cy="182880"/>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84" name="Connector 83"/>
          <p:cNvCxnSpPr/>
          <p:nvPr/>
        </p:nvCxnSpPr>
        <p:spPr>
          <a:xfrm>
            <a:off x="32004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44805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Box 85"/>
          <p:cNvSpPr txBox="1"/>
          <p:nvPr/>
        </p:nvSpPr>
        <p:spPr>
          <a:xfrm>
            <a:off x="44805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1</a:t>
            </a:r>
          </a:p>
        </p:txBody>
      </p:sp>
      <p:sp>
        <p:nvSpPr>
          <p:cNvPr id="87" name="TextBox 86"/>
          <p:cNvSpPr txBox="1"/>
          <p:nvPr/>
        </p:nvSpPr>
        <p:spPr>
          <a:xfrm>
            <a:off x="83210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How is it different from existing ideas?</a:t>
            </a:r>
          </a:p>
        </p:txBody>
      </p:sp>
      <p:sp>
        <p:nvSpPr>
          <p:cNvPr id="88" name="TextBox 87"/>
          <p:cNvSpPr txBox="1"/>
          <p:nvPr/>
        </p:nvSpPr>
        <p:spPr>
          <a:xfrm>
            <a:off x="46634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Walks the whole journey </a:t>
            </a:r>
            <a:r>
              <a:rPr sz="1050" b="0">
                <a:solidFill>
                  <a:srgbClr val="111111"/>
                </a:solidFill>
                <a:latin typeface="Google Sans Flex"/>
              </a:rPr>
              <a:t>in a real browser, product to payment, instead of scanning one page or one piece of text.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Measures, doesn't guess: </a:t>
            </a:r>
            <a:r>
              <a:rPr sz="1050" b="0">
                <a:solidFill>
                  <a:srgbClr val="111111"/>
                </a:solidFill>
                <a:latin typeface="Google Sans Flex"/>
              </a:rPr>
              <a:t>reloads to catch restarting timers, compares cart with page, spots fees that appear only at payment.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Checks the MRP </a:t>
            </a:r>
            <a:r>
              <a:rPr sz="1050" b="0">
                <a:solidFill>
                  <a:srgbClr val="111111"/>
                </a:solidFill>
                <a:latin typeface="Google Sans Flex"/>
              </a:rPr>
              <a:t>against real price history in BigQuery.</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Fixes, then proves it: </a:t>
            </a:r>
            <a:r>
              <a:rPr sz="1050" b="0">
                <a:solidFill>
                  <a:srgbClr val="111111"/>
                </a:solidFill>
                <a:latin typeface="Google Sans Flex"/>
              </a:rPr>
              <a:t>applies each fix to a copy of the store and audits it again.</a:t>
            </a:r>
          </a:p>
        </p:txBody>
      </p:sp>
      <p:sp>
        <p:nvSpPr>
          <p:cNvPr id="89" name="Rounded Rectangle 88"/>
          <p:cNvSpPr/>
          <p:nvPr/>
        </p:nvSpPr>
        <p:spPr>
          <a:xfrm>
            <a:off x="3246120"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3200400" y="1261872"/>
            <a:ext cx="2743200" cy="3017520"/>
          </a:xfrm>
          <a:prstGeom prst="roundRect">
            <a:avLst>
              <a:gd name="adj" fmla="val 4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3200400" y="1261872"/>
            <a:ext cx="2743200" cy="566928"/>
          </a:xfrm>
          <a:prstGeom prst="roundRect">
            <a:avLst>
              <a:gd name="adj" fmla="val 19354"/>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Rectangle 91"/>
          <p:cNvSpPr/>
          <p:nvPr/>
        </p:nvSpPr>
        <p:spPr>
          <a:xfrm>
            <a:off x="3209544" y="1645920"/>
            <a:ext cx="2724912" cy="182880"/>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93" name="Connector 92"/>
          <p:cNvCxnSpPr/>
          <p:nvPr/>
        </p:nvCxnSpPr>
        <p:spPr>
          <a:xfrm>
            <a:off x="3200400"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94" name="Oval 93"/>
          <p:cNvSpPr/>
          <p:nvPr/>
        </p:nvSpPr>
        <p:spPr>
          <a:xfrm>
            <a:off x="3328416"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Box 94"/>
          <p:cNvSpPr txBox="1"/>
          <p:nvPr/>
        </p:nvSpPr>
        <p:spPr>
          <a:xfrm>
            <a:off x="3328416"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2</a:t>
            </a:r>
          </a:p>
        </p:txBody>
      </p:sp>
      <p:sp>
        <p:nvSpPr>
          <p:cNvPr id="96" name="TextBox 95"/>
          <p:cNvSpPr txBox="1"/>
          <p:nvPr/>
        </p:nvSpPr>
        <p:spPr>
          <a:xfrm>
            <a:off x="3712464"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How will it solve the problem?</a:t>
            </a:r>
          </a:p>
        </p:txBody>
      </p:sp>
      <p:sp>
        <p:nvSpPr>
          <p:cNvPr id="97" name="TextBox 96"/>
          <p:cNvSpPr txBox="1"/>
          <p:nvPr/>
        </p:nvSpPr>
        <p:spPr>
          <a:xfrm>
            <a:off x="334670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Platforms: </a:t>
            </a:r>
            <a:r>
              <a:rPr sz="1050" b="0">
                <a:solidFill>
                  <a:srgbClr val="111111"/>
                </a:solidFill>
                <a:latin typeface="Google Sans Flex"/>
              </a:rPr>
              <a:t>a real self-audit, not a self-declaration: find, fix and prove it before the regulator does.</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Regulators &amp; consumer groups: </a:t>
            </a:r>
            <a:r>
              <a:rPr sz="1050" b="0">
                <a:solidFill>
                  <a:srgbClr val="111111"/>
                </a:solidFill>
                <a:latin typeface="Google Sans Flex"/>
              </a:rPr>
              <a:t>evidence at scale, with screenshots, rules and ₹ impact.</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Shoppers: </a:t>
            </a:r>
            <a:r>
              <a:rPr sz="1050" b="0">
                <a:solidFill>
                  <a:srgbClr val="111111"/>
                </a:solidFill>
                <a:latin typeface="Google Sans Flex"/>
              </a:rPr>
              <a:t>see the real price and every trick before paying.</a:t>
            </a:r>
          </a:p>
          <a:p>
            <a:pPr algn="l">
              <a:lnSpc>
                <a:spcPct val="105000"/>
              </a:lnSpc>
              <a:spcAft>
                <a:spcPts val="1000"/>
              </a:spcAft>
            </a:pPr>
            <a:r>
              <a:rPr sz="850" b="0">
                <a:solidFill>
                  <a:srgbClr val="111111"/>
                </a:solidFill>
                <a:latin typeface="Google Sans Flex"/>
              </a:rPr>
              <a:t>■  </a:t>
            </a:r>
            <a:r>
              <a:rPr sz="1050" b="1">
                <a:solidFill>
                  <a:srgbClr val="111111"/>
                </a:solidFill>
                <a:latin typeface="Google Sans Flex"/>
              </a:rPr>
              <a:t>Who pays: </a:t>
            </a:r>
            <a:r>
              <a:rPr sz="1050" b="0">
                <a:solidFill>
                  <a:srgbClr val="111111"/>
                </a:solidFill>
                <a:latin typeface="Google Sans Flex"/>
              </a:rPr>
              <a:t>platforms, per monitored product; consumer groups and regulators use it free.</a:t>
            </a:r>
          </a:p>
        </p:txBody>
      </p:sp>
      <p:sp>
        <p:nvSpPr>
          <p:cNvPr id="98" name="Rounded Rectangle 97"/>
          <p:cNvSpPr/>
          <p:nvPr/>
        </p:nvSpPr>
        <p:spPr>
          <a:xfrm>
            <a:off x="6126479" y="1307592"/>
            <a:ext cx="2743200" cy="3017520"/>
          </a:xfrm>
          <a:prstGeom prst="roundRect">
            <a:avLst>
              <a:gd name="adj" fmla="val 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6080759" y="1261872"/>
            <a:ext cx="2743200" cy="3017520"/>
          </a:xfrm>
          <a:prstGeom prst="roundRect">
            <a:avLst>
              <a:gd name="adj" fmla="val 4000"/>
            </a:avLst>
          </a:prstGeom>
          <a:solidFill>
            <a:srgbClr val="FFF0F7"/>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Rounded Rectangle 99"/>
          <p:cNvSpPr/>
          <p:nvPr/>
        </p:nvSpPr>
        <p:spPr>
          <a:xfrm>
            <a:off x="6080759" y="1261872"/>
            <a:ext cx="2743200" cy="566928"/>
          </a:xfrm>
          <a:prstGeom prst="roundRect">
            <a:avLst>
              <a:gd name="adj" fmla="val 19354"/>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Rectangle 100"/>
          <p:cNvSpPr/>
          <p:nvPr/>
        </p:nvSpPr>
        <p:spPr>
          <a:xfrm>
            <a:off x="6089903" y="1645920"/>
            <a:ext cx="2724912" cy="182880"/>
          </a:xfrm>
          <a:prstGeom prst="rect">
            <a:avLst/>
          </a:prstGeom>
          <a:solidFill>
            <a:srgbClr val="FF5C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02" name="Connector 101"/>
          <p:cNvCxnSpPr/>
          <p:nvPr/>
        </p:nvCxnSpPr>
        <p:spPr>
          <a:xfrm>
            <a:off x="6080759" y="1828800"/>
            <a:ext cx="274320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sp>
        <p:nvSpPr>
          <p:cNvPr id="103" name="Oval 102"/>
          <p:cNvSpPr/>
          <p:nvPr/>
        </p:nvSpPr>
        <p:spPr>
          <a:xfrm>
            <a:off x="6208775" y="1399032"/>
            <a:ext cx="292608" cy="292608"/>
          </a:xfrm>
          <a:prstGeom prst="ellipse">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Box 103"/>
          <p:cNvSpPr txBox="1"/>
          <p:nvPr/>
        </p:nvSpPr>
        <p:spPr>
          <a:xfrm>
            <a:off x="6208775" y="1399032"/>
            <a:ext cx="292608" cy="292608"/>
          </a:xfrm>
          <a:prstGeom prst="rect">
            <a:avLst/>
          </a:prstGeom>
          <a:noFill/>
        </p:spPr>
        <p:txBody>
          <a:bodyPr wrap="square" lIns="0" rIns="0" tIns="0" bIns="0" anchor="ctr">
            <a:noAutofit/>
          </a:bodyPr>
          <a:lstStyle/>
          <a:p>
            <a:pPr algn="ctr">
              <a:lnSpc>
                <a:spcPct val="100000"/>
              </a:lnSpc>
              <a:spcAft>
                <a:spcPts val="0"/>
              </a:spcAft>
            </a:pPr>
            <a:r>
              <a:rPr sz="1100" b="1">
                <a:solidFill>
                  <a:srgbClr val="111111"/>
                </a:solidFill>
                <a:latin typeface="Google Sans Flex"/>
              </a:rPr>
              <a:t>3</a:t>
            </a:r>
          </a:p>
        </p:txBody>
      </p:sp>
      <p:sp>
        <p:nvSpPr>
          <p:cNvPr id="105" name="TextBox 104"/>
          <p:cNvSpPr txBox="1"/>
          <p:nvPr/>
        </p:nvSpPr>
        <p:spPr>
          <a:xfrm>
            <a:off x="6592823" y="1298448"/>
            <a:ext cx="2148840" cy="493776"/>
          </a:xfrm>
          <a:prstGeom prst="rect">
            <a:avLst/>
          </a:prstGeom>
          <a:noFill/>
        </p:spPr>
        <p:txBody>
          <a:bodyPr wrap="square" lIns="0" rIns="0" tIns="0" bIns="0" anchor="ctr">
            <a:noAutofit/>
          </a:bodyPr>
          <a:lstStyle/>
          <a:p>
            <a:pPr algn="l">
              <a:lnSpc>
                <a:spcPct val="95000"/>
              </a:lnSpc>
              <a:spcAft>
                <a:spcPts val="0"/>
              </a:spcAft>
            </a:pPr>
            <a:r>
              <a:rPr sz="1050" b="0">
                <a:solidFill>
                  <a:srgbClr val="111111"/>
                </a:solidFill>
                <a:latin typeface="Google Sans Flex SemiBold"/>
              </a:rPr>
              <a:t>USP of the proposed solution</a:t>
            </a:r>
          </a:p>
        </p:txBody>
      </p:sp>
      <p:sp>
        <p:nvSpPr>
          <p:cNvPr id="106" name="TextBox 105"/>
          <p:cNvSpPr txBox="1"/>
          <p:nvPr/>
        </p:nvSpPr>
        <p:spPr>
          <a:xfrm>
            <a:off x="6227064" y="1984248"/>
            <a:ext cx="2468880" cy="2240280"/>
          </a:xfrm>
          <a:prstGeom prst="rect">
            <a:avLst/>
          </a:prstGeom>
          <a:noFill/>
        </p:spPr>
        <p:txBody>
          <a:bodyPr wrap="square" lIns="0" rIns="0" tIns="0" bIns="0" anchor="t">
            <a:noAutofit/>
          </a:bodyPr>
          <a:lstStyle/>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Proof, not opinions: </a:t>
            </a:r>
            <a:r>
              <a:rPr sz="1050" b="0">
                <a:solidFill>
                  <a:srgbClr val="111111"/>
                </a:solidFill>
                <a:latin typeface="Google Sans Flex"/>
              </a:rPr>
              <a:t>every claim cites a measured page element and a second AI double-checks it; unsure claims go to a human.</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Speaks money and law: </a:t>
            </a:r>
            <a:r>
              <a:rPr sz="1050" b="0">
                <a:solidFill>
                  <a:srgbClr val="111111"/>
                </a:solidFill>
                <a:latin typeface="Google Sans Flex"/>
              </a:rPr>
              <a:t>"+₹395 per order", the rule broken in 7 regions, and a fix for each finding.</a:t>
            </a:r>
          </a:p>
          <a:p>
            <a:pPr algn="l">
              <a:lnSpc>
                <a:spcPct val="105000"/>
              </a:lnSpc>
              <a:spcAft>
                <a:spcPts val="1000"/>
              </a:spcAft>
            </a:pPr>
            <a:r>
              <a:rPr sz="850" b="0">
                <a:solidFill>
                  <a:srgbClr val="FF5CA8"/>
                </a:solidFill>
                <a:latin typeface="Google Sans Flex"/>
              </a:rPr>
              <a:t>■  </a:t>
            </a:r>
            <a:r>
              <a:rPr sz="1050" b="1">
                <a:solidFill>
                  <a:srgbClr val="111111"/>
                </a:solidFill>
                <a:latin typeface="Google Sans Flex"/>
              </a:rPr>
              <a:t>Honest about limits: </a:t>
            </a:r>
            <a:r>
              <a:rPr sz="1050" b="0">
                <a:solidFill>
                  <a:srgbClr val="111111"/>
                </a:solidFill>
                <a:latin typeface="Google Sans Flex"/>
              </a:rPr>
              <a:t>stops at sign-in walls and bot protection; a blocked page is "not checked", never "clean".</a:t>
            </a:r>
          </a:p>
        </p:txBody>
      </p:sp>
      <p:sp>
        <p:nvSpPr>
          <p:cNvPr id="107" name="Rounded Rectangle 106"/>
          <p:cNvSpPr/>
          <p:nvPr/>
        </p:nvSpPr>
        <p:spPr>
          <a:xfrm>
            <a:off x="356615" y="4480560"/>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Rounded Rectangle 107"/>
          <p:cNvSpPr/>
          <p:nvPr/>
        </p:nvSpPr>
        <p:spPr>
          <a:xfrm>
            <a:off x="320040" y="4443984"/>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Box 108"/>
          <p:cNvSpPr txBox="1"/>
          <p:nvPr/>
        </p:nvSpPr>
        <p:spPr>
          <a:xfrm>
            <a:off x="502920" y="4443984"/>
            <a:ext cx="8138160" cy="384048"/>
          </a:xfrm>
          <a:prstGeom prst="rect">
            <a:avLst/>
          </a:prstGeom>
          <a:noFill/>
        </p:spPr>
        <p:txBody>
          <a:bodyPr wrap="square" lIns="0" rIns="0" tIns="0" bIns="0" anchor="ctr">
            <a:noAutofit/>
          </a:bodyPr>
          <a:lstStyle/>
          <a:p>
            <a:pPr algn="ctr">
              <a:lnSpc>
                <a:spcPct val="100000"/>
              </a:lnSpc>
              <a:spcAft>
                <a:spcPts val="0"/>
              </a:spcAft>
            </a:pPr>
            <a:r>
              <a:rPr sz="1050" b="0">
                <a:solidFill>
                  <a:srgbClr val="111111"/>
                </a:solidFill>
                <a:latin typeface="Google Sans Flex SemiBold"/>
              </a:rPr>
              <a:t>Proof it works:  </a:t>
            </a:r>
            <a:r>
              <a:rPr sz="1050" b="1">
                <a:solidFill>
                  <a:srgbClr val="111111"/>
                </a:solidFill>
                <a:latin typeface="Google Sans Flex"/>
              </a:rPr>
              <a:t>9/9</a:t>
            </a:r>
            <a:r>
              <a:rPr sz="1050" b="0">
                <a:solidFill>
                  <a:srgbClr val="111111"/>
                </a:solidFill>
                <a:latin typeface="Google Sans Flex"/>
              </a:rPr>
              <a:t> tricks caught  ·  </a:t>
            </a:r>
            <a:r>
              <a:rPr sz="1050" b="1">
                <a:solidFill>
                  <a:srgbClr val="111111"/>
                </a:solidFill>
                <a:latin typeface="Google Sans Flex"/>
              </a:rPr>
              <a:t>0</a:t>
            </a:r>
            <a:r>
              <a:rPr sz="1050" b="0">
                <a:solidFill>
                  <a:srgbClr val="111111"/>
                </a:solidFill>
                <a:latin typeface="Google Sans Flex"/>
              </a:rPr>
              <a:t> false alarms  ·  </a:t>
            </a:r>
            <a:r>
              <a:rPr sz="1050" b="1">
                <a:solidFill>
                  <a:srgbClr val="111111"/>
                </a:solidFill>
                <a:latin typeface="Google Sans Flex"/>
              </a:rPr>
              <a:t>9/9</a:t>
            </a:r>
            <a:r>
              <a:rPr sz="1050" b="0">
                <a:solidFill>
                  <a:srgbClr val="111111"/>
                </a:solidFill>
                <a:latin typeface="Google Sans Flex"/>
              </a:rPr>
              <a:t> fixes verified  ·  </a:t>
            </a:r>
            <a:r>
              <a:rPr sz="1050" b="1">
                <a:solidFill>
                  <a:srgbClr val="111111"/>
                </a:solidFill>
                <a:latin typeface="Google Sans Flex"/>
              </a:rPr>
              <a:t>0.959 F1</a:t>
            </a:r>
            <a:r>
              <a:rPr sz="1050" b="0">
                <a:solidFill>
                  <a:srgbClr val="111111"/>
                </a:solidFill>
                <a:latin typeface="Google Sans Flex"/>
              </a:rPr>
              <a:t> zero-shot on 2,356 public texts</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Rounded Rectangle 87"/>
          <p:cNvSpPr/>
          <p:nvPr/>
        </p:nvSpPr>
        <p:spPr>
          <a:xfrm>
            <a:off x="365759"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Rounded Rectangle 88"/>
          <p:cNvSpPr/>
          <p:nvPr/>
        </p:nvSpPr>
        <p:spPr>
          <a:xfrm>
            <a:off x="320040"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Rounded Rectangle 89"/>
          <p:cNvSpPr/>
          <p:nvPr/>
        </p:nvSpPr>
        <p:spPr>
          <a:xfrm>
            <a:off x="493776"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Rounded Rectangle 90"/>
          <p:cNvSpPr/>
          <p:nvPr/>
        </p:nvSpPr>
        <p:spPr>
          <a:xfrm>
            <a:off x="466344" y="1417319"/>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2" name="Picture 91" descr="l-play-ink.png"/>
          <p:cNvPicPr>
            <a:picLocks noChangeAspect="1"/>
          </p:cNvPicPr>
          <p:nvPr/>
        </p:nvPicPr>
        <p:blipFill>
          <a:blip r:embed="rId5"/>
          <a:stretch>
            <a:fillRect/>
          </a:stretch>
        </p:blipFill>
        <p:spPr>
          <a:xfrm>
            <a:off x="561441" y="1512417"/>
            <a:ext cx="285292" cy="285292"/>
          </a:xfrm>
          <a:prstGeom prst="rect">
            <a:avLst/>
          </a:prstGeom>
        </p:spPr>
      </p:pic>
      <p:sp>
        <p:nvSpPr>
          <p:cNvPr id="93" name="TextBox 92"/>
          <p:cNvSpPr txBox="1"/>
          <p:nvPr/>
        </p:nvSpPr>
        <p:spPr>
          <a:xfrm>
            <a:off x="1069848"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01</a:t>
            </a:r>
          </a:p>
        </p:txBody>
      </p:sp>
      <p:sp>
        <p:nvSpPr>
          <p:cNvPr id="94" name="TextBox 93"/>
          <p:cNvSpPr txBox="1"/>
          <p:nvPr/>
        </p:nvSpPr>
        <p:spPr>
          <a:xfrm>
            <a:off x="466344"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Live agent walkthrough</a:t>
            </a:r>
          </a:p>
        </p:txBody>
      </p:sp>
      <p:sp>
        <p:nvSpPr>
          <p:cNvPr id="95" name="TextBox 94"/>
          <p:cNvSpPr txBox="1"/>
          <p:nvPr/>
        </p:nvSpPr>
        <p:spPr>
          <a:xfrm>
            <a:off x="466344"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Watch agents shop in a real browser, narrating every step as they go.</a:t>
            </a:r>
          </a:p>
        </p:txBody>
      </p:sp>
      <p:sp>
        <p:nvSpPr>
          <p:cNvPr id="96" name="Rounded Rectangle 95"/>
          <p:cNvSpPr/>
          <p:nvPr/>
        </p:nvSpPr>
        <p:spPr>
          <a:xfrm>
            <a:off x="2530602"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Rounded Rectangle 96"/>
          <p:cNvSpPr/>
          <p:nvPr/>
        </p:nvSpPr>
        <p:spPr>
          <a:xfrm>
            <a:off x="2484882"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2658618"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2631186" y="1417319"/>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ruler-ink.png"/>
          <p:cNvPicPr>
            <a:picLocks noChangeAspect="1"/>
          </p:cNvPicPr>
          <p:nvPr/>
        </p:nvPicPr>
        <p:blipFill>
          <a:blip r:embed="rId6"/>
          <a:stretch>
            <a:fillRect/>
          </a:stretch>
        </p:blipFill>
        <p:spPr>
          <a:xfrm>
            <a:off x="2726283" y="1512417"/>
            <a:ext cx="285292" cy="285292"/>
          </a:xfrm>
          <a:prstGeom prst="rect">
            <a:avLst/>
          </a:prstGeom>
        </p:spPr>
      </p:pic>
      <p:sp>
        <p:nvSpPr>
          <p:cNvPr id="101" name="TextBox 100"/>
          <p:cNvSpPr txBox="1"/>
          <p:nvPr/>
        </p:nvSpPr>
        <p:spPr>
          <a:xfrm>
            <a:off x="3234690"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02</a:t>
            </a:r>
          </a:p>
        </p:txBody>
      </p:sp>
      <p:sp>
        <p:nvSpPr>
          <p:cNvPr id="102" name="TextBox 101"/>
          <p:cNvSpPr txBox="1"/>
          <p:nvPr/>
        </p:nvSpPr>
        <p:spPr>
          <a:xfrm>
            <a:off x="2631186"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Measured checks</a:t>
            </a:r>
          </a:p>
        </p:txBody>
      </p:sp>
      <p:sp>
        <p:nvSpPr>
          <p:cNvPr id="103" name="TextBox 102"/>
          <p:cNvSpPr txBox="1"/>
          <p:nvPr/>
        </p:nvSpPr>
        <p:spPr>
          <a:xfrm>
            <a:off x="2631186"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Restarting timers, frozen stock, sneaked items, pre-ticked boxes, hidden fees.</a:t>
            </a:r>
          </a:p>
        </p:txBody>
      </p:sp>
      <p:sp>
        <p:nvSpPr>
          <p:cNvPr id="104" name="Rounded Rectangle 103"/>
          <p:cNvSpPr/>
          <p:nvPr/>
        </p:nvSpPr>
        <p:spPr>
          <a:xfrm>
            <a:off x="4695444"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4649724"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4823460"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Rounded Rectangle 106"/>
          <p:cNvSpPr/>
          <p:nvPr/>
        </p:nvSpPr>
        <p:spPr>
          <a:xfrm>
            <a:off x="4796028" y="1417319"/>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8" name="Picture 107" descr="l-history-ink.png"/>
          <p:cNvPicPr>
            <a:picLocks noChangeAspect="1"/>
          </p:cNvPicPr>
          <p:nvPr/>
        </p:nvPicPr>
        <p:blipFill>
          <a:blip r:embed="rId7"/>
          <a:stretch>
            <a:fillRect/>
          </a:stretch>
        </p:blipFill>
        <p:spPr>
          <a:xfrm>
            <a:off x="4891125" y="1512417"/>
            <a:ext cx="285292" cy="285292"/>
          </a:xfrm>
          <a:prstGeom prst="rect">
            <a:avLst/>
          </a:prstGeom>
        </p:spPr>
      </p:pic>
      <p:sp>
        <p:nvSpPr>
          <p:cNvPr id="109" name="TextBox 108"/>
          <p:cNvSpPr txBox="1"/>
          <p:nvPr/>
        </p:nvSpPr>
        <p:spPr>
          <a:xfrm>
            <a:off x="5399532"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03</a:t>
            </a:r>
          </a:p>
        </p:txBody>
      </p:sp>
      <p:sp>
        <p:nvSpPr>
          <p:cNvPr id="110" name="TextBox 109"/>
          <p:cNvSpPr txBox="1"/>
          <p:nvPr/>
        </p:nvSpPr>
        <p:spPr>
          <a:xfrm>
            <a:off x="4796028"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Price Historian</a:t>
            </a:r>
          </a:p>
        </p:txBody>
      </p:sp>
      <p:sp>
        <p:nvSpPr>
          <p:cNvPr id="111" name="TextBox 110"/>
          <p:cNvSpPr txBox="1"/>
          <p:nvPr/>
        </p:nvSpPr>
        <p:spPr>
          <a:xfrm>
            <a:off x="4796028"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price history exposes "MRPs" the product never sold at.</a:t>
            </a:r>
          </a:p>
        </p:txBody>
      </p:sp>
      <p:sp>
        <p:nvSpPr>
          <p:cNvPr id="112" name="Rounded Rectangle 111"/>
          <p:cNvSpPr/>
          <p:nvPr/>
        </p:nvSpPr>
        <p:spPr>
          <a:xfrm>
            <a:off x="6860286" y="1307592"/>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6814566" y="1261872"/>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Rounded Rectangle 113"/>
          <p:cNvSpPr/>
          <p:nvPr/>
        </p:nvSpPr>
        <p:spPr>
          <a:xfrm>
            <a:off x="6988302" y="14447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Rounded Rectangle 114"/>
          <p:cNvSpPr/>
          <p:nvPr/>
        </p:nvSpPr>
        <p:spPr>
          <a:xfrm>
            <a:off x="6960870" y="1417319"/>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6" name="Picture 115" descr="l-scan-eye-ink.png"/>
          <p:cNvPicPr>
            <a:picLocks noChangeAspect="1"/>
          </p:cNvPicPr>
          <p:nvPr/>
        </p:nvPicPr>
        <p:blipFill>
          <a:blip r:embed="rId8"/>
          <a:stretch>
            <a:fillRect/>
          </a:stretch>
        </p:blipFill>
        <p:spPr>
          <a:xfrm>
            <a:off x="7055967" y="1512417"/>
            <a:ext cx="285292" cy="285292"/>
          </a:xfrm>
          <a:prstGeom prst="rect">
            <a:avLst/>
          </a:prstGeom>
        </p:spPr>
      </p:pic>
      <p:sp>
        <p:nvSpPr>
          <p:cNvPr id="117" name="TextBox 116"/>
          <p:cNvSpPr txBox="1"/>
          <p:nvPr/>
        </p:nvSpPr>
        <p:spPr>
          <a:xfrm>
            <a:off x="7564374" y="1417319"/>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04</a:t>
            </a:r>
          </a:p>
        </p:txBody>
      </p:sp>
      <p:sp>
        <p:nvSpPr>
          <p:cNvPr id="118" name="TextBox 117"/>
          <p:cNvSpPr txBox="1"/>
          <p:nvPr/>
        </p:nvSpPr>
        <p:spPr>
          <a:xfrm>
            <a:off x="6960870" y="1993391"/>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ADK agent graph</a:t>
            </a:r>
          </a:p>
        </p:txBody>
      </p:sp>
      <p:sp>
        <p:nvSpPr>
          <p:cNvPr id="119" name="TextBox 118"/>
          <p:cNvSpPr txBox="1"/>
          <p:nvPr/>
        </p:nvSpPr>
        <p:spPr>
          <a:xfrm>
            <a:off x="6960870" y="2286000"/>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Gemini reads each screen; an Adjudicator agent checks the evidence with tools.</a:t>
            </a:r>
          </a:p>
        </p:txBody>
      </p:sp>
      <p:sp>
        <p:nvSpPr>
          <p:cNvPr id="120" name="Rounded Rectangle 119"/>
          <p:cNvSpPr/>
          <p:nvPr/>
        </p:nvSpPr>
        <p:spPr>
          <a:xfrm>
            <a:off x="365759"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Rounded Rectangle 121"/>
          <p:cNvSpPr/>
          <p:nvPr/>
        </p:nvSpPr>
        <p:spPr>
          <a:xfrm>
            <a:off x="493776"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Rounded Rectangle 122"/>
          <p:cNvSpPr/>
          <p:nvPr/>
        </p:nvSpPr>
        <p:spPr>
          <a:xfrm>
            <a:off x="466344" y="3264408"/>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4" name="Picture 123" descr="l-wrench-ink.png"/>
          <p:cNvPicPr>
            <a:picLocks noChangeAspect="1"/>
          </p:cNvPicPr>
          <p:nvPr/>
        </p:nvPicPr>
        <p:blipFill>
          <a:blip r:embed="rId9"/>
          <a:stretch>
            <a:fillRect/>
          </a:stretch>
        </p:blipFill>
        <p:spPr>
          <a:xfrm>
            <a:off x="561441" y="3359505"/>
            <a:ext cx="285292" cy="285292"/>
          </a:xfrm>
          <a:prstGeom prst="rect">
            <a:avLst/>
          </a:prstGeom>
        </p:spPr>
      </p:pic>
      <p:sp>
        <p:nvSpPr>
          <p:cNvPr id="125" name="TextBox 124"/>
          <p:cNvSpPr txBox="1"/>
          <p:nvPr/>
        </p:nvSpPr>
        <p:spPr>
          <a:xfrm>
            <a:off x="1069848"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05</a:t>
            </a:r>
          </a:p>
        </p:txBody>
      </p:sp>
      <p:sp>
        <p:nvSpPr>
          <p:cNvPr id="126" name="TextBox 125"/>
          <p:cNvSpPr txBox="1"/>
          <p:nvPr/>
        </p:nvSpPr>
        <p:spPr>
          <a:xfrm>
            <a:off x="466344"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Fix it + verify</a:t>
            </a:r>
          </a:p>
        </p:txBody>
      </p:sp>
      <p:sp>
        <p:nvSpPr>
          <p:cNvPr id="127" name="TextBox 126"/>
          <p:cNvSpPr txBox="1"/>
          <p:nvPr/>
        </p:nvSpPr>
        <p:spPr>
          <a:xfrm>
            <a:off x="466344"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fix for each finding; watch the score move, then verify it on a copy.</a:t>
            </a:r>
          </a:p>
        </p:txBody>
      </p:sp>
      <p:sp>
        <p:nvSpPr>
          <p:cNvPr id="128" name="Rounded Rectangle 127"/>
          <p:cNvSpPr/>
          <p:nvPr/>
        </p:nvSpPr>
        <p:spPr>
          <a:xfrm>
            <a:off x="2530602"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2484882"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2658618"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Rounded Rectangle 130"/>
          <p:cNvSpPr/>
          <p:nvPr/>
        </p:nvSpPr>
        <p:spPr>
          <a:xfrm>
            <a:off x="2631186" y="3264408"/>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indian-rupee-ink.png"/>
          <p:cNvPicPr>
            <a:picLocks noChangeAspect="1"/>
          </p:cNvPicPr>
          <p:nvPr/>
        </p:nvPicPr>
        <p:blipFill>
          <a:blip r:embed="rId10"/>
          <a:stretch>
            <a:fillRect/>
          </a:stretch>
        </p:blipFill>
        <p:spPr>
          <a:xfrm>
            <a:off x="2726283" y="3359505"/>
            <a:ext cx="285292" cy="285292"/>
          </a:xfrm>
          <a:prstGeom prst="rect">
            <a:avLst/>
          </a:prstGeom>
        </p:spPr>
      </p:pic>
      <p:sp>
        <p:nvSpPr>
          <p:cNvPr id="133" name="TextBox 132"/>
          <p:cNvSpPr txBox="1"/>
          <p:nvPr/>
        </p:nvSpPr>
        <p:spPr>
          <a:xfrm>
            <a:off x="3234690"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06</a:t>
            </a:r>
          </a:p>
        </p:txBody>
      </p:sp>
      <p:sp>
        <p:nvSpPr>
          <p:cNvPr id="134" name="TextBox 133"/>
          <p:cNvSpPr txBox="1"/>
          <p:nvPr/>
        </p:nvSpPr>
        <p:spPr>
          <a:xfrm>
            <a:off x="2631186"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The real bill</a:t>
            </a:r>
          </a:p>
        </p:txBody>
      </p:sp>
      <p:sp>
        <p:nvSpPr>
          <p:cNvPr id="135" name="TextBox 134"/>
          <p:cNvSpPr txBox="1"/>
          <p:nvPr/>
        </p:nvSpPr>
        <p:spPr>
          <a:xfrm>
            <a:off x="2631186"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Price seen vs. price charged, the true saving, overcharge at scale.</a:t>
            </a:r>
          </a:p>
        </p:txBody>
      </p:sp>
      <p:sp>
        <p:nvSpPr>
          <p:cNvPr id="136" name="Rounded Rectangle 135"/>
          <p:cNvSpPr/>
          <p:nvPr/>
        </p:nvSpPr>
        <p:spPr>
          <a:xfrm>
            <a:off x="4695444"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4649724"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823460"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4796028" y="3264408"/>
            <a:ext cx="475488" cy="475488"/>
          </a:xfrm>
          <a:prstGeom prst="roundRect">
            <a:avLst>
              <a:gd name="adj" fmla="val 24000"/>
            </a:avLst>
          </a:prstGeom>
          <a:solidFill>
            <a:srgbClr val="3B5B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l-landmark-white.png"/>
          <p:cNvPicPr>
            <a:picLocks noChangeAspect="1"/>
          </p:cNvPicPr>
          <p:nvPr/>
        </p:nvPicPr>
        <p:blipFill>
          <a:blip r:embed="rId11"/>
          <a:stretch>
            <a:fillRect/>
          </a:stretch>
        </p:blipFill>
        <p:spPr>
          <a:xfrm>
            <a:off x="4891125" y="3359505"/>
            <a:ext cx="285292" cy="285292"/>
          </a:xfrm>
          <a:prstGeom prst="rect">
            <a:avLst/>
          </a:prstGeom>
        </p:spPr>
      </p:pic>
      <p:sp>
        <p:nvSpPr>
          <p:cNvPr id="141" name="TextBox 140"/>
          <p:cNvSpPr txBox="1"/>
          <p:nvPr/>
        </p:nvSpPr>
        <p:spPr>
          <a:xfrm>
            <a:off x="5399532"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07</a:t>
            </a:r>
          </a:p>
        </p:txBody>
      </p:sp>
      <p:sp>
        <p:nvSpPr>
          <p:cNvPr id="142" name="TextBox 141"/>
          <p:cNvSpPr txBox="1"/>
          <p:nvPr/>
        </p:nvSpPr>
        <p:spPr>
          <a:xfrm>
            <a:off x="4796028"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Law + CCPA self-audit</a:t>
            </a:r>
          </a:p>
        </p:txBody>
      </p:sp>
      <p:sp>
        <p:nvSpPr>
          <p:cNvPr id="143" name="TextBox 142"/>
          <p:cNvSpPr txBox="1"/>
          <p:nvPr/>
        </p:nvSpPr>
        <p:spPr>
          <a:xfrm>
            <a:off x="4796028"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The rule broken in India and 6 more regions; a 13-pattern CCPA self-audit PDF.</a:t>
            </a:r>
          </a:p>
        </p:txBody>
      </p:sp>
      <p:sp>
        <p:nvSpPr>
          <p:cNvPr id="144" name="Rounded Rectangle 143"/>
          <p:cNvSpPr/>
          <p:nvPr/>
        </p:nvSpPr>
        <p:spPr>
          <a:xfrm>
            <a:off x="6860286" y="3154679"/>
            <a:ext cx="2009394" cy="1700784"/>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814566" y="3108960"/>
            <a:ext cx="2009394" cy="1700784"/>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6988302" y="32918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960870" y="3264408"/>
            <a:ext cx="475488" cy="475488"/>
          </a:xfrm>
          <a:prstGeom prst="roundRect">
            <a:avLst>
              <a:gd name="adj" fmla="val 24000"/>
            </a:avLst>
          </a:prstGeom>
          <a:solidFill>
            <a:srgbClr val="FFF8EC"/>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l-globe-ink.png"/>
          <p:cNvPicPr>
            <a:picLocks noChangeAspect="1"/>
          </p:cNvPicPr>
          <p:nvPr/>
        </p:nvPicPr>
        <p:blipFill>
          <a:blip r:embed="rId12"/>
          <a:stretch>
            <a:fillRect/>
          </a:stretch>
        </p:blipFill>
        <p:spPr>
          <a:xfrm>
            <a:off x="7055967" y="3359505"/>
            <a:ext cx="285292" cy="285292"/>
          </a:xfrm>
          <a:prstGeom prst="rect">
            <a:avLst/>
          </a:prstGeom>
        </p:spPr>
      </p:pic>
      <p:sp>
        <p:nvSpPr>
          <p:cNvPr id="149" name="TextBox 148"/>
          <p:cNvSpPr txBox="1"/>
          <p:nvPr/>
        </p:nvSpPr>
        <p:spPr>
          <a:xfrm>
            <a:off x="7564374" y="3264408"/>
            <a:ext cx="365760" cy="274320"/>
          </a:xfrm>
          <a:prstGeom prst="rect">
            <a:avLst/>
          </a:prstGeom>
          <a:noFill/>
        </p:spPr>
        <p:txBody>
          <a:bodyPr wrap="square" lIns="0" rIns="0" tIns="0" bIns="0" anchor="t">
            <a:noAutofit/>
          </a:bodyPr>
          <a:lstStyle/>
          <a:p>
            <a:pPr algn="l">
              <a:lnSpc>
                <a:spcPct val="100000"/>
              </a:lnSpc>
              <a:spcAft>
                <a:spcPts val="0"/>
              </a:spcAft>
            </a:pPr>
            <a:r>
              <a:rPr sz="900" b="0">
                <a:solidFill>
                  <a:srgbClr val="9AA0A6"/>
                </a:solidFill>
                <a:latin typeface="Google Sans Flex SemiBold"/>
              </a:rPr>
              <a:t>08</a:t>
            </a:r>
          </a:p>
        </p:txBody>
      </p:sp>
      <p:sp>
        <p:nvSpPr>
          <p:cNvPr id="150" name="TextBox 149"/>
          <p:cNvSpPr txBox="1"/>
          <p:nvPr/>
        </p:nvSpPr>
        <p:spPr>
          <a:xfrm>
            <a:off x="6960870" y="3840480"/>
            <a:ext cx="1735074" cy="274320"/>
          </a:xfrm>
          <a:prstGeom prst="rect">
            <a:avLst/>
          </a:prstGeom>
          <a:noFill/>
        </p:spPr>
        <p:txBody>
          <a:bodyPr wrap="square" lIns="0" rIns="0" tIns="0" bIns="0" anchor="t">
            <a:noAutofit/>
          </a:bodyPr>
          <a:lstStyle/>
          <a:p>
            <a:pPr algn="l">
              <a:lnSpc>
                <a:spcPct val="100000"/>
              </a:lnSpc>
              <a:spcAft>
                <a:spcPts val="0"/>
              </a:spcAft>
            </a:pPr>
            <a:r>
              <a:rPr sz="1150" b="1">
                <a:solidFill>
                  <a:srgbClr val="111111"/>
                </a:solidFill>
                <a:latin typeface="Google Sans Flex"/>
              </a:rPr>
              <a:t>Reports for any store</a:t>
            </a:r>
          </a:p>
        </p:txBody>
      </p:sp>
      <p:sp>
        <p:nvSpPr>
          <p:cNvPr id="151" name="TextBox 150"/>
          <p:cNvSpPr txBox="1"/>
          <p:nvPr/>
        </p:nvSpPr>
        <p:spPr>
          <a:xfrm>
            <a:off x="6960870" y="4133087"/>
            <a:ext cx="1735074" cy="64008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Any public store, logged out; a blocked page says "not checked"; free replays.</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TextBox 95"/>
          <p:cNvSpPr txBox="1"/>
          <p:nvPr/>
        </p:nvSpPr>
        <p:spPr>
          <a:xfrm>
            <a:off x="320040" y="1188720"/>
            <a:ext cx="45720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THE JOURNEY  </a:t>
            </a:r>
            <a:r>
              <a:rPr sz="900" b="0">
                <a:solidFill>
                  <a:srgbClr val="5F6368"/>
                </a:solidFill>
                <a:latin typeface="Google Sans Flex"/>
              </a:rPr>
              <a:t>a logged-out shopper, in a real browser</a:t>
            </a:r>
          </a:p>
        </p:txBody>
      </p:sp>
      <p:sp>
        <p:nvSpPr>
          <p:cNvPr id="97" name="Rounded Rectangle 96"/>
          <p:cNvSpPr/>
          <p:nvPr/>
        </p:nvSpPr>
        <p:spPr>
          <a:xfrm>
            <a:off x="356615"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Rounded Rectangle 97"/>
          <p:cNvSpPr/>
          <p:nvPr/>
        </p:nvSpPr>
        <p:spPr>
          <a:xfrm>
            <a:off x="32004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Rounded Rectangle 98"/>
          <p:cNvSpPr/>
          <p:nvPr/>
        </p:nvSpPr>
        <p:spPr>
          <a:xfrm>
            <a:off x="411479" y="1563624"/>
            <a:ext cx="457200" cy="45720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l-package-ink.png"/>
          <p:cNvPicPr>
            <a:picLocks noChangeAspect="1"/>
          </p:cNvPicPr>
          <p:nvPr/>
        </p:nvPicPr>
        <p:blipFill>
          <a:blip r:embed="rId5"/>
          <a:stretch>
            <a:fillRect/>
          </a:stretch>
        </p:blipFill>
        <p:spPr>
          <a:xfrm>
            <a:off x="502919" y="1655064"/>
            <a:ext cx="274320" cy="274320"/>
          </a:xfrm>
          <a:prstGeom prst="rect">
            <a:avLst/>
          </a:prstGeom>
        </p:spPr>
      </p:pic>
      <p:sp>
        <p:nvSpPr>
          <p:cNvPr id="101" name="TextBox 100"/>
          <p:cNvSpPr txBox="1"/>
          <p:nvPr/>
        </p:nvSpPr>
        <p:spPr>
          <a:xfrm>
            <a:off x="94183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Product</a:t>
            </a:r>
          </a:p>
        </p:txBody>
      </p:sp>
      <p:sp>
        <p:nvSpPr>
          <p:cNvPr id="102" name="TextBox 101"/>
          <p:cNvSpPr txBox="1"/>
          <p:nvPr/>
        </p:nvSpPr>
        <p:spPr>
          <a:xfrm>
            <a:off x="94183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look, reload, look again</a:t>
            </a:r>
          </a:p>
        </p:txBody>
      </p:sp>
      <p:cxnSp>
        <p:nvCxnSpPr>
          <p:cNvPr id="103" name="Connector 102"/>
          <p:cNvCxnSpPr/>
          <p:nvPr/>
        </p:nvCxnSpPr>
        <p:spPr>
          <a:xfrm>
            <a:off x="182880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4" name="Rounded Rectangle 103"/>
          <p:cNvSpPr/>
          <p:nvPr/>
        </p:nvSpPr>
        <p:spPr>
          <a:xfrm>
            <a:off x="211683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208026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2171700" y="1563624"/>
            <a:ext cx="457200" cy="45720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l-palette-ink.png"/>
          <p:cNvPicPr>
            <a:picLocks noChangeAspect="1"/>
          </p:cNvPicPr>
          <p:nvPr/>
        </p:nvPicPr>
        <p:blipFill>
          <a:blip r:embed="rId6"/>
          <a:stretch>
            <a:fillRect/>
          </a:stretch>
        </p:blipFill>
        <p:spPr>
          <a:xfrm>
            <a:off x="2263140" y="1655064"/>
            <a:ext cx="274320" cy="274320"/>
          </a:xfrm>
          <a:prstGeom prst="rect">
            <a:avLst/>
          </a:prstGeom>
        </p:spPr>
      </p:pic>
      <p:sp>
        <p:nvSpPr>
          <p:cNvPr id="108" name="TextBox 107"/>
          <p:cNvSpPr txBox="1"/>
          <p:nvPr/>
        </p:nvSpPr>
        <p:spPr>
          <a:xfrm>
            <a:off x="270205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Variant</a:t>
            </a:r>
          </a:p>
        </p:txBody>
      </p:sp>
      <p:sp>
        <p:nvSpPr>
          <p:cNvPr id="109" name="TextBox 108"/>
          <p:cNvSpPr txBox="1"/>
          <p:nvPr/>
        </p:nvSpPr>
        <p:spPr>
          <a:xfrm>
            <a:off x="270205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switch size or colour</a:t>
            </a:r>
          </a:p>
        </p:txBody>
      </p:sp>
      <p:cxnSp>
        <p:nvCxnSpPr>
          <p:cNvPr id="110" name="Connector 109"/>
          <p:cNvCxnSpPr/>
          <p:nvPr/>
        </p:nvCxnSpPr>
        <p:spPr>
          <a:xfrm>
            <a:off x="358902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1" name="Rounded Rectangle 110"/>
          <p:cNvSpPr/>
          <p:nvPr/>
        </p:nvSpPr>
        <p:spPr>
          <a:xfrm>
            <a:off x="387705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Rounded Rectangle 111"/>
          <p:cNvSpPr/>
          <p:nvPr/>
        </p:nvSpPr>
        <p:spPr>
          <a:xfrm>
            <a:off x="384048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931920" y="1563624"/>
            <a:ext cx="457200" cy="45720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shopping-cart-ink.png"/>
          <p:cNvPicPr>
            <a:picLocks noChangeAspect="1"/>
          </p:cNvPicPr>
          <p:nvPr/>
        </p:nvPicPr>
        <p:blipFill>
          <a:blip r:embed="rId7"/>
          <a:stretch>
            <a:fillRect/>
          </a:stretch>
        </p:blipFill>
        <p:spPr>
          <a:xfrm>
            <a:off x="4023359" y="1655064"/>
            <a:ext cx="274320" cy="274320"/>
          </a:xfrm>
          <a:prstGeom prst="rect">
            <a:avLst/>
          </a:prstGeom>
        </p:spPr>
      </p:pic>
      <p:sp>
        <p:nvSpPr>
          <p:cNvPr id="115" name="TextBox 114"/>
          <p:cNvSpPr txBox="1"/>
          <p:nvPr/>
        </p:nvSpPr>
        <p:spPr>
          <a:xfrm>
            <a:off x="446227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Cart</a:t>
            </a:r>
          </a:p>
        </p:txBody>
      </p:sp>
      <p:sp>
        <p:nvSpPr>
          <p:cNvPr id="116" name="TextBox 115"/>
          <p:cNvSpPr txBox="1"/>
          <p:nvPr/>
        </p:nvSpPr>
        <p:spPr>
          <a:xfrm>
            <a:off x="446227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what got added?</a:t>
            </a:r>
          </a:p>
        </p:txBody>
      </p:sp>
      <p:cxnSp>
        <p:nvCxnSpPr>
          <p:cNvPr id="117" name="Connector 116"/>
          <p:cNvCxnSpPr/>
          <p:nvPr/>
        </p:nvCxnSpPr>
        <p:spPr>
          <a:xfrm>
            <a:off x="5349240" y="1819656"/>
            <a:ext cx="205740"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8" name="Rounded Rectangle 117"/>
          <p:cNvSpPr/>
          <p:nvPr/>
        </p:nvSpPr>
        <p:spPr>
          <a:xfrm>
            <a:off x="563727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Rounded Rectangle 118"/>
          <p:cNvSpPr/>
          <p:nvPr/>
        </p:nvSpPr>
        <p:spPr>
          <a:xfrm>
            <a:off x="560070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Rounded Rectangle 119"/>
          <p:cNvSpPr/>
          <p:nvPr/>
        </p:nvSpPr>
        <p:spPr>
          <a:xfrm>
            <a:off x="5692140" y="1563624"/>
            <a:ext cx="457200" cy="457200"/>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1" name="Picture 120" descr="l-clipboard-list-ink.png"/>
          <p:cNvPicPr>
            <a:picLocks noChangeAspect="1"/>
          </p:cNvPicPr>
          <p:nvPr/>
        </p:nvPicPr>
        <p:blipFill>
          <a:blip r:embed="rId8"/>
          <a:stretch>
            <a:fillRect/>
          </a:stretch>
        </p:blipFill>
        <p:spPr>
          <a:xfrm>
            <a:off x="5783579" y="1655064"/>
            <a:ext cx="274320" cy="274320"/>
          </a:xfrm>
          <a:prstGeom prst="rect">
            <a:avLst/>
          </a:prstGeom>
        </p:spPr>
      </p:pic>
      <p:sp>
        <p:nvSpPr>
          <p:cNvPr id="122" name="TextBox 121"/>
          <p:cNvSpPr txBox="1"/>
          <p:nvPr/>
        </p:nvSpPr>
        <p:spPr>
          <a:xfrm>
            <a:off x="622249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Checkout</a:t>
            </a:r>
          </a:p>
        </p:txBody>
      </p:sp>
      <p:sp>
        <p:nvSpPr>
          <p:cNvPr id="123" name="TextBox 122"/>
          <p:cNvSpPr txBox="1"/>
          <p:nvPr/>
        </p:nvSpPr>
        <p:spPr>
          <a:xfrm>
            <a:off x="622249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pre-ticked? hidden options?</a:t>
            </a:r>
          </a:p>
        </p:txBody>
      </p:sp>
      <p:cxnSp>
        <p:nvCxnSpPr>
          <p:cNvPr id="124" name="Connector 123"/>
          <p:cNvCxnSpPr/>
          <p:nvPr/>
        </p:nvCxnSpPr>
        <p:spPr>
          <a:xfrm>
            <a:off x="7109459" y="1819656"/>
            <a:ext cx="205741"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5" name="Rounded Rectangle 124"/>
          <p:cNvSpPr/>
          <p:nvPr/>
        </p:nvSpPr>
        <p:spPr>
          <a:xfrm>
            <a:off x="7397496" y="1481328"/>
            <a:ext cx="1463040" cy="749808"/>
          </a:xfrm>
          <a:prstGeom prst="roundRect">
            <a:avLst>
              <a:gd name="adj" fmla="val 12195"/>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Rounded Rectangle 125"/>
          <p:cNvSpPr/>
          <p:nvPr/>
        </p:nvSpPr>
        <p:spPr>
          <a:xfrm>
            <a:off x="7360920" y="1444752"/>
            <a:ext cx="1463040" cy="749808"/>
          </a:xfrm>
          <a:prstGeom prst="roundRect">
            <a:avLst>
              <a:gd name="adj" fmla="val 12195"/>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7452360" y="1563624"/>
            <a:ext cx="457200" cy="457200"/>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l-credit-card-ink.png"/>
          <p:cNvPicPr>
            <a:picLocks noChangeAspect="1"/>
          </p:cNvPicPr>
          <p:nvPr/>
        </p:nvPicPr>
        <p:blipFill>
          <a:blip r:embed="rId9"/>
          <a:stretch>
            <a:fillRect/>
          </a:stretch>
        </p:blipFill>
        <p:spPr>
          <a:xfrm>
            <a:off x="7543800" y="1655064"/>
            <a:ext cx="274320" cy="274320"/>
          </a:xfrm>
          <a:prstGeom prst="rect">
            <a:avLst/>
          </a:prstGeom>
        </p:spPr>
      </p:pic>
      <p:sp>
        <p:nvSpPr>
          <p:cNvPr id="129" name="TextBox 128"/>
          <p:cNvSpPr txBox="1"/>
          <p:nvPr/>
        </p:nvSpPr>
        <p:spPr>
          <a:xfrm>
            <a:off x="7982712" y="1536192"/>
            <a:ext cx="786384" cy="274320"/>
          </a:xfrm>
          <a:prstGeom prst="rect">
            <a:avLst/>
          </a:prstGeom>
          <a:noFill/>
        </p:spPr>
        <p:txBody>
          <a:bodyPr wrap="square" lIns="0" rIns="0" tIns="0" bIns="0" anchor="t">
            <a:noAutofit/>
          </a:bodyPr>
          <a:lstStyle/>
          <a:p>
            <a:pPr algn="l">
              <a:lnSpc>
                <a:spcPct val="100000"/>
              </a:lnSpc>
              <a:spcAft>
                <a:spcPts val="0"/>
              </a:spcAft>
            </a:pPr>
            <a:r>
              <a:rPr sz="1050" b="1">
                <a:solidFill>
                  <a:srgbClr val="111111"/>
                </a:solidFill>
                <a:latin typeface="Google Sans Flex"/>
              </a:rPr>
              <a:t>Payment</a:t>
            </a:r>
          </a:p>
        </p:txBody>
      </p:sp>
      <p:sp>
        <p:nvSpPr>
          <p:cNvPr id="130" name="TextBox 129"/>
          <p:cNvSpPr txBox="1"/>
          <p:nvPr/>
        </p:nvSpPr>
        <p:spPr>
          <a:xfrm>
            <a:off x="7982712" y="1792224"/>
            <a:ext cx="786384" cy="347472"/>
          </a:xfrm>
          <a:prstGeom prst="rect">
            <a:avLst/>
          </a:prstGeom>
          <a:noFill/>
        </p:spPr>
        <p:txBody>
          <a:bodyPr wrap="square" lIns="0" rIns="0" tIns="0" bIns="0" anchor="t">
            <a:noAutofit/>
          </a:bodyPr>
          <a:lstStyle/>
          <a:p>
            <a:pPr algn="l">
              <a:lnSpc>
                <a:spcPct val="95000"/>
              </a:lnSpc>
              <a:spcAft>
                <a:spcPts val="0"/>
              </a:spcAft>
            </a:pPr>
            <a:r>
              <a:rPr sz="850" b="0">
                <a:solidFill>
                  <a:srgbClr val="5F6368"/>
                </a:solidFill>
                <a:latin typeface="Google Sans Flex"/>
              </a:rPr>
              <a:t>late fees · never pays</a:t>
            </a:r>
          </a:p>
        </p:txBody>
      </p:sp>
      <p:sp>
        <p:nvSpPr>
          <p:cNvPr id="131" name="Rounded Rectangle 130"/>
          <p:cNvSpPr/>
          <p:nvPr/>
        </p:nvSpPr>
        <p:spPr>
          <a:xfrm>
            <a:off x="5143500" y="2331720"/>
            <a:ext cx="3566160" cy="329184"/>
          </a:xfrm>
          <a:prstGeom prst="roundRect">
            <a:avLst>
              <a:gd name="adj" fmla="val 22222"/>
            </a:avLst>
          </a:prstGeom>
          <a:solidFill>
            <a:srgbClr val="FFF8EC"/>
          </a:solidFill>
          <a:ln w="12700">
            <a:solidFill>
              <a:srgbClr val="11111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l-lock-ink.png"/>
          <p:cNvPicPr>
            <a:picLocks noChangeAspect="1"/>
          </p:cNvPicPr>
          <p:nvPr/>
        </p:nvPicPr>
        <p:blipFill>
          <a:blip r:embed="rId10"/>
          <a:stretch>
            <a:fillRect/>
          </a:stretch>
        </p:blipFill>
        <p:spPr>
          <a:xfrm>
            <a:off x="5234940" y="2386584"/>
            <a:ext cx="219456" cy="219456"/>
          </a:xfrm>
          <a:prstGeom prst="rect">
            <a:avLst/>
          </a:prstGeom>
        </p:spPr>
      </p:pic>
      <p:sp>
        <p:nvSpPr>
          <p:cNvPr id="133" name="TextBox 132"/>
          <p:cNvSpPr txBox="1"/>
          <p:nvPr/>
        </p:nvSpPr>
        <p:spPr>
          <a:xfrm>
            <a:off x="5527548" y="2331720"/>
            <a:ext cx="3108960" cy="329184"/>
          </a:xfrm>
          <a:prstGeom prst="rect">
            <a:avLst/>
          </a:prstGeom>
          <a:noFill/>
        </p:spPr>
        <p:txBody>
          <a:bodyPr wrap="square" lIns="0" rIns="0" tIns="0" bIns="0" anchor="ctr">
            <a:noAutofit/>
          </a:bodyPr>
          <a:lstStyle/>
          <a:p>
            <a:pPr algn="l">
              <a:lnSpc>
                <a:spcPct val="100000"/>
              </a:lnSpc>
              <a:spcAft>
                <a:spcPts val="0"/>
              </a:spcAft>
            </a:pPr>
            <a:r>
              <a:rPr sz="850" b="0">
                <a:solidFill>
                  <a:srgbClr val="111111"/>
                </a:solidFill>
                <a:latin typeface="Google Sans Flex Medium"/>
              </a:rPr>
              <a:t>Sign-in wall or bot protection? Stop, and report what it saw.</a:t>
            </a:r>
          </a:p>
        </p:txBody>
      </p:sp>
      <p:cxnSp>
        <p:nvCxnSpPr>
          <p:cNvPr id="134" name="Connector 133"/>
          <p:cNvCxnSpPr/>
          <p:nvPr/>
        </p:nvCxnSpPr>
        <p:spPr>
          <a:xfrm>
            <a:off x="320040" y="2788920"/>
            <a:ext cx="8503920" cy="0"/>
          </a:xfrm>
          <a:prstGeom prst="line">
            <a:avLst/>
          </a:prstGeom>
          <a:ln w="12700">
            <a:solidFill>
              <a:srgbClr val="DADCE0"/>
            </a:solidFill>
          </a:ln>
        </p:spPr>
        <p:style>
          <a:lnRef idx="2">
            <a:schemeClr val="accent1"/>
          </a:lnRef>
          <a:fillRef idx="0">
            <a:schemeClr val="accent1"/>
          </a:fillRef>
          <a:effectRef idx="1">
            <a:schemeClr val="accent1"/>
          </a:effectRef>
          <a:fontRef idx="minor">
            <a:schemeClr val="tx1"/>
          </a:fontRef>
        </p:style>
      </p:cxnSp>
      <p:sp>
        <p:nvSpPr>
          <p:cNvPr id="135" name="TextBox 134"/>
          <p:cNvSpPr txBox="1"/>
          <p:nvPr/>
        </p:nvSpPr>
        <p:spPr>
          <a:xfrm>
            <a:off x="320040" y="2862072"/>
            <a:ext cx="5486400" cy="201168"/>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ON EVERY SCREEN  </a:t>
            </a:r>
            <a:r>
              <a:rPr sz="900" b="0">
                <a:solidFill>
                  <a:srgbClr val="5F6368"/>
                </a:solidFill>
                <a:latin typeface="Google Sans Flex"/>
              </a:rPr>
              <a:t>an ADK agent graph: measure first, then Gemini judges, then an agent re-checks with tools</a:t>
            </a:r>
          </a:p>
        </p:txBody>
      </p:sp>
      <p:sp>
        <p:nvSpPr>
          <p:cNvPr id="136" name="Rounded Rectangle 135"/>
          <p:cNvSpPr/>
          <p:nvPr/>
        </p:nvSpPr>
        <p:spPr>
          <a:xfrm>
            <a:off x="356615"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Rounded Rectangle 136"/>
          <p:cNvSpPr/>
          <p:nvPr/>
        </p:nvSpPr>
        <p:spPr>
          <a:xfrm>
            <a:off x="32004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Rounded Rectangle 137"/>
          <p:cNvSpPr/>
          <p:nvPr/>
        </p:nvSpPr>
        <p:spPr>
          <a:xfrm>
            <a:off x="429768"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9" name="Picture 138" descr="l-scan-eye-ink.png"/>
          <p:cNvPicPr>
            <a:picLocks noChangeAspect="1"/>
          </p:cNvPicPr>
          <p:nvPr/>
        </p:nvPicPr>
        <p:blipFill>
          <a:blip r:embed="rId11"/>
          <a:stretch>
            <a:fillRect/>
          </a:stretch>
        </p:blipFill>
        <p:spPr>
          <a:xfrm>
            <a:off x="495604" y="3302812"/>
            <a:ext cx="234086" cy="234086"/>
          </a:xfrm>
          <a:prstGeom prst="rect">
            <a:avLst/>
          </a:prstGeom>
        </p:spPr>
      </p:pic>
      <p:sp>
        <p:nvSpPr>
          <p:cNvPr id="140" name="TextBox 139"/>
          <p:cNvSpPr txBox="1"/>
          <p:nvPr/>
        </p:nvSpPr>
        <p:spPr>
          <a:xfrm>
            <a:off x="42976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Capture</a:t>
            </a:r>
          </a:p>
        </p:txBody>
      </p:sp>
      <p:sp>
        <p:nvSpPr>
          <p:cNvPr id="141" name="TextBox 140"/>
          <p:cNvSpPr txBox="1"/>
          <p:nvPr/>
        </p:nvSpPr>
        <p:spPr>
          <a:xfrm>
            <a:off x="42976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screenshot + every element measured</a:t>
            </a:r>
          </a:p>
        </p:txBody>
      </p:sp>
      <p:cxnSp>
        <p:nvCxnSpPr>
          <p:cNvPr id="142" name="Connector 141"/>
          <p:cNvCxnSpPr/>
          <p:nvPr/>
        </p:nvCxnSpPr>
        <p:spPr>
          <a:xfrm>
            <a:off x="1618488"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Rounded Rectangle 142"/>
          <p:cNvSpPr/>
          <p:nvPr/>
        </p:nvSpPr>
        <p:spPr>
          <a:xfrm>
            <a:off x="1801368"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4" name="Rounded Rectangle 143"/>
          <p:cNvSpPr/>
          <p:nvPr/>
        </p:nvSpPr>
        <p:spPr>
          <a:xfrm>
            <a:off x="1764792"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1874520" y="3236976"/>
            <a:ext cx="365760" cy="365760"/>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ruler-ink.png"/>
          <p:cNvPicPr>
            <a:picLocks noChangeAspect="1"/>
          </p:cNvPicPr>
          <p:nvPr/>
        </p:nvPicPr>
        <p:blipFill>
          <a:blip r:embed="rId12"/>
          <a:stretch>
            <a:fillRect/>
          </a:stretch>
        </p:blipFill>
        <p:spPr>
          <a:xfrm>
            <a:off x="1940356" y="3302812"/>
            <a:ext cx="234086" cy="234086"/>
          </a:xfrm>
          <a:prstGeom prst="rect">
            <a:avLst/>
          </a:prstGeom>
        </p:spPr>
      </p:pic>
      <p:sp>
        <p:nvSpPr>
          <p:cNvPr id="147" name="TextBox 146"/>
          <p:cNvSpPr txBox="1"/>
          <p:nvPr/>
        </p:nvSpPr>
        <p:spPr>
          <a:xfrm>
            <a:off x="1874520"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Measured checks</a:t>
            </a:r>
          </a:p>
        </p:txBody>
      </p:sp>
      <p:sp>
        <p:nvSpPr>
          <p:cNvPr id="148" name="TextBox 147"/>
          <p:cNvSpPr txBox="1"/>
          <p:nvPr/>
        </p:nvSpPr>
        <p:spPr>
          <a:xfrm>
            <a:off x="1874520"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timers, stock, cart, fees, prices</a:t>
            </a:r>
          </a:p>
        </p:txBody>
      </p:sp>
      <p:cxnSp>
        <p:nvCxnSpPr>
          <p:cNvPr id="149" name="Connector 148"/>
          <p:cNvCxnSpPr/>
          <p:nvPr/>
        </p:nvCxnSpPr>
        <p:spPr>
          <a:xfrm>
            <a:off x="3063240"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0" name="Rounded Rectangle 149"/>
          <p:cNvSpPr/>
          <p:nvPr/>
        </p:nvSpPr>
        <p:spPr>
          <a:xfrm>
            <a:off x="3246120"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3209544"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3319272" y="3236976"/>
            <a:ext cx="365760" cy="365760"/>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 name="Picture 152" descr="brand-gemini.png"/>
          <p:cNvPicPr>
            <a:picLocks noChangeAspect="1"/>
          </p:cNvPicPr>
          <p:nvPr/>
        </p:nvPicPr>
        <p:blipFill>
          <a:blip r:embed="rId13"/>
          <a:stretch>
            <a:fillRect/>
          </a:stretch>
        </p:blipFill>
        <p:spPr>
          <a:xfrm>
            <a:off x="3385108" y="3302812"/>
            <a:ext cx="234086" cy="234086"/>
          </a:xfrm>
          <a:prstGeom prst="rect">
            <a:avLst/>
          </a:prstGeom>
        </p:spPr>
      </p:pic>
      <p:sp>
        <p:nvSpPr>
          <p:cNvPr id="154" name="TextBox 153"/>
          <p:cNvSpPr txBox="1"/>
          <p:nvPr/>
        </p:nvSpPr>
        <p:spPr>
          <a:xfrm>
            <a:off x="3319272"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Pattern Analyst</a:t>
            </a:r>
          </a:p>
        </p:txBody>
      </p:sp>
      <p:sp>
        <p:nvSpPr>
          <p:cNvPr id="155" name="TextBox 154"/>
          <p:cNvSpPr txBox="1"/>
          <p:nvPr/>
        </p:nvSpPr>
        <p:spPr>
          <a:xfrm>
            <a:off x="3319272"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Gemini reads wording and design</a:t>
            </a:r>
          </a:p>
        </p:txBody>
      </p:sp>
      <p:cxnSp>
        <p:nvCxnSpPr>
          <p:cNvPr id="156" name="Connector 155"/>
          <p:cNvCxnSpPr/>
          <p:nvPr/>
        </p:nvCxnSpPr>
        <p:spPr>
          <a:xfrm>
            <a:off x="4507992"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7" name="Rounded Rectangle 156"/>
          <p:cNvSpPr/>
          <p:nvPr/>
        </p:nvSpPr>
        <p:spPr>
          <a:xfrm>
            <a:off x="4690872"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Rounded Rectangle 157"/>
          <p:cNvSpPr/>
          <p:nvPr/>
        </p:nvSpPr>
        <p:spPr>
          <a:xfrm>
            <a:off x="4654296"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4764024" y="3236976"/>
            <a:ext cx="365760" cy="365760"/>
          </a:xfrm>
          <a:prstGeom prst="roundRect">
            <a:avLst>
              <a:gd name="adj" fmla="val 24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l-target-ink.png"/>
          <p:cNvPicPr>
            <a:picLocks noChangeAspect="1"/>
          </p:cNvPicPr>
          <p:nvPr/>
        </p:nvPicPr>
        <p:blipFill>
          <a:blip r:embed="rId14"/>
          <a:stretch>
            <a:fillRect/>
          </a:stretch>
        </p:blipFill>
        <p:spPr>
          <a:xfrm>
            <a:off x="4829860" y="3302812"/>
            <a:ext cx="234086" cy="234086"/>
          </a:xfrm>
          <a:prstGeom prst="rect">
            <a:avLst/>
          </a:prstGeom>
        </p:spPr>
      </p:pic>
      <p:sp>
        <p:nvSpPr>
          <p:cNvPr id="161" name="TextBox 160"/>
          <p:cNvSpPr txBox="1"/>
          <p:nvPr/>
        </p:nvSpPr>
        <p:spPr>
          <a:xfrm>
            <a:off x="4764024"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Evidence rules</a:t>
            </a:r>
          </a:p>
        </p:txBody>
      </p:sp>
      <p:sp>
        <p:nvSpPr>
          <p:cNvPr id="162" name="TextBox 161"/>
          <p:cNvSpPr txBox="1"/>
          <p:nvPr/>
        </p:nvSpPr>
        <p:spPr>
          <a:xfrm>
            <a:off x="4764024"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must cite a measured element</a:t>
            </a:r>
          </a:p>
        </p:txBody>
      </p:sp>
      <p:cxnSp>
        <p:nvCxnSpPr>
          <p:cNvPr id="163" name="Connector 162"/>
          <p:cNvCxnSpPr/>
          <p:nvPr/>
        </p:nvCxnSpPr>
        <p:spPr>
          <a:xfrm>
            <a:off x="5952744"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Rounded Rectangle 163"/>
          <p:cNvSpPr/>
          <p:nvPr/>
        </p:nvSpPr>
        <p:spPr>
          <a:xfrm>
            <a:off x="6135624"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Rounded Rectangle 164"/>
          <p:cNvSpPr/>
          <p:nvPr/>
        </p:nvSpPr>
        <p:spPr>
          <a:xfrm>
            <a:off x="6099048"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Rounded Rectangle 165"/>
          <p:cNvSpPr/>
          <p:nvPr/>
        </p:nvSpPr>
        <p:spPr>
          <a:xfrm>
            <a:off x="6208776" y="3236976"/>
            <a:ext cx="365760" cy="365760"/>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7" name="Picture 166" descr="l-scale-ink.png"/>
          <p:cNvPicPr>
            <a:picLocks noChangeAspect="1"/>
          </p:cNvPicPr>
          <p:nvPr/>
        </p:nvPicPr>
        <p:blipFill>
          <a:blip r:embed="rId15"/>
          <a:stretch>
            <a:fillRect/>
          </a:stretch>
        </p:blipFill>
        <p:spPr>
          <a:xfrm>
            <a:off x="6274612" y="3302812"/>
            <a:ext cx="234086" cy="234086"/>
          </a:xfrm>
          <a:prstGeom prst="rect">
            <a:avLst/>
          </a:prstGeom>
        </p:spPr>
      </p:pic>
      <p:sp>
        <p:nvSpPr>
          <p:cNvPr id="168" name="TextBox 167"/>
          <p:cNvSpPr txBox="1"/>
          <p:nvPr/>
        </p:nvSpPr>
        <p:spPr>
          <a:xfrm>
            <a:off x="6208776"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Adjudicator</a:t>
            </a:r>
          </a:p>
        </p:txBody>
      </p:sp>
      <p:sp>
        <p:nvSpPr>
          <p:cNvPr id="169" name="TextBox 168"/>
          <p:cNvSpPr txBox="1"/>
          <p:nvPr/>
        </p:nvSpPr>
        <p:spPr>
          <a:xfrm>
            <a:off x="6208776"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re-checks it with tools</a:t>
            </a:r>
          </a:p>
        </p:txBody>
      </p:sp>
      <p:cxnSp>
        <p:nvCxnSpPr>
          <p:cNvPr id="170" name="Connector 169"/>
          <p:cNvCxnSpPr/>
          <p:nvPr/>
        </p:nvCxnSpPr>
        <p:spPr>
          <a:xfrm>
            <a:off x="7397496" y="3639312"/>
            <a:ext cx="128016" cy="0"/>
          </a:xfrm>
          <a:prstGeom prst="line">
            <a:avLst/>
          </a:prstGeom>
          <a:ln w="1905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Rounded Rectangle 170"/>
          <p:cNvSpPr/>
          <p:nvPr/>
        </p:nvSpPr>
        <p:spPr>
          <a:xfrm>
            <a:off x="7580376" y="3163824"/>
            <a:ext cx="1280160" cy="1024128"/>
          </a:xfrm>
          <a:prstGeom prst="roundRect">
            <a:avLst>
              <a:gd name="adj" fmla="val 8928"/>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7543800" y="3127248"/>
            <a:ext cx="1280160" cy="1024128"/>
          </a:xfrm>
          <a:prstGeom prst="roundRect">
            <a:avLst>
              <a:gd name="adj" fmla="val 8928"/>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ounded Rectangle 172"/>
          <p:cNvSpPr/>
          <p:nvPr/>
        </p:nvSpPr>
        <p:spPr>
          <a:xfrm>
            <a:off x="7653528" y="3236976"/>
            <a:ext cx="365760" cy="365760"/>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 name="Picture 173" descr="l-badge-check-ink.png"/>
          <p:cNvPicPr>
            <a:picLocks noChangeAspect="1"/>
          </p:cNvPicPr>
          <p:nvPr/>
        </p:nvPicPr>
        <p:blipFill>
          <a:blip r:embed="rId16"/>
          <a:stretch>
            <a:fillRect/>
          </a:stretch>
        </p:blipFill>
        <p:spPr>
          <a:xfrm>
            <a:off x="7719364" y="3302812"/>
            <a:ext cx="234086" cy="234086"/>
          </a:xfrm>
          <a:prstGeom prst="rect">
            <a:avLst/>
          </a:prstGeom>
        </p:spPr>
      </p:pic>
      <p:sp>
        <p:nvSpPr>
          <p:cNvPr id="175" name="TextBox 174"/>
          <p:cNvSpPr txBox="1"/>
          <p:nvPr/>
        </p:nvSpPr>
        <p:spPr>
          <a:xfrm>
            <a:off x="7653528" y="3648456"/>
            <a:ext cx="1097280" cy="201168"/>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Verdict</a:t>
            </a:r>
          </a:p>
        </p:txBody>
      </p:sp>
      <p:sp>
        <p:nvSpPr>
          <p:cNvPr id="176" name="TextBox 175"/>
          <p:cNvSpPr txBox="1"/>
          <p:nvPr/>
        </p:nvSpPr>
        <p:spPr>
          <a:xfrm>
            <a:off x="7653528" y="3840480"/>
            <a:ext cx="1097280" cy="310896"/>
          </a:xfrm>
          <a:prstGeom prst="rect">
            <a:avLst/>
          </a:prstGeom>
          <a:noFill/>
        </p:spPr>
        <p:txBody>
          <a:bodyPr wrap="square" lIns="0" rIns="0" tIns="0" bIns="0" anchor="t">
            <a:noAutofit/>
          </a:bodyPr>
          <a:lstStyle/>
          <a:p>
            <a:pPr algn="l">
              <a:lnSpc>
                <a:spcPct val="95000"/>
              </a:lnSpc>
              <a:spcAft>
                <a:spcPts val="0"/>
              </a:spcAft>
            </a:pPr>
            <a:r>
              <a:rPr sz="800" b="0">
                <a:solidFill>
                  <a:srgbClr val="5F6368"/>
                </a:solidFill>
                <a:latin typeface="Google Sans Flex"/>
              </a:rPr>
              <a:t>confirmed · review · dropped</a:t>
            </a:r>
          </a:p>
        </p:txBody>
      </p:sp>
      <p:sp>
        <p:nvSpPr>
          <p:cNvPr id="177" name="Rounded Rectangle 176"/>
          <p:cNvSpPr/>
          <p:nvPr/>
        </p:nvSpPr>
        <p:spPr>
          <a:xfrm>
            <a:off x="320040" y="4334256"/>
            <a:ext cx="8503920" cy="438912"/>
          </a:xfrm>
          <a:prstGeom prst="roundRect">
            <a:avLst>
              <a:gd name="adj" fmla="val 20833"/>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l-file-down-white.png"/>
          <p:cNvPicPr>
            <a:picLocks noChangeAspect="1"/>
          </p:cNvPicPr>
          <p:nvPr/>
        </p:nvPicPr>
        <p:blipFill>
          <a:blip r:embed="rId17"/>
          <a:stretch>
            <a:fillRect/>
          </a:stretch>
        </p:blipFill>
        <p:spPr>
          <a:xfrm>
            <a:off x="466344" y="4425696"/>
            <a:ext cx="256032" cy="256032"/>
          </a:xfrm>
          <a:prstGeom prst="rect">
            <a:avLst/>
          </a:prstGeom>
        </p:spPr>
      </p:pic>
      <p:sp>
        <p:nvSpPr>
          <p:cNvPr id="179" name="TextBox 178"/>
          <p:cNvSpPr txBox="1"/>
          <p:nvPr/>
        </p:nvSpPr>
        <p:spPr>
          <a:xfrm>
            <a:off x="832104" y="4334256"/>
            <a:ext cx="7863840" cy="438912"/>
          </a:xfrm>
          <a:prstGeom prst="rect">
            <a:avLst/>
          </a:prstGeom>
          <a:noFill/>
        </p:spPr>
        <p:txBody>
          <a:bodyPr wrap="square" lIns="0" rIns="0" tIns="0" bIns="0" anchor="ctr">
            <a:noAutofit/>
          </a:bodyPr>
          <a:lstStyle/>
          <a:p>
            <a:pPr algn="l">
              <a:lnSpc>
                <a:spcPct val="100000"/>
              </a:lnSpc>
              <a:spcAft>
                <a:spcPts val="0"/>
              </a:spcAft>
            </a:pPr>
            <a:r>
              <a:rPr sz="1050" b="1">
                <a:solidFill>
                  <a:srgbClr val="C6F432"/>
                </a:solidFill>
                <a:latin typeface="Google Sans Flex"/>
              </a:rPr>
              <a:t>Report  </a:t>
            </a:r>
            <a:r>
              <a:rPr sz="1050" b="0">
                <a:solidFill>
                  <a:srgbClr val="FFFFFF"/>
                </a:solidFill>
                <a:latin typeface="Google Sans Flex"/>
              </a:rPr>
              <a:t>trust score  ·  the real bill  ·  law in 7 regions  ·  CCPA self-audit  ·  PDF   →   Fix it: projected, then verified on a copy</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Rounded Rectangle 103"/>
          <p:cNvSpPr/>
          <p:nvPr/>
        </p:nvSpPr>
        <p:spPr>
          <a:xfrm>
            <a:off x="365759"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Rounded Rectangle 104"/>
          <p:cNvSpPr/>
          <p:nvPr/>
        </p:nvSpPr>
        <p:spPr>
          <a:xfrm>
            <a:off x="320040"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Rounded Rectangle 105"/>
          <p:cNvSpPr/>
          <p:nvPr/>
        </p:nvSpPr>
        <p:spPr>
          <a:xfrm>
            <a:off x="320040"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Oval 106"/>
          <p:cNvSpPr/>
          <p:nvPr/>
        </p:nvSpPr>
        <p:spPr>
          <a:xfrm>
            <a:off x="411479"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Oval 107"/>
          <p:cNvSpPr/>
          <p:nvPr/>
        </p:nvSpPr>
        <p:spPr>
          <a:xfrm>
            <a:off x="521207"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Oval 108"/>
          <p:cNvSpPr/>
          <p:nvPr/>
        </p:nvSpPr>
        <p:spPr>
          <a:xfrm>
            <a:off x="630936"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0" name="Picture 109" descr="Paste a URL or pick a store"/>
          <p:cNvPicPr>
            <a:picLocks noChangeAspect="1"/>
          </p:cNvPicPr>
          <p:nvPr/>
        </p:nvPicPr>
        <p:blipFill>
          <a:blip r:embed="rId5"/>
          <a:stretch>
            <a:fillRect/>
          </a:stretch>
        </p:blipFill>
        <p:spPr>
          <a:xfrm>
            <a:off x="347472" y="1472184"/>
            <a:ext cx="2584704" cy="1615440"/>
          </a:xfrm>
          <a:prstGeom prst="rect">
            <a:avLst/>
          </a:prstGeom>
        </p:spPr>
      </p:pic>
      <p:sp>
        <p:nvSpPr>
          <p:cNvPr id="111" name="Oval 110"/>
          <p:cNvSpPr/>
          <p:nvPr/>
        </p:nvSpPr>
        <p:spPr>
          <a:xfrm>
            <a:off x="320040" y="3310128"/>
            <a:ext cx="347472" cy="347472"/>
          </a:xfrm>
          <a:prstGeom prst="ellipse">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Box 111"/>
          <p:cNvSpPr txBox="1"/>
          <p:nvPr/>
        </p:nvSpPr>
        <p:spPr>
          <a:xfrm>
            <a:off x="320040"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1</a:t>
            </a:r>
          </a:p>
        </p:txBody>
      </p:sp>
      <p:sp>
        <p:nvSpPr>
          <p:cNvPr id="113" name="TextBox 112"/>
          <p:cNvSpPr txBox="1"/>
          <p:nvPr/>
        </p:nvSpPr>
        <p:spPr>
          <a:xfrm>
            <a:off x="758952"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Paste a URL or pick a store</a:t>
            </a:r>
          </a:p>
        </p:txBody>
      </p:sp>
      <p:sp>
        <p:nvSpPr>
          <p:cNvPr id="114" name="TextBox 113"/>
          <p:cNvSpPr txBox="1"/>
          <p:nvPr/>
        </p:nvSpPr>
        <p:spPr>
          <a:xfrm>
            <a:off x="758952"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Sample stores, or any public store, logged out.</a:t>
            </a:r>
          </a:p>
        </p:txBody>
      </p:sp>
      <p:cxnSp>
        <p:nvCxnSpPr>
          <p:cNvPr id="115" name="Connector 114"/>
          <p:cNvCxnSpPr/>
          <p:nvPr/>
        </p:nvCxnSpPr>
        <p:spPr>
          <a:xfrm>
            <a:off x="3005328"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6" name="Rounded Rectangle 115"/>
          <p:cNvSpPr/>
          <p:nvPr/>
        </p:nvSpPr>
        <p:spPr>
          <a:xfrm>
            <a:off x="3297936"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3252216"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Rounded Rectangle 117"/>
          <p:cNvSpPr/>
          <p:nvPr/>
        </p:nvSpPr>
        <p:spPr>
          <a:xfrm>
            <a:off x="3252216"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Oval 118"/>
          <p:cNvSpPr/>
          <p:nvPr/>
        </p:nvSpPr>
        <p:spPr>
          <a:xfrm>
            <a:off x="3343656"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Oval 119"/>
          <p:cNvSpPr/>
          <p:nvPr/>
        </p:nvSpPr>
        <p:spPr>
          <a:xfrm>
            <a:off x="3453384"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Oval 120"/>
          <p:cNvSpPr/>
          <p:nvPr/>
        </p:nvSpPr>
        <p:spPr>
          <a:xfrm>
            <a:off x="3563112"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Watch the agents shop, live"/>
          <p:cNvPicPr>
            <a:picLocks noChangeAspect="1"/>
          </p:cNvPicPr>
          <p:nvPr/>
        </p:nvPicPr>
        <p:blipFill>
          <a:blip r:embed="rId6"/>
          <a:stretch>
            <a:fillRect/>
          </a:stretch>
        </p:blipFill>
        <p:spPr>
          <a:xfrm>
            <a:off x="3279648" y="1472184"/>
            <a:ext cx="2584704" cy="1615440"/>
          </a:xfrm>
          <a:prstGeom prst="rect">
            <a:avLst/>
          </a:prstGeom>
        </p:spPr>
      </p:pic>
      <p:sp>
        <p:nvSpPr>
          <p:cNvPr id="123" name="Oval 122"/>
          <p:cNvSpPr/>
          <p:nvPr/>
        </p:nvSpPr>
        <p:spPr>
          <a:xfrm>
            <a:off x="3252216" y="3310128"/>
            <a:ext cx="347472" cy="347472"/>
          </a:xfrm>
          <a:prstGeom prst="ellipse">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Box 123"/>
          <p:cNvSpPr txBox="1"/>
          <p:nvPr/>
        </p:nvSpPr>
        <p:spPr>
          <a:xfrm>
            <a:off x="3252216"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2</a:t>
            </a:r>
          </a:p>
        </p:txBody>
      </p:sp>
      <p:sp>
        <p:nvSpPr>
          <p:cNvPr id="125" name="TextBox 124"/>
          <p:cNvSpPr txBox="1"/>
          <p:nvPr/>
        </p:nvSpPr>
        <p:spPr>
          <a:xfrm>
            <a:off x="3691128"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Watch the agents shop, live</a:t>
            </a:r>
          </a:p>
        </p:txBody>
      </p:sp>
      <p:sp>
        <p:nvSpPr>
          <p:cNvPr id="126" name="TextBox 125"/>
          <p:cNvSpPr txBox="1"/>
          <p:nvPr/>
        </p:nvSpPr>
        <p:spPr>
          <a:xfrm>
            <a:off x="3691128"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Live browser, journey, receipts so far and the agents' chat.</a:t>
            </a:r>
          </a:p>
        </p:txBody>
      </p:sp>
      <p:cxnSp>
        <p:nvCxnSpPr>
          <p:cNvPr id="127" name="Connector 126"/>
          <p:cNvCxnSpPr/>
          <p:nvPr/>
        </p:nvCxnSpPr>
        <p:spPr>
          <a:xfrm>
            <a:off x="5937504" y="2240280"/>
            <a:ext cx="201168" cy="0"/>
          </a:xfrm>
          <a:prstGeom prst="line">
            <a:avLst/>
          </a:prstGeom>
          <a:ln w="25400">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Rounded Rectangle 127"/>
          <p:cNvSpPr/>
          <p:nvPr/>
        </p:nvSpPr>
        <p:spPr>
          <a:xfrm>
            <a:off x="6230111" y="1325880"/>
            <a:ext cx="2639568" cy="1883664"/>
          </a:xfrm>
          <a:prstGeom prst="roundRect">
            <a:avLst>
              <a:gd name="adj" fmla="val 388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6184391" y="1280160"/>
            <a:ext cx="2639568" cy="1883664"/>
          </a:xfrm>
          <a:prstGeom prst="roundRect">
            <a:avLst>
              <a:gd name="adj" fmla="val 388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Rounded Rectangle 129"/>
          <p:cNvSpPr/>
          <p:nvPr/>
        </p:nvSpPr>
        <p:spPr>
          <a:xfrm>
            <a:off x="6184391" y="1280160"/>
            <a:ext cx="2639568" cy="182880"/>
          </a:xfrm>
          <a:prstGeom prst="roundRect">
            <a:avLst>
              <a:gd name="adj" fmla="val 40000"/>
            </a:avLst>
          </a:prstGeom>
          <a:solidFill>
            <a:srgbClr val="F1F3F4"/>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Oval 130"/>
          <p:cNvSpPr/>
          <p:nvPr/>
        </p:nvSpPr>
        <p:spPr>
          <a:xfrm>
            <a:off x="6275831" y="1335024"/>
            <a:ext cx="73152" cy="73152"/>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Oval 131"/>
          <p:cNvSpPr/>
          <p:nvPr/>
        </p:nvSpPr>
        <p:spPr>
          <a:xfrm>
            <a:off x="6385559" y="1335024"/>
            <a:ext cx="73152" cy="73152"/>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Oval 132"/>
          <p:cNvSpPr/>
          <p:nvPr/>
        </p:nvSpPr>
        <p:spPr>
          <a:xfrm>
            <a:off x="6495287" y="1335024"/>
            <a:ext cx="73152" cy="73152"/>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Get the report, then Fix it"/>
          <p:cNvPicPr>
            <a:picLocks noChangeAspect="1"/>
          </p:cNvPicPr>
          <p:nvPr/>
        </p:nvPicPr>
        <p:blipFill>
          <a:blip r:embed="rId7"/>
          <a:stretch>
            <a:fillRect/>
          </a:stretch>
        </p:blipFill>
        <p:spPr>
          <a:xfrm>
            <a:off x="6211824" y="1472184"/>
            <a:ext cx="2584704" cy="1615440"/>
          </a:xfrm>
          <a:prstGeom prst="rect">
            <a:avLst/>
          </a:prstGeom>
        </p:spPr>
      </p:pic>
      <p:sp>
        <p:nvSpPr>
          <p:cNvPr id="135" name="Oval 134"/>
          <p:cNvSpPr/>
          <p:nvPr/>
        </p:nvSpPr>
        <p:spPr>
          <a:xfrm>
            <a:off x="6184391" y="3310128"/>
            <a:ext cx="347472" cy="347472"/>
          </a:xfrm>
          <a:prstGeom prst="ellipse">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Box 135"/>
          <p:cNvSpPr txBox="1"/>
          <p:nvPr/>
        </p:nvSpPr>
        <p:spPr>
          <a:xfrm>
            <a:off x="6184391" y="3310128"/>
            <a:ext cx="347472" cy="347472"/>
          </a:xfrm>
          <a:prstGeom prst="rect">
            <a:avLst/>
          </a:prstGeom>
          <a:noFill/>
        </p:spPr>
        <p:txBody>
          <a:bodyPr wrap="square" lIns="0" rIns="0" tIns="0" bIns="0" anchor="ctr">
            <a:noAutofit/>
          </a:bodyPr>
          <a:lstStyle/>
          <a:p>
            <a:pPr algn="ctr">
              <a:lnSpc>
                <a:spcPct val="100000"/>
              </a:lnSpc>
              <a:spcAft>
                <a:spcPts val="0"/>
              </a:spcAft>
            </a:pPr>
            <a:r>
              <a:rPr sz="1200" b="1">
                <a:solidFill>
                  <a:srgbClr val="111111"/>
                </a:solidFill>
                <a:latin typeface="Google Sans Flex"/>
              </a:rPr>
              <a:t>3</a:t>
            </a:r>
          </a:p>
        </p:txBody>
      </p:sp>
      <p:sp>
        <p:nvSpPr>
          <p:cNvPr id="137" name="TextBox 136"/>
          <p:cNvSpPr txBox="1"/>
          <p:nvPr/>
        </p:nvSpPr>
        <p:spPr>
          <a:xfrm>
            <a:off x="6623303" y="3310128"/>
            <a:ext cx="2182368" cy="347472"/>
          </a:xfrm>
          <a:prstGeom prst="rect">
            <a:avLst/>
          </a:prstGeom>
          <a:noFill/>
        </p:spPr>
        <p:txBody>
          <a:bodyPr wrap="square" lIns="0" rIns="0" tIns="0" bIns="0" anchor="ctr">
            <a:noAutofit/>
          </a:bodyPr>
          <a:lstStyle/>
          <a:p>
            <a:pPr algn="l">
              <a:lnSpc>
                <a:spcPct val="100000"/>
              </a:lnSpc>
              <a:spcAft>
                <a:spcPts val="0"/>
              </a:spcAft>
            </a:pPr>
            <a:r>
              <a:rPr sz="1150" b="1">
                <a:solidFill>
                  <a:srgbClr val="111111"/>
                </a:solidFill>
                <a:latin typeface="Google Sans Flex"/>
              </a:rPr>
              <a:t>Get the report, then Fix it</a:t>
            </a:r>
          </a:p>
        </p:txBody>
      </p:sp>
      <p:sp>
        <p:nvSpPr>
          <p:cNvPr id="138" name="TextBox 137"/>
          <p:cNvSpPr txBox="1"/>
          <p:nvPr/>
        </p:nvSpPr>
        <p:spPr>
          <a:xfrm>
            <a:off x="6623303" y="3675887"/>
            <a:ext cx="2182368" cy="457200"/>
          </a:xfrm>
          <a:prstGeom prst="rect">
            <a:avLst/>
          </a:prstGeom>
          <a:noFill/>
        </p:spPr>
        <p:txBody>
          <a:bodyPr wrap="square" lIns="0" rIns="0" tIns="0" bIns="0" anchor="t">
            <a:noAutofit/>
          </a:bodyPr>
          <a:lstStyle/>
          <a:p>
            <a:pPr algn="l">
              <a:lnSpc>
                <a:spcPct val="105000"/>
              </a:lnSpc>
              <a:spcAft>
                <a:spcPts val="0"/>
              </a:spcAft>
            </a:pPr>
            <a:r>
              <a:rPr sz="900" b="0">
                <a:solidFill>
                  <a:srgbClr val="5F6368"/>
                </a:solidFill>
                <a:latin typeface="Google Sans Flex"/>
              </a:rPr>
              <a:t>Trust score, the real bill, fine risk and evidence. Then Fix it and verify.</a:t>
            </a:r>
          </a:p>
        </p:txBody>
      </p:sp>
      <p:sp>
        <p:nvSpPr>
          <p:cNvPr id="139" name="Rounded Rectangle 138"/>
          <p:cNvSpPr/>
          <p:nvPr/>
        </p:nvSpPr>
        <p:spPr>
          <a:xfrm>
            <a:off x="356615" y="4352544"/>
            <a:ext cx="8503920" cy="45720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320040" y="4315968"/>
            <a:ext cx="8503920" cy="457200"/>
          </a:xfrm>
          <a:prstGeom prst="roundRect">
            <a:avLst>
              <a:gd name="adj" fmla="val 20000"/>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l-play-ink.png"/>
          <p:cNvPicPr>
            <a:picLocks noChangeAspect="1"/>
          </p:cNvPicPr>
          <p:nvPr/>
        </p:nvPicPr>
        <p:blipFill>
          <a:blip r:embed="rId8"/>
          <a:stretch>
            <a:fillRect/>
          </a:stretch>
        </p:blipFill>
        <p:spPr>
          <a:xfrm>
            <a:off x="484632" y="4416552"/>
            <a:ext cx="256032" cy="256032"/>
          </a:xfrm>
          <a:prstGeom prst="rect">
            <a:avLst/>
          </a:prstGeom>
        </p:spPr>
      </p:pic>
      <p:sp>
        <p:nvSpPr>
          <p:cNvPr id="142" name="TextBox 141"/>
          <p:cNvSpPr txBox="1"/>
          <p:nvPr/>
        </p:nvSpPr>
        <p:spPr>
          <a:xfrm>
            <a:off x="868680" y="4315968"/>
            <a:ext cx="7772400" cy="457200"/>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Not a mock: this is the live product.  </a:t>
            </a:r>
            <a:r>
              <a:rPr sz="1000" b="0">
                <a:solidFill>
                  <a:srgbClr val="111111"/>
                </a:solidFill>
                <a:latin typeface="Google Sans Flex"/>
              </a:rPr>
              <a:t>Try it at </a:t>
            </a:r>
            <a:r>
              <a:rPr sz="1000" b="1">
                <a:solidFill>
                  <a:srgbClr val="3B5BFF"/>
                </a:solidFill>
                <a:latin typeface="Google Sans Flex"/>
                <a:hlinkClick r:id="rId9"/>
              </a:rPr>
              <a:t>shop-honest-ai.web.app</a:t>
            </a:r>
            <a:r>
              <a:rPr sz="1000" b="0">
                <a:solidFill>
                  <a:srgbClr val="5F6368"/>
                </a:solidFill>
                <a:latin typeface="Google Sans Flex"/>
              </a:rPr>
              <a:t>  ·  free recorded runs, or a live run with Gemini</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Rounded Rectangle 111"/>
          <p:cNvSpPr/>
          <p:nvPr/>
        </p:nvSpPr>
        <p:spPr>
          <a:xfrm>
            <a:off x="356615" y="1316736"/>
            <a:ext cx="15087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Rounded Rectangle 112"/>
          <p:cNvSpPr/>
          <p:nvPr/>
        </p:nvSpPr>
        <p:spPr>
          <a:xfrm>
            <a:off x="320040" y="1280160"/>
            <a:ext cx="15087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l-monitor-ink.png"/>
          <p:cNvPicPr>
            <a:picLocks noChangeAspect="1"/>
          </p:cNvPicPr>
          <p:nvPr/>
        </p:nvPicPr>
        <p:blipFill>
          <a:blip r:embed="rId5"/>
          <a:stretch>
            <a:fillRect/>
          </a:stretch>
        </p:blipFill>
        <p:spPr>
          <a:xfrm>
            <a:off x="411479" y="1472184"/>
            <a:ext cx="329184" cy="329184"/>
          </a:xfrm>
          <a:prstGeom prst="rect">
            <a:avLst/>
          </a:prstGeom>
        </p:spPr>
      </p:pic>
      <p:sp>
        <p:nvSpPr>
          <p:cNvPr id="115" name="TextBox 114"/>
          <p:cNvSpPr txBox="1"/>
          <p:nvPr/>
        </p:nvSpPr>
        <p:spPr>
          <a:xfrm>
            <a:off x="758952" y="1325880"/>
            <a:ext cx="9966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Shopper / judge</a:t>
            </a:r>
          </a:p>
          <a:p>
            <a:pPr algn="l">
              <a:lnSpc>
                <a:spcPct val="100000"/>
              </a:lnSpc>
              <a:spcAft>
                <a:spcPts val="0"/>
              </a:spcAft>
            </a:pPr>
            <a:r>
              <a:rPr sz="800" b="0">
                <a:solidFill>
                  <a:srgbClr val="5F6368"/>
                </a:solidFill>
                <a:latin typeface="Google Sans Flex"/>
              </a:rPr>
              <a:t>any browser</a:t>
            </a:r>
          </a:p>
        </p:txBody>
      </p:sp>
      <p:sp>
        <p:nvSpPr>
          <p:cNvPr id="116" name="Rounded Rectangle 115"/>
          <p:cNvSpPr/>
          <p:nvPr/>
        </p:nvSpPr>
        <p:spPr>
          <a:xfrm>
            <a:off x="2139696" y="1316736"/>
            <a:ext cx="173736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Rounded Rectangle 116"/>
          <p:cNvSpPr/>
          <p:nvPr/>
        </p:nvSpPr>
        <p:spPr>
          <a:xfrm>
            <a:off x="2103120" y="1280160"/>
            <a:ext cx="173736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s-firebase.png"/>
          <p:cNvPicPr>
            <a:picLocks noChangeAspect="1"/>
          </p:cNvPicPr>
          <p:nvPr/>
        </p:nvPicPr>
        <p:blipFill>
          <a:blip r:embed="rId6"/>
          <a:stretch>
            <a:fillRect/>
          </a:stretch>
        </p:blipFill>
        <p:spPr>
          <a:xfrm>
            <a:off x="2194560" y="1472184"/>
            <a:ext cx="329184" cy="329184"/>
          </a:xfrm>
          <a:prstGeom prst="rect">
            <a:avLst/>
          </a:prstGeom>
        </p:spPr>
      </p:pic>
      <p:sp>
        <p:nvSpPr>
          <p:cNvPr id="119" name="TextBox 118"/>
          <p:cNvSpPr txBox="1"/>
          <p:nvPr/>
        </p:nvSpPr>
        <p:spPr>
          <a:xfrm>
            <a:off x="2542032" y="1325880"/>
            <a:ext cx="1225296"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Firebase Hosting</a:t>
            </a:r>
          </a:p>
          <a:p>
            <a:pPr algn="l">
              <a:lnSpc>
                <a:spcPct val="100000"/>
              </a:lnSpc>
              <a:spcAft>
                <a:spcPts val="0"/>
              </a:spcAft>
            </a:pPr>
            <a:r>
              <a:rPr sz="800" b="0">
                <a:solidFill>
                  <a:srgbClr val="5F6368"/>
                </a:solidFill>
                <a:latin typeface="Google Sans Flex"/>
              </a:rPr>
              <a:t>React app + demo stores</a:t>
            </a:r>
          </a:p>
        </p:txBody>
      </p:sp>
      <p:cxnSp>
        <p:nvCxnSpPr>
          <p:cNvPr id="120" name="Connector 119"/>
          <p:cNvCxnSpPr/>
          <p:nvPr/>
        </p:nvCxnSpPr>
        <p:spPr>
          <a:xfrm>
            <a:off x="1856231" y="1636776"/>
            <a:ext cx="219457"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3867912" y="1636776"/>
            <a:ext cx="219456"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2" name="TextBox 121"/>
          <p:cNvSpPr txBox="1"/>
          <p:nvPr/>
        </p:nvSpPr>
        <p:spPr>
          <a:xfrm>
            <a:off x="3767328" y="1389888"/>
            <a:ext cx="457200" cy="182880"/>
          </a:xfrm>
          <a:prstGeom prst="rect">
            <a:avLst/>
          </a:prstGeom>
          <a:noFill/>
        </p:spPr>
        <p:txBody>
          <a:bodyPr wrap="square" lIns="0" rIns="0" tIns="0" bIns="0" anchor="t">
            <a:noAutofit/>
          </a:bodyPr>
          <a:lstStyle/>
          <a:p>
            <a:pPr algn="ctr">
              <a:lnSpc>
                <a:spcPct val="100000"/>
              </a:lnSpc>
              <a:spcAft>
                <a:spcPts val="0"/>
              </a:spcAft>
            </a:pPr>
            <a:r>
              <a:rPr sz="800" b="0">
                <a:solidFill>
                  <a:srgbClr val="5F6368"/>
                </a:solidFill>
                <a:latin typeface="Google Sans Flex SemiBold"/>
              </a:rPr>
              <a:t>/api</a:t>
            </a:r>
          </a:p>
        </p:txBody>
      </p:sp>
      <p:cxnSp>
        <p:nvCxnSpPr>
          <p:cNvPr id="123" name="Connector 122"/>
          <p:cNvCxnSpPr/>
          <p:nvPr/>
        </p:nvCxnSpPr>
        <p:spPr>
          <a:xfrm>
            <a:off x="1005840" y="1993392"/>
            <a:ext cx="0" cy="219456"/>
          </a:xfrm>
          <a:prstGeom prst="line">
            <a:avLst/>
          </a:prstGeom>
          <a:ln w="19050">
            <a:solidFill>
              <a:srgbClr val="3B5BFF"/>
            </a:solidFill>
            <a:prstDash val="dash"/>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a:off x="1005840" y="2212848"/>
            <a:ext cx="3081528" cy="0"/>
          </a:xfrm>
          <a:prstGeom prst="line">
            <a:avLst/>
          </a:prstGeom>
          <a:ln w="19050">
            <a:solidFill>
              <a:srgbClr val="3B5BF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143000" y="2249424"/>
            <a:ext cx="2834640" cy="182880"/>
          </a:xfrm>
          <a:prstGeom prst="rect">
            <a:avLst/>
          </a:prstGeom>
          <a:noFill/>
        </p:spPr>
        <p:txBody>
          <a:bodyPr wrap="square" lIns="0" rIns="0" tIns="0" bIns="0" anchor="t">
            <a:noAutofit/>
          </a:bodyPr>
          <a:lstStyle/>
          <a:p>
            <a:pPr algn="l">
              <a:lnSpc>
                <a:spcPct val="100000"/>
              </a:lnSpc>
              <a:spcAft>
                <a:spcPts val="0"/>
              </a:spcAft>
            </a:pPr>
            <a:r>
              <a:rPr sz="800" b="0">
                <a:solidFill>
                  <a:srgbClr val="3B5BFF"/>
                </a:solidFill>
                <a:latin typeface="Google Sans Flex SemiBold"/>
              </a:rPr>
              <a:t>live event stream (SSE), straight to Cloud Run</a:t>
            </a:r>
          </a:p>
        </p:txBody>
      </p:sp>
      <p:sp>
        <p:nvSpPr>
          <p:cNvPr id="126" name="Rounded Rectangle 125"/>
          <p:cNvSpPr/>
          <p:nvPr/>
        </p:nvSpPr>
        <p:spPr>
          <a:xfrm>
            <a:off x="4160520" y="1280160"/>
            <a:ext cx="2606040" cy="2395728"/>
          </a:xfrm>
          <a:prstGeom prst="roundRect">
            <a:avLst>
              <a:gd name="adj" fmla="val 458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Rounded Rectangle 126"/>
          <p:cNvSpPr/>
          <p:nvPr/>
        </p:nvSpPr>
        <p:spPr>
          <a:xfrm>
            <a:off x="4114800" y="1234440"/>
            <a:ext cx="2606040" cy="2395728"/>
          </a:xfrm>
          <a:prstGeom prst="roundRect">
            <a:avLst>
              <a:gd name="adj" fmla="val 4580"/>
            </a:avLst>
          </a:prstGeom>
          <a:solidFill>
            <a:srgbClr val="E8F0FE"/>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8" name="Picture 127" descr="g-cloud_run.png"/>
          <p:cNvPicPr>
            <a:picLocks noChangeAspect="1"/>
          </p:cNvPicPr>
          <p:nvPr/>
        </p:nvPicPr>
        <p:blipFill>
          <a:blip r:embed="rId7"/>
          <a:stretch>
            <a:fillRect/>
          </a:stretch>
        </p:blipFill>
        <p:spPr>
          <a:xfrm>
            <a:off x="4224528" y="1325880"/>
            <a:ext cx="329184" cy="329184"/>
          </a:xfrm>
          <a:prstGeom prst="rect">
            <a:avLst/>
          </a:prstGeom>
        </p:spPr>
      </p:pic>
      <p:sp>
        <p:nvSpPr>
          <p:cNvPr id="129" name="TextBox 128"/>
          <p:cNvSpPr txBox="1"/>
          <p:nvPr/>
        </p:nvSpPr>
        <p:spPr>
          <a:xfrm>
            <a:off x="4626864" y="1307592"/>
            <a:ext cx="2011680" cy="384048"/>
          </a:xfrm>
          <a:prstGeom prst="rect">
            <a:avLst/>
          </a:prstGeom>
          <a:noFill/>
        </p:spPr>
        <p:txBody>
          <a:bodyPr wrap="square" lIns="0" rIns="0" tIns="0" bIns="0" anchor="t">
            <a:noAutofit/>
          </a:bodyPr>
          <a:lstStyle/>
          <a:p>
            <a:pPr algn="l">
              <a:lnSpc>
                <a:spcPct val="100000"/>
              </a:lnSpc>
              <a:spcAft>
                <a:spcPts val="0"/>
              </a:spcAft>
            </a:pPr>
            <a:r>
              <a:rPr sz="1100" b="1">
                <a:solidFill>
                  <a:srgbClr val="111111"/>
                </a:solidFill>
                <a:latin typeface="Google Sans Flex"/>
              </a:rPr>
              <a:t>Cloud Run</a:t>
            </a:r>
          </a:p>
          <a:p>
            <a:pPr algn="l">
              <a:lnSpc>
                <a:spcPct val="100000"/>
              </a:lnSpc>
              <a:spcAft>
                <a:spcPts val="0"/>
              </a:spcAft>
            </a:pPr>
            <a:r>
              <a:rPr sz="800" b="0">
                <a:solidFill>
                  <a:srgbClr val="5F6368"/>
                </a:solidFill>
                <a:latin typeface="Google Sans Flex"/>
              </a:rPr>
              <a:t>FastAPI audit runner · asia-south1</a:t>
            </a:r>
          </a:p>
        </p:txBody>
      </p:sp>
      <p:sp>
        <p:nvSpPr>
          <p:cNvPr id="130" name="Rounded Rectangle 129"/>
          <p:cNvSpPr/>
          <p:nvPr/>
        </p:nvSpPr>
        <p:spPr>
          <a:xfrm>
            <a:off x="4242816" y="1801368"/>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1" name="Picture 130" descr="l-bot-ink.png"/>
          <p:cNvPicPr>
            <a:picLocks noChangeAspect="1"/>
          </p:cNvPicPr>
          <p:nvPr/>
        </p:nvPicPr>
        <p:blipFill>
          <a:blip r:embed="rId8"/>
          <a:stretch>
            <a:fillRect/>
          </a:stretch>
        </p:blipFill>
        <p:spPr>
          <a:xfrm>
            <a:off x="4334255" y="1911096"/>
            <a:ext cx="274320" cy="274320"/>
          </a:xfrm>
          <a:prstGeom prst="rect">
            <a:avLst/>
          </a:prstGeom>
        </p:spPr>
      </p:pic>
      <p:sp>
        <p:nvSpPr>
          <p:cNvPr id="132" name="TextBox 131"/>
          <p:cNvSpPr txBox="1"/>
          <p:nvPr/>
        </p:nvSpPr>
        <p:spPr>
          <a:xfrm>
            <a:off x="4626864" y="1847088"/>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Navigator</a:t>
            </a:r>
          </a:p>
          <a:p>
            <a:pPr algn="l">
              <a:lnSpc>
                <a:spcPct val="100000"/>
              </a:lnSpc>
              <a:spcAft>
                <a:spcPts val="0"/>
              </a:spcAft>
            </a:pPr>
            <a:r>
              <a:rPr sz="750" b="0">
                <a:solidFill>
                  <a:srgbClr val="5F6368"/>
                </a:solidFill>
                <a:latin typeface="Google Sans Flex"/>
              </a:rPr>
              <a:t>Playwright Chromium · click guard</a:t>
            </a:r>
          </a:p>
        </p:txBody>
      </p:sp>
      <p:sp>
        <p:nvSpPr>
          <p:cNvPr id="133" name="Rounded Rectangle 132"/>
          <p:cNvSpPr/>
          <p:nvPr/>
        </p:nvSpPr>
        <p:spPr>
          <a:xfrm>
            <a:off x="4242816" y="2386584"/>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4" name="Picture 133" descr="brand-gemini.png"/>
          <p:cNvPicPr>
            <a:picLocks noChangeAspect="1"/>
          </p:cNvPicPr>
          <p:nvPr/>
        </p:nvPicPr>
        <p:blipFill>
          <a:blip r:embed="rId9"/>
          <a:stretch>
            <a:fillRect/>
          </a:stretch>
        </p:blipFill>
        <p:spPr>
          <a:xfrm>
            <a:off x="4334255" y="2496312"/>
            <a:ext cx="274320" cy="274320"/>
          </a:xfrm>
          <a:prstGeom prst="rect">
            <a:avLst/>
          </a:prstGeom>
        </p:spPr>
      </p:pic>
      <p:sp>
        <p:nvSpPr>
          <p:cNvPr id="135" name="TextBox 134"/>
          <p:cNvSpPr txBox="1"/>
          <p:nvPr/>
        </p:nvSpPr>
        <p:spPr>
          <a:xfrm>
            <a:off x="4626864" y="2432304"/>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ADK agent graph</a:t>
            </a:r>
          </a:p>
          <a:p>
            <a:pPr algn="l">
              <a:lnSpc>
                <a:spcPct val="100000"/>
              </a:lnSpc>
              <a:spcAft>
                <a:spcPts val="0"/>
              </a:spcAft>
            </a:pPr>
            <a:r>
              <a:rPr sz="750" b="0">
                <a:solidFill>
                  <a:srgbClr val="5F6368"/>
                </a:solidFill>
                <a:latin typeface="Google Sans Flex"/>
              </a:rPr>
              <a:t>Analyst · Adjudicator (tools) · Fixer</a:t>
            </a:r>
          </a:p>
        </p:txBody>
      </p:sp>
      <p:sp>
        <p:nvSpPr>
          <p:cNvPr id="136" name="Rounded Rectangle 135"/>
          <p:cNvSpPr/>
          <p:nvPr/>
        </p:nvSpPr>
        <p:spPr>
          <a:xfrm>
            <a:off x="4242816" y="2971800"/>
            <a:ext cx="2350008" cy="493776"/>
          </a:xfrm>
          <a:prstGeom prst="roundRect">
            <a:avLst>
              <a:gd name="adj" fmla="val 1481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l-ruler-ink.png"/>
          <p:cNvPicPr>
            <a:picLocks noChangeAspect="1"/>
          </p:cNvPicPr>
          <p:nvPr/>
        </p:nvPicPr>
        <p:blipFill>
          <a:blip r:embed="rId10"/>
          <a:stretch>
            <a:fillRect/>
          </a:stretch>
        </p:blipFill>
        <p:spPr>
          <a:xfrm>
            <a:off x="4334255" y="3081528"/>
            <a:ext cx="274320" cy="274320"/>
          </a:xfrm>
          <a:prstGeom prst="rect">
            <a:avLst/>
          </a:prstGeom>
        </p:spPr>
      </p:pic>
      <p:sp>
        <p:nvSpPr>
          <p:cNvPr id="138" name="TextBox 137"/>
          <p:cNvSpPr txBox="1"/>
          <p:nvPr/>
        </p:nvSpPr>
        <p:spPr>
          <a:xfrm>
            <a:off x="4626864" y="3017520"/>
            <a:ext cx="1892808" cy="402336"/>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Checks + Reporter</a:t>
            </a:r>
          </a:p>
          <a:p>
            <a:pPr algn="l">
              <a:lnSpc>
                <a:spcPct val="100000"/>
              </a:lnSpc>
              <a:spcAft>
                <a:spcPts val="0"/>
              </a:spcAft>
            </a:pPr>
            <a:r>
              <a:rPr sz="750" b="0">
                <a:solidFill>
                  <a:srgbClr val="5F6368"/>
                </a:solidFill>
                <a:latin typeface="Google Sans Flex"/>
              </a:rPr>
              <a:t>measured checks · score · ₹ · law</a:t>
            </a:r>
          </a:p>
        </p:txBody>
      </p:sp>
      <p:sp>
        <p:nvSpPr>
          <p:cNvPr id="139" name="Rounded Rectangle 138"/>
          <p:cNvSpPr/>
          <p:nvPr/>
        </p:nvSpPr>
        <p:spPr>
          <a:xfrm>
            <a:off x="7004304" y="131673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Rounded Rectangle 139"/>
          <p:cNvSpPr/>
          <p:nvPr/>
        </p:nvSpPr>
        <p:spPr>
          <a:xfrm>
            <a:off x="6967728" y="128016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1" name="Picture 140" descr="g-vertexai.png"/>
          <p:cNvPicPr>
            <a:picLocks noChangeAspect="1"/>
          </p:cNvPicPr>
          <p:nvPr/>
        </p:nvPicPr>
        <p:blipFill>
          <a:blip r:embed="rId11"/>
          <a:stretch>
            <a:fillRect/>
          </a:stretch>
        </p:blipFill>
        <p:spPr>
          <a:xfrm>
            <a:off x="7059168" y="1463039"/>
            <a:ext cx="347472" cy="347472"/>
          </a:xfrm>
          <a:prstGeom prst="rect">
            <a:avLst/>
          </a:prstGeom>
        </p:spPr>
      </p:pic>
      <p:sp>
        <p:nvSpPr>
          <p:cNvPr id="142" name="TextBox 141"/>
          <p:cNvSpPr txBox="1"/>
          <p:nvPr/>
        </p:nvSpPr>
        <p:spPr>
          <a:xfrm>
            <a:off x="7424928" y="132588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Gemini · Vertex AI</a:t>
            </a:r>
          </a:p>
          <a:p>
            <a:pPr algn="l">
              <a:lnSpc>
                <a:spcPct val="100000"/>
              </a:lnSpc>
              <a:spcAft>
                <a:spcPts val="0"/>
              </a:spcAft>
            </a:pPr>
            <a:r>
              <a:rPr sz="800" b="0">
                <a:solidFill>
                  <a:srgbClr val="5F6368"/>
                </a:solidFill>
                <a:latin typeface="Google Sans Flex"/>
              </a:rPr>
              <a:t>3.6 Flash; 3.1 Flash-Lite as fallback</a:t>
            </a:r>
          </a:p>
        </p:txBody>
      </p:sp>
      <p:cxnSp>
        <p:nvCxnSpPr>
          <p:cNvPr id="143" name="Connector 142"/>
          <p:cNvCxnSpPr/>
          <p:nvPr/>
        </p:nvCxnSpPr>
        <p:spPr>
          <a:xfrm>
            <a:off x="6748272" y="163677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4" name="Rounded Rectangle 143"/>
          <p:cNvSpPr/>
          <p:nvPr/>
        </p:nvSpPr>
        <p:spPr>
          <a:xfrm>
            <a:off x="7004304" y="2642616"/>
            <a:ext cx="1856231"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Rounded Rectangle 144"/>
          <p:cNvSpPr/>
          <p:nvPr/>
        </p:nvSpPr>
        <p:spPr>
          <a:xfrm>
            <a:off x="6967728" y="2606040"/>
            <a:ext cx="1856231"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l-globe-ink.png"/>
          <p:cNvPicPr>
            <a:picLocks noChangeAspect="1"/>
          </p:cNvPicPr>
          <p:nvPr/>
        </p:nvPicPr>
        <p:blipFill>
          <a:blip r:embed="rId12"/>
          <a:stretch>
            <a:fillRect/>
          </a:stretch>
        </p:blipFill>
        <p:spPr>
          <a:xfrm>
            <a:off x="7059168" y="2788920"/>
            <a:ext cx="347472" cy="347472"/>
          </a:xfrm>
          <a:prstGeom prst="rect">
            <a:avLst/>
          </a:prstGeom>
        </p:spPr>
      </p:pic>
      <p:sp>
        <p:nvSpPr>
          <p:cNvPr id="147" name="TextBox 146"/>
          <p:cNvSpPr txBox="1"/>
          <p:nvPr/>
        </p:nvSpPr>
        <p:spPr>
          <a:xfrm>
            <a:off x="7424928" y="2651760"/>
            <a:ext cx="1325880"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Any public store</a:t>
            </a:r>
          </a:p>
          <a:p>
            <a:pPr algn="l">
              <a:lnSpc>
                <a:spcPct val="100000"/>
              </a:lnSpc>
              <a:spcAft>
                <a:spcPts val="0"/>
              </a:spcAft>
            </a:pPr>
            <a:r>
              <a:rPr sz="800" b="0">
                <a:solidFill>
                  <a:srgbClr val="5F6368"/>
                </a:solidFill>
                <a:latin typeface="Google Sans Flex"/>
              </a:rPr>
              <a:t>logged out · SSRF guard · or our demo stores</a:t>
            </a:r>
          </a:p>
        </p:txBody>
      </p:sp>
      <p:cxnSp>
        <p:nvCxnSpPr>
          <p:cNvPr id="148" name="Connector 147"/>
          <p:cNvCxnSpPr/>
          <p:nvPr/>
        </p:nvCxnSpPr>
        <p:spPr>
          <a:xfrm>
            <a:off x="6748272" y="2962656"/>
            <a:ext cx="192024" cy="0"/>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9" name="Rounded Rectangle 148"/>
          <p:cNvSpPr/>
          <p:nvPr/>
        </p:nvSpPr>
        <p:spPr>
          <a:xfrm>
            <a:off x="356615" y="2615184"/>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578608"/>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1" name="Picture 150" descr="g-cloud_build.png"/>
          <p:cNvPicPr>
            <a:picLocks noChangeAspect="1"/>
          </p:cNvPicPr>
          <p:nvPr/>
        </p:nvPicPr>
        <p:blipFill>
          <a:blip r:embed="rId13"/>
          <a:stretch>
            <a:fillRect/>
          </a:stretch>
        </p:blipFill>
        <p:spPr>
          <a:xfrm>
            <a:off x="411479" y="2651760"/>
            <a:ext cx="310896" cy="310896"/>
          </a:xfrm>
          <a:prstGeom prst="rect">
            <a:avLst/>
          </a:prstGeom>
        </p:spPr>
      </p:pic>
      <p:pic>
        <p:nvPicPr>
          <p:cNvPr id="152" name="Picture 151" descr="g-artifact_registry.png"/>
          <p:cNvPicPr>
            <a:picLocks noChangeAspect="1"/>
          </p:cNvPicPr>
          <p:nvPr/>
        </p:nvPicPr>
        <p:blipFill>
          <a:blip r:embed="rId14"/>
          <a:stretch>
            <a:fillRect/>
          </a:stretch>
        </p:blipFill>
        <p:spPr>
          <a:xfrm>
            <a:off x="777240" y="2651760"/>
            <a:ext cx="310896" cy="310896"/>
          </a:xfrm>
          <a:prstGeom prst="rect">
            <a:avLst/>
          </a:prstGeom>
        </p:spPr>
      </p:pic>
      <p:sp>
        <p:nvSpPr>
          <p:cNvPr id="153" name="TextBox 152"/>
          <p:cNvSpPr txBox="1"/>
          <p:nvPr/>
        </p:nvSpPr>
        <p:spPr>
          <a:xfrm>
            <a:off x="1188719" y="2578608"/>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 → Artifact Registry</a:t>
            </a:r>
          </a:p>
          <a:p>
            <a:pPr algn="l">
              <a:lnSpc>
                <a:spcPct val="100000"/>
              </a:lnSpc>
              <a:spcAft>
                <a:spcPts val="0"/>
              </a:spcAft>
            </a:pPr>
            <a:r>
              <a:rPr sz="750" b="0">
                <a:solidFill>
                  <a:srgbClr val="5F6368"/>
                </a:solidFill>
                <a:latin typeface="Google Sans Flex"/>
              </a:rPr>
              <a:t>image tagged with the commit · keeps the newest 3</a:t>
            </a:r>
          </a:p>
        </p:txBody>
      </p:sp>
      <p:sp>
        <p:nvSpPr>
          <p:cNvPr id="154" name="Rounded Rectangle 153"/>
          <p:cNvSpPr/>
          <p:nvPr/>
        </p:nvSpPr>
        <p:spPr>
          <a:xfrm>
            <a:off x="356615" y="3191256"/>
            <a:ext cx="3520440" cy="475488"/>
          </a:xfrm>
          <a:prstGeom prst="roundRect">
            <a:avLst>
              <a:gd name="adj" fmla="val 15384"/>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320040" y="3154680"/>
            <a:ext cx="3520440" cy="475488"/>
          </a:xfrm>
          <a:prstGeom prst="roundRect">
            <a:avLst>
              <a:gd name="adj" fmla="val 15384"/>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monitoring.png"/>
          <p:cNvPicPr>
            <a:picLocks noChangeAspect="1"/>
          </p:cNvPicPr>
          <p:nvPr/>
        </p:nvPicPr>
        <p:blipFill>
          <a:blip r:embed="rId15"/>
          <a:stretch>
            <a:fillRect/>
          </a:stretch>
        </p:blipFill>
        <p:spPr>
          <a:xfrm>
            <a:off x="411479" y="3227832"/>
            <a:ext cx="310896" cy="310896"/>
          </a:xfrm>
          <a:prstGeom prst="rect">
            <a:avLst/>
          </a:prstGeom>
        </p:spPr>
      </p:pic>
      <p:pic>
        <p:nvPicPr>
          <p:cNvPr id="157" name="Picture 156" descr="g-billing.png"/>
          <p:cNvPicPr>
            <a:picLocks noChangeAspect="1"/>
          </p:cNvPicPr>
          <p:nvPr/>
        </p:nvPicPr>
        <p:blipFill>
          <a:blip r:embed="rId16"/>
          <a:stretch>
            <a:fillRect/>
          </a:stretch>
        </p:blipFill>
        <p:spPr>
          <a:xfrm>
            <a:off x="777240" y="3227832"/>
            <a:ext cx="310896" cy="310896"/>
          </a:xfrm>
          <a:prstGeom prst="rect">
            <a:avLst/>
          </a:prstGeom>
        </p:spPr>
      </p:pic>
      <p:sp>
        <p:nvSpPr>
          <p:cNvPr id="158" name="TextBox 157"/>
          <p:cNvSpPr txBox="1"/>
          <p:nvPr/>
        </p:nvSpPr>
        <p:spPr>
          <a:xfrm>
            <a:off x="1188719" y="3154680"/>
            <a:ext cx="2606040" cy="47548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 + Billing budgets</a:t>
            </a:r>
          </a:p>
          <a:p>
            <a:pPr algn="l">
              <a:lnSpc>
                <a:spcPct val="100000"/>
              </a:lnSpc>
              <a:spcAft>
                <a:spcPts val="0"/>
              </a:spcAft>
            </a:pPr>
            <a:r>
              <a:rPr sz="750" b="0">
                <a:solidFill>
                  <a:srgbClr val="5F6368"/>
                </a:solidFill>
                <a:latin typeface="Google Sans Flex"/>
              </a:rPr>
              <a:t>error and 5xx alerts · daily live-run cap</a:t>
            </a:r>
          </a:p>
        </p:txBody>
      </p:sp>
      <p:cxnSp>
        <p:nvCxnSpPr>
          <p:cNvPr id="159" name="Connector 158"/>
          <p:cNvCxnSpPr/>
          <p:nvPr/>
        </p:nvCxnSpPr>
        <p:spPr>
          <a:xfrm>
            <a:off x="3867911" y="2816352"/>
            <a:ext cx="219457" cy="0"/>
          </a:xfrm>
          <a:prstGeom prst="line">
            <a:avLst/>
          </a:prstGeom>
          <a:ln w="15875">
            <a:solidFill>
              <a:srgbClr val="9AA0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5417820" y="3657600"/>
            <a:ext cx="0" cy="155448"/>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3886200" y="3813048"/>
            <a:ext cx="4023360" cy="0"/>
          </a:xfrm>
          <a:prstGeom prst="line">
            <a:avLst/>
          </a:prstGeom>
          <a:ln w="22225">
            <a:solidFill>
              <a:srgbClr val="111111"/>
            </a:solidFill>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88620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3" name="Rounded Rectangle 162"/>
          <p:cNvSpPr/>
          <p:nvPr/>
        </p:nvSpPr>
        <p:spPr>
          <a:xfrm>
            <a:off x="300837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297180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5" name="Picture 164" descr="g-firestore.png"/>
          <p:cNvPicPr>
            <a:picLocks noChangeAspect="1"/>
          </p:cNvPicPr>
          <p:nvPr/>
        </p:nvPicPr>
        <p:blipFill>
          <a:blip r:embed="rId17"/>
          <a:stretch>
            <a:fillRect/>
          </a:stretch>
        </p:blipFill>
        <p:spPr>
          <a:xfrm>
            <a:off x="3063240" y="4224528"/>
            <a:ext cx="347472" cy="347472"/>
          </a:xfrm>
          <a:prstGeom prst="rect">
            <a:avLst/>
          </a:prstGeom>
        </p:spPr>
      </p:pic>
      <p:sp>
        <p:nvSpPr>
          <p:cNvPr id="166" name="TextBox 165"/>
          <p:cNvSpPr txBox="1"/>
          <p:nvPr/>
        </p:nvSpPr>
        <p:spPr>
          <a:xfrm>
            <a:off x="342900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Firestore</a:t>
            </a:r>
          </a:p>
          <a:p>
            <a:pPr algn="l">
              <a:lnSpc>
                <a:spcPct val="100000"/>
              </a:lnSpc>
              <a:spcAft>
                <a:spcPts val="0"/>
              </a:spcAft>
            </a:pPr>
            <a:r>
              <a:rPr sz="800" b="0">
                <a:solidFill>
                  <a:srgbClr val="5F6368"/>
                </a:solidFill>
                <a:latin typeface="Google Sans Flex"/>
              </a:rPr>
              <a:t>audits + event log (resumable)</a:t>
            </a:r>
          </a:p>
        </p:txBody>
      </p:sp>
      <p:cxnSp>
        <p:nvCxnSpPr>
          <p:cNvPr id="167" name="Connector 166"/>
          <p:cNvCxnSpPr/>
          <p:nvPr/>
        </p:nvCxnSpPr>
        <p:spPr>
          <a:xfrm>
            <a:off x="589788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8" name="Rounded Rectangle 167"/>
          <p:cNvSpPr/>
          <p:nvPr/>
        </p:nvSpPr>
        <p:spPr>
          <a:xfrm>
            <a:off x="502005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498348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0" name="Picture 169" descr="g-cloud_storage.png"/>
          <p:cNvPicPr>
            <a:picLocks noChangeAspect="1"/>
          </p:cNvPicPr>
          <p:nvPr/>
        </p:nvPicPr>
        <p:blipFill>
          <a:blip r:embed="rId18"/>
          <a:stretch>
            <a:fillRect/>
          </a:stretch>
        </p:blipFill>
        <p:spPr>
          <a:xfrm>
            <a:off x="5074920" y="4224528"/>
            <a:ext cx="347472" cy="347472"/>
          </a:xfrm>
          <a:prstGeom prst="rect">
            <a:avLst/>
          </a:prstGeom>
        </p:spPr>
      </p:pic>
      <p:sp>
        <p:nvSpPr>
          <p:cNvPr id="171" name="TextBox 170"/>
          <p:cNvSpPr txBox="1"/>
          <p:nvPr/>
        </p:nvSpPr>
        <p:spPr>
          <a:xfrm>
            <a:off x="544068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Cloud Storage</a:t>
            </a:r>
          </a:p>
          <a:p>
            <a:pPr algn="l">
              <a:lnSpc>
                <a:spcPct val="100000"/>
              </a:lnSpc>
              <a:spcAft>
                <a:spcPts val="0"/>
              </a:spcAft>
            </a:pPr>
            <a:r>
              <a:rPr sz="800" b="0">
                <a:solidFill>
                  <a:srgbClr val="5F6368"/>
                </a:solidFill>
                <a:latin typeface="Google Sans Flex"/>
              </a:rPr>
              <a:t>screenshots of every step</a:t>
            </a:r>
          </a:p>
        </p:txBody>
      </p:sp>
      <p:cxnSp>
        <p:nvCxnSpPr>
          <p:cNvPr id="172" name="Connector 171"/>
          <p:cNvCxnSpPr/>
          <p:nvPr/>
        </p:nvCxnSpPr>
        <p:spPr>
          <a:xfrm>
            <a:off x="7909560" y="3813048"/>
            <a:ext cx="0" cy="192024"/>
          </a:xfrm>
          <a:prstGeom prst="line">
            <a:avLst/>
          </a:prstGeom>
          <a:ln w="22225">
            <a:solidFill>
              <a:srgbClr val="11111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Rounded Rectangle 172"/>
          <p:cNvSpPr/>
          <p:nvPr/>
        </p:nvSpPr>
        <p:spPr>
          <a:xfrm>
            <a:off x="7031736" y="4078224"/>
            <a:ext cx="1828800" cy="713232"/>
          </a:xfrm>
          <a:prstGeom prst="roundRect">
            <a:avLst>
              <a:gd name="adj" fmla="val 1025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Rounded Rectangle 173"/>
          <p:cNvSpPr/>
          <p:nvPr/>
        </p:nvSpPr>
        <p:spPr>
          <a:xfrm>
            <a:off x="6995160" y="4041648"/>
            <a:ext cx="1828800" cy="713232"/>
          </a:xfrm>
          <a:prstGeom prst="roundRect">
            <a:avLst>
              <a:gd name="adj" fmla="val 10256"/>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5" name="Picture 174" descr="g-bigquery.png"/>
          <p:cNvPicPr>
            <a:picLocks noChangeAspect="1"/>
          </p:cNvPicPr>
          <p:nvPr/>
        </p:nvPicPr>
        <p:blipFill>
          <a:blip r:embed="rId19"/>
          <a:stretch>
            <a:fillRect/>
          </a:stretch>
        </p:blipFill>
        <p:spPr>
          <a:xfrm>
            <a:off x="7086600" y="4224528"/>
            <a:ext cx="347472" cy="347472"/>
          </a:xfrm>
          <a:prstGeom prst="rect">
            <a:avLst/>
          </a:prstGeom>
        </p:spPr>
      </p:pic>
      <p:sp>
        <p:nvSpPr>
          <p:cNvPr id="176" name="TextBox 175"/>
          <p:cNvSpPr txBox="1"/>
          <p:nvPr/>
        </p:nvSpPr>
        <p:spPr>
          <a:xfrm>
            <a:off x="7452360" y="4087368"/>
            <a:ext cx="1298448" cy="621792"/>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BigQuery</a:t>
            </a:r>
          </a:p>
          <a:p>
            <a:pPr algn="l">
              <a:lnSpc>
                <a:spcPct val="100000"/>
              </a:lnSpc>
              <a:spcAft>
                <a:spcPts val="0"/>
              </a:spcAft>
            </a:pPr>
            <a:r>
              <a:rPr sz="800" b="0">
                <a:solidFill>
                  <a:srgbClr val="5F6368"/>
                </a:solidFill>
                <a:latin typeface="Google Sans Flex"/>
              </a:rPr>
              <a:t>price history · MRP check</a:t>
            </a:r>
          </a:p>
        </p:txBody>
      </p:sp>
      <p:sp>
        <p:nvSpPr>
          <p:cNvPr id="177" name="Rounded Rectangle 176"/>
          <p:cNvSpPr/>
          <p:nvPr/>
        </p:nvSpPr>
        <p:spPr>
          <a:xfrm>
            <a:off x="320040" y="4041648"/>
            <a:ext cx="2468880" cy="713232"/>
          </a:xfrm>
          <a:prstGeom prst="roundRect">
            <a:avLst>
              <a:gd name="adj" fmla="val 10256"/>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Box 177"/>
          <p:cNvSpPr txBox="1"/>
          <p:nvPr/>
        </p:nvSpPr>
        <p:spPr>
          <a:xfrm>
            <a:off x="429768" y="4041648"/>
            <a:ext cx="2286000" cy="713232"/>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Safe by design</a:t>
            </a:r>
          </a:p>
          <a:p>
            <a:pPr algn="l">
              <a:lnSpc>
                <a:spcPct val="100000"/>
              </a:lnSpc>
              <a:spcAft>
                <a:spcPts val="0"/>
              </a:spcAft>
            </a:pPr>
            <a:r>
              <a:rPr sz="750" b="0">
                <a:solidFill>
                  <a:srgbClr val="5F6368"/>
                </a:solidFill>
                <a:latin typeface="Google Sans Flex"/>
              </a:rPr>
              <a:t>never pays, signs in or types · budgets per audit · service account, no keys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Rounded Rectangle 119"/>
          <p:cNvSpPr/>
          <p:nvPr/>
        </p:nvSpPr>
        <p:spPr>
          <a:xfrm>
            <a:off x="356615" y="1280160"/>
            <a:ext cx="114300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Rounded Rectangle 120"/>
          <p:cNvSpPr/>
          <p:nvPr/>
        </p:nvSpPr>
        <p:spPr>
          <a:xfrm>
            <a:off x="320040" y="1243584"/>
            <a:ext cx="1143000" cy="384048"/>
          </a:xfrm>
          <a:prstGeom prst="roundRect">
            <a:avLst>
              <a:gd name="adj" fmla="val 23809"/>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Box 121"/>
          <p:cNvSpPr txBox="1"/>
          <p:nvPr/>
        </p:nvSpPr>
        <p:spPr>
          <a:xfrm>
            <a:off x="411479" y="1243584"/>
            <a:ext cx="960120" cy="3840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AI</a:t>
            </a:r>
          </a:p>
        </p:txBody>
      </p:sp>
      <p:sp>
        <p:nvSpPr>
          <p:cNvPr id="123" name="Rounded Rectangle 122"/>
          <p:cNvSpPr/>
          <p:nvPr/>
        </p:nvSpPr>
        <p:spPr>
          <a:xfrm>
            <a:off x="1627632"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Rounded Rectangle 123"/>
          <p:cNvSpPr/>
          <p:nvPr/>
        </p:nvSpPr>
        <p:spPr>
          <a:xfrm>
            <a:off x="1600200"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5" name="Picture 124" descr="brand-gemini.png"/>
          <p:cNvPicPr>
            <a:picLocks noChangeAspect="1"/>
          </p:cNvPicPr>
          <p:nvPr/>
        </p:nvPicPr>
        <p:blipFill>
          <a:blip r:embed="rId5"/>
          <a:stretch>
            <a:fillRect/>
          </a:stretch>
        </p:blipFill>
        <p:spPr>
          <a:xfrm>
            <a:off x="1682496" y="1307592"/>
            <a:ext cx="256032" cy="256032"/>
          </a:xfrm>
          <a:prstGeom prst="rect">
            <a:avLst/>
          </a:prstGeom>
        </p:spPr>
      </p:pic>
      <p:sp>
        <p:nvSpPr>
          <p:cNvPr id="126" name="TextBox 125"/>
          <p:cNvSpPr txBox="1"/>
          <p:nvPr/>
        </p:nvSpPr>
        <p:spPr>
          <a:xfrm>
            <a:off x="2020824"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Gemini 3.6 Flash</a:t>
            </a:r>
            <a:r>
              <a:rPr sz="800" b="0">
                <a:solidFill>
                  <a:srgbClr val="5F6368"/>
                </a:solidFill>
                <a:latin typeface="Google Sans Flex"/>
              </a:rPr>
              <a:t>  on Vertex AI</a:t>
            </a:r>
          </a:p>
        </p:txBody>
      </p:sp>
      <p:sp>
        <p:nvSpPr>
          <p:cNvPr id="127" name="Rounded Rectangle 126"/>
          <p:cNvSpPr/>
          <p:nvPr/>
        </p:nvSpPr>
        <p:spPr>
          <a:xfrm>
            <a:off x="4072128"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Rounded Rectangle 127"/>
          <p:cNvSpPr/>
          <p:nvPr/>
        </p:nvSpPr>
        <p:spPr>
          <a:xfrm>
            <a:off x="4044696"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l-bot-ink.png"/>
          <p:cNvPicPr>
            <a:picLocks noChangeAspect="1"/>
          </p:cNvPicPr>
          <p:nvPr/>
        </p:nvPicPr>
        <p:blipFill>
          <a:blip r:embed="rId6"/>
          <a:stretch>
            <a:fillRect/>
          </a:stretch>
        </p:blipFill>
        <p:spPr>
          <a:xfrm>
            <a:off x="4126992" y="1307592"/>
            <a:ext cx="256032" cy="256032"/>
          </a:xfrm>
          <a:prstGeom prst="rect">
            <a:avLst/>
          </a:prstGeom>
        </p:spPr>
      </p:pic>
      <p:sp>
        <p:nvSpPr>
          <p:cNvPr id="130" name="TextBox 129"/>
          <p:cNvSpPr txBox="1"/>
          <p:nvPr/>
        </p:nvSpPr>
        <p:spPr>
          <a:xfrm>
            <a:off x="4465320"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Google ADK</a:t>
            </a:r>
            <a:r>
              <a:rPr sz="800" b="0">
                <a:solidFill>
                  <a:srgbClr val="5F6368"/>
                </a:solidFill>
                <a:latin typeface="Google Sans Flex"/>
              </a:rPr>
              <a:t>  agent graph + tools</a:t>
            </a:r>
          </a:p>
        </p:txBody>
      </p:sp>
      <p:sp>
        <p:nvSpPr>
          <p:cNvPr id="131" name="Rounded Rectangle 130"/>
          <p:cNvSpPr/>
          <p:nvPr/>
        </p:nvSpPr>
        <p:spPr>
          <a:xfrm>
            <a:off x="6516624" y="1271016"/>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Rounded Rectangle 131"/>
          <p:cNvSpPr/>
          <p:nvPr/>
        </p:nvSpPr>
        <p:spPr>
          <a:xfrm>
            <a:off x="6489192" y="1243584"/>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l-cpu-ink.png"/>
          <p:cNvPicPr>
            <a:picLocks noChangeAspect="1"/>
          </p:cNvPicPr>
          <p:nvPr/>
        </p:nvPicPr>
        <p:blipFill>
          <a:blip r:embed="rId7"/>
          <a:stretch>
            <a:fillRect/>
          </a:stretch>
        </p:blipFill>
        <p:spPr>
          <a:xfrm>
            <a:off x="6571488" y="1307592"/>
            <a:ext cx="256032" cy="256032"/>
          </a:xfrm>
          <a:prstGeom prst="rect">
            <a:avLst/>
          </a:prstGeom>
        </p:spPr>
      </p:pic>
      <p:sp>
        <p:nvSpPr>
          <p:cNvPr id="134" name="TextBox 133"/>
          <p:cNvSpPr txBox="1"/>
          <p:nvPr/>
        </p:nvSpPr>
        <p:spPr>
          <a:xfrm>
            <a:off x="6909816" y="1243584"/>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Gemma 3 4B</a:t>
            </a:r>
            <a:r>
              <a:rPr sz="800" b="0">
                <a:solidFill>
                  <a:srgbClr val="5F6368"/>
                </a:solidFill>
                <a:latin typeface="Google Sans Flex"/>
              </a:rPr>
              <a:t>  local dev, via Ollama</a:t>
            </a:r>
          </a:p>
        </p:txBody>
      </p:sp>
      <p:sp>
        <p:nvSpPr>
          <p:cNvPr id="135" name="Rounded Rectangle 134"/>
          <p:cNvSpPr/>
          <p:nvPr/>
        </p:nvSpPr>
        <p:spPr>
          <a:xfrm>
            <a:off x="356615" y="1810512"/>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Rounded Rectangle 135"/>
          <p:cNvSpPr/>
          <p:nvPr/>
        </p:nvSpPr>
        <p:spPr>
          <a:xfrm>
            <a:off x="320040" y="1773936"/>
            <a:ext cx="1143000" cy="1298448"/>
          </a:xfrm>
          <a:prstGeom prst="roundRect">
            <a:avLst>
              <a:gd name="adj" fmla="val 8000"/>
            </a:avLst>
          </a:prstGeom>
          <a:solidFill>
            <a:srgbClr val="D2E3F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Box 136"/>
          <p:cNvSpPr txBox="1"/>
          <p:nvPr/>
        </p:nvSpPr>
        <p:spPr>
          <a:xfrm>
            <a:off x="411479" y="1773936"/>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Google Cloud</a:t>
            </a:r>
          </a:p>
        </p:txBody>
      </p:sp>
      <p:sp>
        <p:nvSpPr>
          <p:cNvPr id="138" name="Rounded Rectangle 137"/>
          <p:cNvSpPr/>
          <p:nvPr/>
        </p:nvSpPr>
        <p:spPr>
          <a:xfrm>
            <a:off x="1627632"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Rounded Rectangle 138"/>
          <p:cNvSpPr/>
          <p:nvPr/>
        </p:nvSpPr>
        <p:spPr>
          <a:xfrm>
            <a:off x="1600200"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g-cloud_run.png"/>
          <p:cNvPicPr>
            <a:picLocks noChangeAspect="1"/>
          </p:cNvPicPr>
          <p:nvPr/>
        </p:nvPicPr>
        <p:blipFill>
          <a:blip r:embed="rId8"/>
          <a:stretch>
            <a:fillRect/>
          </a:stretch>
        </p:blipFill>
        <p:spPr>
          <a:xfrm>
            <a:off x="1682496" y="1837943"/>
            <a:ext cx="256032" cy="256032"/>
          </a:xfrm>
          <a:prstGeom prst="rect">
            <a:avLst/>
          </a:prstGeom>
        </p:spPr>
      </p:pic>
      <p:sp>
        <p:nvSpPr>
          <p:cNvPr id="141" name="TextBox 140"/>
          <p:cNvSpPr txBox="1"/>
          <p:nvPr/>
        </p:nvSpPr>
        <p:spPr>
          <a:xfrm>
            <a:off x="2020824"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Run</a:t>
            </a:r>
            <a:r>
              <a:rPr sz="800" b="0">
                <a:solidFill>
                  <a:srgbClr val="5F6368"/>
                </a:solidFill>
                <a:latin typeface="Google Sans Flex"/>
              </a:rPr>
              <a:t>  API + browsers</a:t>
            </a:r>
          </a:p>
        </p:txBody>
      </p:sp>
      <p:sp>
        <p:nvSpPr>
          <p:cNvPr id="142" name="Rounded Rectangle 141"/>
          <p:cNvSpPr/>
          <p:nvPr/>
        </p:nvSpPr>
        <p:spPr>
          <a:xfrm>
            <a:off x="4072128"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Rounded Rectangle 142"/>
          <p:cNvSpPr/>
          <p:nvPr/>
        </p:nvSpPr>
        <p:spPr>
          <a:xfrm>
            <a:off x="4044696"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4" name="Picture 143" descr="g-firestore.png"/>
          <p:cNvPicPr>
            <a:picLocks noChangeAspect="1"/>
          </p:cNvPicPr>
          <p:nvPr/>
        </p:nvPicPr>
        <p:blipFill>
          <a:blip r:embed="rId9"/>
          <a:stretch>
            <a:fillRect/>
          </a:stretch>
        </p:blipFill>
        <p:spPr>
          <a:xfrm>
            <a:off x="4126992" y="1837943"/>
            <a:ext cx="256032" cy="256032"/>
          </a:xfrm>
          <a:prstGeom prst="rect">
            <a:avLst/>
          </a:prstGeom>
        </p:spPr>
      </p:pic>
      <p:sp>
        <p:nvSpPr>
          <p:cNvPr id="145" name="TextBox 144"/>
          <p:cNvSpPr txBox="1"/>
          <p:nvPr/>
        </p:nvSpPr>
        <p:spPr>
          <a:xfrm>
            <a:off x="4465320"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Firestore</a:t>
            </a:r>
            <a:r>
              <a:rPr sz="800" b="0">
                <a:solidFill>
                  <a:srgbClr val="5F6368"/>
                </a:solidFill>
                <a:latin typeface="Google Sans Flex"/>
              </a:rPr>
              <a:t>  audits, events</a:t>
            </a:r>
          </a:p>
        </p:txBody>
      </p:sp>
      <p:sp>
        <p:nvSpPr>
          <p:cNvPr id="146" name="Rounded Rectangle 145"/>
          <p:cNvSpPr/>
          <p:nvPr/>
        </p:nvSpPr>
        <p:spPr>
          <a:xfrm>
            <a:off x="6516624" y="18013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6489192" y="17739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8" name="Picture 147" descr="g-cloud_storage.png"/>
          <p:cNvPicPr>
            <a:picLocks noChangeAspect="1"/>
          </p:cNvPicPr>
          <p:nvPr/>
        </p:nvPicPr>
        <p:blipFill>
          <a:blip r:embed="rId10"/>
          <a:stretch>
            <a:fillRect/>
          </a:stretch>
        </p:blipFill>
        <p:spPr>
          <a:xfrm>
            <a:off x="6571488" y="1837943"/>
            <a:ext cx="256032" cy="256032"/>
          </a:xfrm>
          <a:prstGeom prst="rect">
            <a:avLst/>
          </a:prstGeom>
        </p:spPr>
      </p:pic>
      <p:sp>
        <p:nvSpPr>
          <p:cNvPr id="149" name="TextBox 148"/>
          <p:cNvSpPr txBox="1"/>
          <p:nvPr/>
        </p:nvSpPr>
        <p:spPr>
          <a:xfrm>
            <a:off x="6909816" y="17739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Storage</a:t>
            </a:r>
            <a:r>
              <a:rPr sz="800" b="0">
                <a:solidFill>
                  <a:srgbClr val="5F6368"/>
                </a:solidFill>
                <a:latin typeface="Google Sans Flex"/>
              </a:rPr>
              <a:t>  screenshots</a:t>
            </a:r>
          </a:p>
        </p:txBody>
      </p:sp>
      <p:sp>
        <p:nvSpPr>
          <p:cNvPr id="150" name="Rounded Rectangle 149"/>
          <p:cNvSpPr/>
          <p:nvPr/>
        </p:nvSpPr>
        <p:spPr>
          <a:xfrm>
            <a:off x="1627632"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Rounded Rectangle 150"/>
          <p:cNvSpPr/>
          <p:nvPr/>
        </p:nvSpPr>
        <p:spPr>
          <a:xfrm>
            <a:off x="1600200"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2" name="Picture 151" descr="g-bigquery.png"/>
          <p:cNvPicPr>
            <a:picLocks noChangeAspect="1"/>
          </p:cNvPicPr>
          <p:nvPr/>
        </p:nvPicPr>
        <p:blipFill>
          <a:blip r:embed="rId11"/>
          <a:stretch>
            <a:fillRect/>
          </a:stretch>
        </p:blipFill>
        <p:spPr>
          <a:xfrm>
            <a:off x="1682496" y="2295144"/>
            <a:ext cx="256032" cy="256032"/>
          </a:xfrm>
          <a:prstGeom prst="rect">
            <a:avLst/>
          </a:prstGeom>
        </p:spPr>
      </p:pic>
      <p:sp>
        <p:nvSpPr>
          <p:cNvPr id="153" name="TextBox 152"/>
          <p:cNvSpPr txBox="1"/>
          <p:nvPr/>
        </p:nvSpPr>
        <p:spPr>
          <a:xfrm>
            <a:off x="2020824"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BigQuery</a:t>
            </a:r>
            <a:r>
              <a:rPr sz="800" b="0">
                <a:solidFill>
                  <a:srgbClr val="5F6368"/>
                </a:solidFill>
                <a:latin typeface="Google Sans Flex"/>
              </a:rPr>
              <a:t>  price history</a:t>
            </a:r>
          </a:p>
        </p:txBody>
      </p:sp>
      <p:sp>
        <p:nvSpPr>
          <p:cNvPr id="154" name="Rounded Rectangle 153"/>
          <p:cNvSpPr/>
          <p:nvPr/>
        </p:nvSpPr>
        <p:spPr>
          <a:xfrm>
            <a:off x="4072128"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044696"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g-cloud_build.png"/>
          <p:cNvPicPr>
            <a:picLocks noChangeAspect="1"/>
          </p:cNvPicPr>
          <p:nvPr/>
        </p:nvPicPr>
        <p:blipFill>
          <a:blip r:embed="rId12"/>
          <a:stretch>
            <a:fillRect/>
          </a:stretch>
        </p:blipFill>
        <p:spPr>
          <a:xfrm>
            <a:off x="4126992" y="2295144"/>
            <a:ext cx="256032" cy="256032"/>
          </a:xfrm>
          <a:prstGeom prst="rect">
            <a:avLst/>
          </a:prstGeom>
        </p:spPr>
      </p:pic>
      <p:sp>
        <p:nvSpPr>
          <p:cNvPr id="157" name="TextBox 156"/>
          <p:cNvSpPr txBox="1"/>
          <p:nvPr/>
        </p:nvSpPr>
        <p:spPr>
          <a:xfrm>
            <a:off x="4465320"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Build</a:t>
            </a:r>
            <a:r>
              <a:rPr sz="800" b="0">
                <a:solidFill>
                  <a:srgbClr val="5F6368"/>
                </a:solidFill>
                <a:latin typeface="Google Sans Flex"/>
              </a:rPr>
              <a:t>  container builds</a:t>
            </a:r>
          </a:p>
        </p:txBody>
      </p:sp>
      <p:sp>
        <p:nvSpPr>
          <p:cNvPr id="158" name="Rounded Rectangle 157"/>
          <p:cNvSpPr/>
          <p:nvPr/>
        </p:nvSpPr>
        <p:spPr>
          <a:xfrm>
            <a:off x="6516624" y="22585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6489192" y="22311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0" name="Picture 159" descr="g-artifact_registry.png"/>
          <p:cNvPicPr>
            <a:picLocks noChangeAspect="1"/>
          </p:cNvPicPr>
          <p:nvPr/>
        </p:nvPicPr>
        <p:blipFill>
          <a:blip r:embed="rId13"/>
          <a:stretch>
            <a:fillRect/>
          </a:stretch>
        </p:blipFill>
        <p:spPr>
          <a:xfrm>
            <a:off x="6571488" y="2295144"/>
            <a:ext cx="256032" cy="256032"/>
          </a:xfrm>
          <a:prstGeom prst="rect">
            <a:avLst/>
          </a:prstGeom>
        </p:spPr>
      </p:pic>
      <p:sp>
        <p:nvSpPr>
          <p:cNvPr id="161" name="TextBox 160"/>
          <p:cNvSpPr txBox="1"/>
          <p:nvPr/>
        </p:nvSpPr>
        <p:spPr>
          <a:xfrm>
            <a:off x="6909816" y="22311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Artifact Registry</a:t>
            </a:r>
            <a:r>
              <a:rPr sz="800" b="0">
                <a:solidFill>
                  <a:srgbClr val="5F6368"/>
                </a:solidFill>
                <a:latin typeface="Google Sans Flex"/>
              </a:rPr>
              <a:t>  images</a:t>
            </a:r>
          </a:p>
        </p:txBody>
      </p:sp>
      <p:sp>
        <p:nvSpPr>
          <p:cNvPr id="162" name="Rounded Rectangle 161"/>
          <p:cNvSpPr/>
          <p:nvPr/>
        </p:nvSpPr>
        <p:spPr>
          <a:xfrm>
            <a:off x="1627632"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1600200"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g-cloud_monitoring.png"/>
          <p:cNvPicPr>
            <a:picLocks noChangeAspect="1"/>
          </p:cNvPicPr>
          <p:nvPr/>
        </p:nvPicPr>
        <p:blipFill>
          <a:blip r:embed="rId14"/>
          <a:stretch>
            <a:fillRect/>
          </a:stretch>
        </p:blipFill>
        <p:spPr>
          <a:xfrm>
            <a:off x="1682496" y="2752344"/>
            <a:ext cx="256032" cy="256032"/>
          </a:xfrm>
          <a:prstGeom prst="rect">
            <a:avLst/>
          </a:prstGeom>
        </p:spPr>
      </p:pic>
      <p:sp>
        <p:nvSpPr>
          <p:cNvPr id="165" name="TextBox 164"/>
          <p:cNvSpPr txBox="1"/>
          <p:nvPr/>
        </p:nvSpPr>
        <p:spPr>
          <a:xfrm>
            <a:off x="2020824"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Monitoring</a:t>
            </a:r>
            <a:r>
              <a:rPr sz="800" b="0">
                <a:solidFill>
                  <a:srgbClr val="5F6368"/>
                </a:solidFill>
                <a:latin typeface="Google Sans Flex"/>
              </a:rPr>
              <a:t>  alerts, uptime</a:t>
            </a:r>
          </a:p>
        </p:txBody>
      </p:sp>
      <p:sp>
        <p:nvSpPr>
          <p:cNvPr id="166" name="Rounded Rectangle 165"/>
          <p:cNvSpPr/>
          <p:nvPr/>
        </p:nvSpPr>
        <p:spPr>
          <a:xfrm>
            <a:off x="4072128"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4044696"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g-billing.png"/>
          <p:cNvPicPr>
            <a:picLocks noChangeAspect="1"/>
          </p:cNvPicPr>
          <p:nvPr/>
        </p:nvPicPr>
        <p:blipFill>
          <a:blip r:embed="rId15"/>
          <a:stretch>
            <a:fillRect/>
          </a:stretch>
        </p:blipFill>
        <p:spPr>
          <a:xfrm>
            <a:off x="4126992" y="2752344"/>
            <a:ext cx="256032" cy="256032"/>
          </a:xfrm>
          <a:prstGeom prst="rect">
            <a:avLst/>
          </a:prstGeom>
        </p:spPr>
      </p:pic>
      <p:sp>
        <p:nvSpPr>
          <p:cNvPr id="169" name="TextBox 168"/>
          <p:cNvSpPr txBox="1"/>
          <p:nvPr/>
        </p:nvSpPr>
        <p:spPr>
          <a:xfrm>
            <a:off x="4465320"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Cloud Billing</a:t>
            </a:r>
            <a:r>
              <a:rPr sz="800" b="0">
                <a:solidFill>
                  <a:srgbClr val="5F6368"/>
                </a:solidFill>
                <a:latin typeface="Google Sans Flex"/>
              </a:rPr>
              <a:t>  budgets</a:t>
            </a:r>
          </a:p>
        </p:txBody>
      </p:sp>
      <p:sp>
        <p:nvSpPr>
          <p:cNvPr id="170" name="Rounded Rectangle 169"/>
          <p:cNvSpPr/>
          <p:nvPr/>
        </p:nvSpPr>
        <p:spPr>
          <a:xfrm>
            <a:off x="6516624" y="2715768"/>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489192" y="2688336"/>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s-firebase.png"/>
          <p:cNvPicPr>
            <a:picLocks noChangeAspect="1"/>
          </p:cNvPicPr>
          <p:nvPr/>
        </p:nvPicPr>
        <p:blipFill>
          <a:blip r:embed="rId16"/>
          <a:stretch>
            <a:fillRect/>
          </a:stretch>
        </p:blipFill>
        <p:spPr>
          <a:xfrm>
            <a:off x="6571488" y="2752344"/>
            <a:ext cx="256032" cy="256032"/>
          </a:xfrm>
          <a:prstGeom prst="rect">
            <a:avLst/>
          </a:prstGeom>
        </p:spPr>
      </p:pic>
      <p:sp>
        <p:nvSpPr>
          <p:cNvPr id="173" name="TextBox 172"/>
          <p:cNvSpPr txBox="1"/>
          <p:nvPr/>
        </p:nvSpPr>
        <p:spPr>
          <a:xfrm>
            <a:off x="6909816" y="2688336"/>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Firebase Hosting</a:t>
            </a:r>
            <a:r>
              <a:rPr sz="800" b="0">
                <a:solidFill>
                  <a:srgbClr val="5F6368"/>
                </a:solidFill>
                <a:latin typeface="Google Sans Flex"/>
              </a:rPr>
              <a:t>  web app + CDN</a:t>
            </a:r>
          </a:p>
        </p:txBody>
      </p:sp>
      <p:sp>
        <p:nvSpPr>
          <p:cNvPr id="174" name="Rounded Rectangle 173"/>
          <p:cNvSpPr/>
          <p:nvPr/>
        </p:nvSpPr>
        <p:spPr>
          <a:xfrm>
            <a:off x="356615" y="3255263"/>
            <a:ext cx="1143000" cy="1298448"/>
          </a:xfrm>
          <a:prstGeom prst="roundRect">
            <a:avLst>
              <a:gd name="adj" fmla="val 8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320040" y="3218687"/>
            <a:ext cx="1143000" cy="1298448"/>
          </a:xfrm>
          <a:prstGeom prst="roundRect">
            <a:avLst>
              <a:gd name="adj" fmla="val 8000"/>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6" name="TextBox 175"/>
          <p:cNvSpPr txBox="1"/>
          <p:nvPr/>
        </p:nvSpPr>
        <p:spPr>
          <a:xfrm>
            <a:off x="411479" y="3218687"/>
            <a:ext cx="960120" cy="1298448"/>
          </a:xfrm>
          <a:prstGeom prst="rect">
            <a:avLst/>
          </a:prstGeom>
          <a:noFill/>
        </p:spPr>
        <p:txBody>
          <a:bodyPr wrap="square" lIns="0" rIns="0" tIns="0" bIns="0" anchor="ctr">
            <a:noAutofit/>
          </a:bodyPr>
          <a:lstStyle/>
          <a:p>
            <a:pPr algn="ctr">
              <a:lnSpc>
                <a:spcPct val="100000"/>
              </a:lnSpc>
              <a:spcAft>
                <a:spcPts val="0"/>
              </a:spcAft>
            </a:pPr>
            <a:r>
              <a:rPr sz="1150" b="1">
                <a:solidFill>
                  <a:srgbClr val="111111"/>
                </a:solidFill>
                <a:latin typeface="Google Sans Flex"/>
              </a:rPr>
              <a:t>App</a:t>
            </a:r>
          </a:p>
        </p:txBody>
      </p:sp>
      <p:sp>
        <p:nvSpPr>
          <p:cNvPr id="177" name="Rounded Rectangle 176"/>
          <p:cNvSpPr/>
          <p:nvPr/>
        </p:nvSpPr>
        <p:spPr>
          <a:xfrm>
            <a:off x="1627632"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1600200"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9" name="Picture 178" descr="s-python.png"/>
          <p:cNvPicPr>
            <a:picLocks noChangeAspect="1"/>
          </p:cNvPicPr>
          <p:nvPr/>
        </p:nvPicPr>
        <p:blipFill>
          <a:blip r:embed="rId17"/>
          <a:stretch>
            <a:fillRect/>
          </a:stretch>
        </p:blipFill>
        <p:spPr>
          <a:xfrm>
            <a:off x="1682496" y="3282695"/>
            <a:ext cx="256032" cy="256032"/>
          </a:xfrm>
          <a:prstGeom prst="rect">
            <a:avLst/>
          </a:prstGeom>
        </p:spPr>
      </p:pic>
      <p:sp>
        <p:nvSpPr>
          <p:cNvPr id="180" name="TextBox 179"/>
          <p:cNvSpPr txBox="1"/>
          <p:nvPr/>
        </p:nvSpPr>
        <p:spPr>
          <a:xfrm>
            <a:off x="2020824"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Python 3.12</a:t>
            </a:r>
            <a:r>
              <a:rPr sz="800" b="0">
                <a:solidFill>
                  <a:srgbClr val="5F6368"/>
                </a:solidFill>
                <a:latin typeface="Google Sans Flex"/>
              </a:rPr>
              <a:t>  + uv</a:t>
            </a:r>
          </a:p>
        </p:txBody>
      </p:sp>
      <p:sp>
        <p:nvSpPr>
          <p:cNvPr id="181" name="Rounded Rectangle 180"/>
          <p:cNvSpPr/>
          <p:nvPr/>
        </p:nvSpPr>
        <p:spPr>
          <a:xfrm>
            <a:off x="4072128"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4044696"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3" name="Picture 182" descr="s-fastapi.png"/>
          <p:cNvPicPr>
            <a:picLocks noChangeAspect="1"/>
          </p:cNvPicPr>
          <p:nvPr/>
        </p:nvPicPr>
        <p:blipFill>
          <a:blip r:embed="rId18"/>
          <a:stretch>
            <a:fillRect/>
          </a:stretch>
        </p:blipFill>
        <p:spPr>
          <a:xfrm>
            <a:off x="4126992" y="3282695"/>
            <a:ext cx="256032" cy="256032"/>
          </a:xfrm>
          <a:prstGeom prst="rect">
            <a:avLst/>
          </a:prstGeom>
        </p:spPr>
      </p:pic>
      <p:sp>
        <p:nvSpPr>
          <p:cNvPr id="184" name="TextBox 183"/>
          <p:cNvSpPr txBox="1"/>
          <p:nvPr/>
        </p:nvSpPr>
        <p:spPr>
          <a:xfrm>
            <a:off x="4465320"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FastAPI</a:t>
            </a:r>
            <a:r>
              <a:rPr sz="800" b="0">
                <a:solidFill>
                  <a:srgbClr val="5F6368"/>
                </a:solidFill>
                <a:latin typeface="Google Sans Flex"/>
              </a:rPr>
              <a:t>  API + live stream</a:t>
            </a:r>
          </a:p>
        </p:txBody>
      </p:sp>
      <p:sp>
        <p:nvSpPr>
          <p:cNvPr id="185" name="Rounded Rectangle 184"/>
          <p:cNvSpPr/>
          <p:nvPr/>
        </p:nvSpPr>
        <p:spPr>
          <a:xfrm>
            <a:off x="6516624" y="3246119"/>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6489192" y="32186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7" name="Picture 186" descr="s-googlechrome.png"/>
          <p:cNvPicPr>
            <a:picLocks noChangeAspect="1"/>
          </p:cNvPicPr>
          <p:nvPr/>
        </p:nvPicPr>
        <p:blipFill>
          <a:blip r:embed="rId19"/>
          <a:stretch>
            <a:fillRect/>
          </a:stretch>
        </p:blipFill>
        <p:spPr>
          <a:xfrm>
            <a:off x="6571488" y="3282695"/>
            <a:ext cx="256032" cy="256032"/>
          </a:xfrm>
          <a:prstGeom prst="rect">
            <a:avLst/>
          </a:prstGeom>
        </p:spPr>
      </p:pic>
      <p:sp>
        <p:nvSpPr>
          <p:cNvPr id="188" name="TextBox 187"/>
          <p:cNvSpPr txBox="1"/>
          <p:nvPr/>
        </p:nvSpPr>
        <p:spPr>
          <a:xfrm>
            <a:off x="6909816" y="32186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Playwright</a:t>
            </a:r>
            <a:r>
              <a:rPr sz="800" b="0">
                <a:solidFill>
                  <a:srgbClr val="5F6368"/>
                </a:solidFill>
                <a:latin typeface="Google Sans Flex"/>
              </a:rPr>
              <a:t>  headless Chromium</a:t>
            </a:r>
          </a:p>
        </p:txBody>
      </p:sp>
      <p:sp>
        <p:nvSpPr>
          <p:cNvPr id="189" name="Rounded Rectangle 188"/>
          <p:cNvSpPr/>
          <p:nvPr/>
        </p:nvSpPr>
        <p:spPr>
          <a:xfrm>
            <a:off x="1627632"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0" name="Rounded Rectangle 189"/>
          <p:cNvSpPr/>
          <p:nvPr/>
        </p:nvSpPr>
        <p:spPr>
          <a:xfrm>
            <a:off x="1600200"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1" name="Picture 190" descr="s-pydantic.png"/>
          <p:cNvPicPr>
            <a:picLocks noChangeAspect="1"/>
          </p:cNvPicPr>
          <p:nvPr/>
        </p:nvPicPr>
        <p:blipFill>
          <a:blip r:embed="rId20"/>
          <a:stretch>
            <a:fillRect/>
          </a:stretch>
        </p:blipFill>
        <p:spPr>
          <a:xfrm>
            <a:off x="1682496" y="3739896"/>
            <a:ext cx="256032" cy="256032"/>
          </a:xfrm>
          <a:prstGeom prst="rect">
            <a:avLst/>
          </a:prstGeom>
        </p:spPr>
      </p:pic>
      <p:sp>
        <p:nvSpPr>
          <p:cNvPr id="192" name="TextBox 191"/>
          <p:cNvSpPr txBox="1"/>
          <p:nvPr/>
        </p:nvSpPr>
        <p:spPr>
          <a:xfrm>
            <a:off x="2020824"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Pydantic</a:t>
            </a:r>
            <a:r>
              <a:rPr sz="800" b="0">
                <a:solidFill>
                  <a:srgbClr val="5F6368"/>
                </a:solidFill>
                <a:latin typeface="Google Sans Flex"/>
              </a:rPr>
              <a:t>  typed model output</a:t>
            </a:r>
          </a:p>
        </p:txBody>
      </p:sp>
      <p:sp>
        <p:nvSpPr>
          <p:cNvPr id="193" name="Rounded Rectangle 192"/>
          <p:cNvSpPr/>
          <p:nvPr/>
        </p:nvSpPr>
        <p:spPr>
          <a:xfrm>
            <a:off x="4072128"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4044696"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5" name="Picture 194" descr="s-react.png"/>
          <p:cNvPicPr>
            <a:picLocks noChangeAspect="1"/>
          </p:cNvPicPr>
          <p:nvPr/>
        </p:nvPicPr>
        <p:blipFill>
          <a:blip r:embed="rId21"/>
          <a:stretch>
            <a:fillRect/>
          </a:stretch>
        </p:blipFill>
        <p:spPr>
          <a:xfrm>
            <a:off x="4126992" y="3739896"/>
            <a:ext cx="256032" cy="256032"/>
          </a:xfrm>
          <a:prstGeom prst="rect">
            <a:avLst/>
          </a:prstGeom>
        </p:spPr>
      </p:pic>
      <p:sp>
        <p:nvSpPr>
          <p:cNvPr id="196" name="TextBox 195"/>
          <p:cNvSpPr txBox="1"/>
          <p:nvPr/>
        </p:nvSpPr>
        <p:spPr>
          <a:xfrm>
            <a:off x="4465320"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React 19</a:t>
            </a:r>
            <a:r>
              <a:rPr sz="800" b="0">
                <a:solidFill>
                  <a:srgbClr val="5F6368"/>
                </a:solidFill>
                <a:latin typeface="Google Sans Flex"/>
              </a:rPr>
              <a:t>  dashboard</a:t>
            </a:r>
          </a:p>
        </p:txBody>
      </p:sp>
      <p:sp>
        <p:nvSpPr>
          <p:cNvPr id="197" name="Rounded Rectangle 196"/>
          <p:cNvSpPr/>
          <p:nvPr/>
        </p:nvSpPr>
        <p:spPr>
          <a:xfrm>
            <a:off x="6516624" y="37033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Rounded Rectangle 197"/>
          <p:cNvSpPr/>
          <p:nvPr/>
        </p:nvSpPr>
        <p:spPr>
          <a:xfrm>
            <a:off x="6489192" y="36758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9" name="Picture 198" descr="s-typescript.png"/>
          <p:cNvPicPr>
            <a:picLocks noChangeAspect="1"/>
          </p:cNvPicPr>
          <p:nvPr/>
        </p:nvPicPr>
        <p:blipFill>
          <a:blip r:embed="rId22"/>
          <a:stretch>
            <a:fillRect/>
          </a:stretch>
        </p:blipFill>
        <p:spPr>
          <a:xfrm>
            <a:off x="6571488" y="3739896"/>
            <a:ext cx="256032" cy="256032"/>
          </a:xfrm>
          <a:prstGeom prst="rect">
            <a:avLst/>
          </a:prstGeom>
        </p:spPr>
      </p:pic>
      <p:sp>
        <p:nvSpPr>
          <p:cNvPr id="200" name="TextBox 199"/>
          <p:cNvSpPr txBox="1"/>
          <p:nvPr/>
        </p:nvSpPr>
        <p:spPr>
          <a:xfrm>
            <a:off x="6909816" y="36758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TypeScript</a:t>
            </a:r>
            <a:r>
              <a:rPr sz="800" b="0">
                <a:solidFill>
                  <a:srgbClr val="5F6368"/>
                </a:solidFill>
                <a:latin typeface="Google Sans Flex"/>
              </a:rPr>
              <a:t>  end to end</a:t>
            </a:r>
          </a:p>
        </p:txBody>
      </p:sp>
      <p:sp>
        <p:nvSpPr>
          <p:cNvPr id="201" name="Rounded Rectangle 200"/>
          <p:cNvSpPr/>
          <p:nvPr/>
        </p:nvSpPr>
        <p:spPr>
          <a:xfrm>
            <a:off x="1627632"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Rounded Rectangle 201"/>
          <p:cNvSpPr/>
          <p:nvPr/>
        </p:nvSpPr>
        <p:spPr>
          <a:xfrm>
            <a:off x="1600200"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3" name="Picture 202" descr="s-vite.png"/>
          <p:cNvPicPr>
            <a:picLocks noChangeAspect="1"/>
          </p:cNvPicPr>
          <p:nvPr/>
        </p:nvPicPr>
        <p:blipFill>
          <a:blip r:embed="rId23"/>
          <a:stretch>
            <a:fillRect/>
          </a:stretch>
        </p:blipFill>
        <p:spPr>
          <a:xfrm>
            <a:off x="1682496" y="4197096"/>
            <a:ext cx="256032" cy="256032"/>
          </a:xfrm>
          <a:prstGeom prst="rect">
            <a:avLst/>
          </a:prstGeom>
        </p:spPr>
      </p:pic>
      <p:sp>
        <p:nvSpPr>
          <p:cNvPr id="204" name="TextBox 203"/>
          <p:cNvSpPr txBox="1"/>
          <p:nvPr/>
        </p:nvSpPr>
        <p:spPr>
          <a:xfrm>
            <a:off x="2020824"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Vite</a:t>
            </a:r>
            <a:r>
              <a:rPr sz="800" b="0">
                <a:solidFill>
                  <a:srgbClr val="5F6368"/>
                </a:solidFill>
                <a:latin typeface="Google Sans Flex"/>
              </a:rPr>
              <a:t>  build</a:t>
            </a:r>
          </a:p>
        </p:txBody>
      </p:sp>
      <p:sp>
        <p:nvSpPr>
          <p:cNvPr id="205" name="Rounded Rectangle 204"/>
          <p:cNvSpPr/>
          <p:nvPr/>
        </p:nvSpPr>
        <p:spPr>
          <a:xfrm>
            <a:off x="4072128"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Rounded Rectangle 205"/>
          <p:cNvSpPr/>
          <p:nvPr/>
        </p:nvSpPr>
        <p:spPr>
          <a:xfrm>
            <a:off x="4044696"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7" name="Picture 206" descr="s-tailwindcss.png"/>
          <p:cNvPicPr>
            <a:picLocks noChangeAspect="1"/>
          </p:cNvPicPr>
          <p:nvPr/>
        </p:nvPicPr>
        <p:blipFill>
          <a:blip r:embed="rId24"/>
          <a:stretch>
            <a:fillRect/>
          </a:stretch>
        </p:blipFill>
        <p:spPr>
          <a:xfrm>
            <a:off x="4126992" y="4197096"/>
            <a:ext cx="256032" cy="256032"/>
          </a:xfrm>
          <a:prstGeom prst="rect">
            <a:avLst/>
          </a:prstGeom>
        </p:spPr>
      </p:pic>
      <p:sp>
        <p:nvSpPr>
          <p:cNvPr id="208" name="TextBox 207"/>
          <p:cNvSpPr txBox="1"/>
          <p:nvPr/>
        </p:nvSpPr>
        <p:spPr>
          <a:xfrm>
            <a:off x="4465320"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Tailwind CSS</a:t>
            </a:r>
            <a:r>
              <a:rPr sz="800" b="0">
                <a:solidFill>
                  <a:srgbClr val="5F6368"/>
                </a:solidFill>
                <a:latin typeface="Google Sans Flex"/>
              </a:rPr>
              <a:t>  styling</a:t>
            </a:r>
          </a:p>
        </p:txBody>
      </p:sp>
      <p:sp>
        <p:nvSpPr>
          <p:cNvPr id="209" name="Rounded Rectangle 208"/>
          <p:cNvSpPr/>
          <p:nvPr/>
        </p:nvSpPr>
        <p:spPr>
          <a:xfrm>
            <a:off x="6516624" y="4160520"/>
            <a:ext cx="2334768" cy="384048"/>
          </a:xfrm>
          <a:prstGeom prst="roundRect">
            <a:avLst>
              <a:gd name="adj" fmla="val 19047"/>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Rounded Rectangle 209"/>
          <p:cNvSpPr/>
          <p:nvPr/>
        </p:nvSpPr>
        <p:spPr>
          <a:xfrm>
            <a:off x="6489192" y="4133087"/>
            <a:ext cx="2334768" cy="384048"/>
          </a:xfrm>
          <a:prstGeom prst="roundRect">
            <a:avLst>
              <a:gd name="adj" fmla="val 19047"/>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1" name="Picture 210" descr="s-threedotjs.png"/>
          <p:cNvPicPr>
            <a:picLocks noChangeAspect="1"/>
          </p:cNvPicPr>
          <p:nvPr/>
        </p:nvPicPr>
        <p:blipFill>
          <a:blip r:embed="rId25"/>
          <a:stretch>
            <a:fillRect/>
          </a:stretch>
        </p:blipFill>
        <p:spPr>
          <a:xfrm>
            <a:off x="6571488" y="4197096"/>
            <a:ext cx="256032" cy="256032"/>
          </a:xfrm>
          <a:prstGeom prst="rect">
            <a:avLst/>
          </a:prstGeom>
        </p:spPr>
      </p:pic>
      <p:sp>
        <p:nvSpPr>
          <p:cNvPr id="212" name="TextBox 211"/>
          <p:cNvSpPr txBox="1"/>
          <p:nvPr/>
        </p:nvSpPr>
        <p:spPr>
          <a:xfrm>
            <a:off x="6909816" y="4133087"/>
            <a:ext cx="1877568" cy="384048"/>
          </a:xfrm>
          <a:prstGeom prst="rect">
            <a:avLst/>
          </a:prstGeom>
          <a:noFill/>
        </p:spPr>
        <p:txBody>
          <a:bodyPr wrap="square" lIns="0" rIns="0" tIns="0" bIns="0" anchor="ctr">
            <a:noAutofit/>
          </a:bodyPr>
          <a:lstStyle/>
          <a:p>
            <a:pPr algn="l">
              <a:lnSpc>
                <a:spcPct val="100000"/>
              </a:lnSpc>
              <a:spcAft>
                <a:spcPts val="0"/>
              </a:spcAft>
            </a:pPr>
            <a:r>
              <a:rPr sz="950" b="1">
                <a:solidFill>
                  <a:srgbClr val="111111"/>
                </a:solidFill>
                <a:latin typeface="Google Sans Flex"/>
              </a:rPr>
              <a:t>three.js</a:t>
            </a:r>
            <a:r>
              <a:rPr sz="800" b="0">
                <a:solidFill>
                  <a:srgbClr val="5F6368"/>
                </a:solidFill>
                <a:latin typeface="Google Sans Flex"/>
              </a:rPr>
              <a:t>  3D hero</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Rounded Rectangle 127"/>
          <p:cNvSpPr/>
          <p:nvPr/>
        </p:nvSpPr>
        <p:spPr>
          <a:xfrm>
            <a:off x="365759" y="1307592"/>
            <a:ext cx="3520440" cy="3538728"/>
          </a:xfrm>
          <a:prstGeom prst="roundRect">
            <a:avLst>
              <a:gd name="adj" fmla="val 363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Rounded Rectangle 128"/>
          <p:cNvSpPr/>
          <p:nvPr/>
        </p:nvSpPr>
        <p:spPr>
          <a:xfrm>
            <a:off x="320040" y="1261872"/>
            <a:ext cx="3520440" cy="3538728"/>
          </a:xfrm>
          <a:prstGeom prst="roundRect">
            <a:avLst>
              <a:gd name="adj" fmla="val 363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Box 129"/>
          <p:cNvSpPr txBox="1"/>
          <p:nvPr/>
        </p:nvSpPr>
        <p:spPr>
          <a:xfrm>
            <a:off x="548640" y="1371600"/>
            <a:ext cx="310896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PER LIVE AUDIT</a:t>
            </a:r>
          </a:p>
        </p:txBody>
      </p:sp>
      <p:sp>
        <p:nvSpPr>
          <p:cNvPr id="131" name="TextBox 130"/>
          <p:cNvSpPr txBox="1"/>
          <p:nvPr/>
        </p:nvSpPr>
        <p:spPr>
          <a:xfrm>
            <a:off x="548640" y="1572768"/>
            <a:ext cx="3108960" cy="731520"/>
          </a:xfrm>
          <a:prstGeom prst="rect">
            <a:avLst/>
          </a:prstGeom>
          <a:noFill/>
        </p:spPr>
        <p:txBody>
          <a:bodyPr wrap="square" lIns="0" rIns="0" tIns="0" bIns="0" anchor="t">
            <a:noAutofit/>
          </a:bodyPr>
          <a:lstStyle/>
          <a:p>
            <a:pPr algn="l">
              <a:lnSpc>
                <a:spcPct val="100000"/>
              </a:lnSpc>
              <a:spcAft>
                <a:spcPts val="0"/>
              </a:spcAft>
            </a:pPr>
            <a:r>
              <a:rPr sz="4600" b="1">
                <a:solidFill>
                  <a:srgbClr val="111111"/>
                </a:solidFill>
                <a:latin typeface="Google Sans Flex"/>
              </a:rPr>
              <a:t>≈ ₹2</a:t>
            </a:r>
          </a:p>
        </p:txBody>
      </p:sp>
      <p:sp>
        <p:nvSpPr>
          <p:cNvPr id="132" name="TextBox 131"/>
          <p:cNvSpPr txBox="1"/>
          <p:nvPr/>
        </p:nvSpPr>
        <p:spPr>
          <a:xfrm>
            <a:off x="548640" y="2286000"/>
            <a:ext cx="3108960" cy="274320"/>
          </a:xfrm>
          <a:prstGeom prst="rect">
            <a:avLst/>
          </a:prstGeom>
          <a:noFill/>
        </p:spPr>
        <p:txBody>
          <a:bodyPr wrap="square" lIns="0" rIns="0" tIns="0" bIns="0" anchor="t">
            <a:noAutofit/>
          </a:bodyPr>
          <a:lstStyle/>
          <a:p>
            <a:pPr algn="l">
              <a:lnSpc>
                <a:spcPct val="100000"/>
              </a:lnSpc>
              <a:spcAft>
                <a:spcPts val="0"/>
              </a:spcAft>
            </a:pPr>
            <a:r>
              <a:rPr sz="1000" b="0">
                <a:solidFill>
                  <a:srgbClr val="111111"/>
                </a:solidFill>
                <a:latin typeface="Google Sans Flex Medium"/>
              </a:rPr>
              <a:t>a full journey: 5 steps, about 30 seconds</a:t>
            </a:r>
          </a:p>
        </p:txBody>
      </p:sp>
      <p:cxnSp>
        <p:nvCxnSpPr>
          <p:cNvPr id="133" name="Connector 132"/>
          <p:cNvCxnSpPr/>
          <p:nvPr/>
        </p:nvCxnSpPr>
        <p:spPr>
          <a:xfrm>
            <a:off x="548640" y="2651760"/>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4" name="TextBox 133"/>
          <p:cNvSpPr txBox="1"/>
          <p:nvPr/>
        </p:nvSpPr>
        <p:spPr>
          <a:xfrm>
            <a:off x="548640" y="2715768"/>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Gemini 3.6 Flash</a:t>
            </a:r>
          </a:p>
          <a:p>
            <a:pPr algn="l">
              <a:lnSpc>
                <a:spcPct val="100000"/>
              </a:lnSpc>
              <a:spcAft>
                <a:spcPts val="0"/>
              </a:spcAft>
            </a:pPr>
            <a:r>
              <a:rPr sz="800" b="0">
                <a:solidFill>
                  <a:srgbClr val="3C4043"/>
                </a:solidFill>
                <a:latin typeface="Google Sans Flex"/>
              </a:rPr>
              <a:t>~21k in + 5k out tokens</a:t>
            </a:r>
          </a:p>
        </p:txBody>
      </p:sp>
      <p:sp>
        <p:nvSpPr>
          <p:cNvPr id="135" name="TextBox 134"/>
          <p:cNvSpPr txBox="1"/>
          <p:nvPr/>
        </p:nvSpPr>
        <p:spPr>
          <a:xfrm>
            <a:off x="2697480" y="2715768"/>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₹1.5–2</a:t>
            </a:r>
          </a:p>
        </p:txBody>
      </p:sp>
      <p:cxnSp>
        <p:nvCxnSpPr>
          <p:cNvPr id="136" name="Connector 135"/>
          <p:cNvCxnSpPr/>
          <p:nvPr/>
        </p:nvCxnSpPr>
        <p:spPr>
          <a:xfrm>
            <a:off x="548640" y="3163824"/>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37" name="TextBox 136"/>
          <p:cNvSpPr txBox="1"/>
          <p:nvPr/>
        </p:nvSpPr>
        <p:spPr>
          <a:xfrm>
            <a:off x="548640" y="3227832"/>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Cloud Run</a:t>
            </a:r>
          </a:p>
          <a:p>
            <a:pPr algn="l">
              <a:lnSpc>
                <a:spcPct val="100000"/>
              </a:lnSpc>
              <a:spcAft>
                <a:spcPts val="0"/>
              </a:spcAft>
            </a:pPr>
            <a:r>
              <a:rPr sz="800" b="0">
                <a:solidFill>
                  <a:srgbClr val="3C4043"/>
                </a:solidFill>
                <a:latin typeface="Google Sans Flex"/>
              </a:rPr>
              <a:t>~30 s on 2 vCPU</a:t>
            </a:r>
          </a:p>
        </p:txBody>
      </p:sp>
      <p:sp>
        <p:nvSpPr>
          <p:cNvPr id="138" name="TextBox 137"/>
          <p:cNvSpPr txBox="1"/>
          <p:nvPr/>
        </p:nvSpPr>
        <p:spPr>
          <a:xfrm>
            <a:off x="2697480" y="3227832"/>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&lt; ₹0.5</a:t>
            </a:r>
          </a:p>
        </p:txBody>
      </p:sp>
      <p:cxnSp>
        <p:nvCxnSpPr>
          <p:cNvPr id="139" name="Connector 138"/>
          <p:cNvCxnSpPr/>
          <p:nvPr/>
        </p:nvCxnSpPr>
        <p:spPr>
          <a:xfrm>
            <a:off x="548640" y="3675887"/>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0" name="TextBox 139"/>
          <p:cNvSpPr txBox="1"/>
          <p:nvPr/>
        </p:nvSpPr>
        <p:spPr>
          <a:xfrm>
            <a:off x="548640" y="3739896"/>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Firestore · Storage · BigQuery</a:t>
            </a:r>
          </a:p>
          <a:p>
            <a:pPr algn="l">
              <a:lnSpc>
                <a:spcPct val="100000"/>
              </a:lnSpc>
              <a:spcAft>
                <a:spcPts val="0"/>
              </a:spcAft>
            </a:pPr>
            <a:r>
              <a:rPr sz="800" b="0">
                <a:solidFill>
                  <a:srgbClr val="3C4043"/>
                </a:solidFill>
                <a:latin typeface="Google Sans Flex"/>
              </a:rPr>
              <a:t>events, screenshots, prices</a:t>
            </a:r>
          </a:p>
        </p:txBody>
      </p:sp>
      <p:sp>
        <p:nvSpPr>
          <p:cNvPr id="141" name="TextBox 140"/>
          <p:cNvSpPr txBox="1"/>
          <p:nvPr/>
        </p:nvSpPr>
        <p:spPr>
          <a:xfrm>
            <a:off x="2697480" y="3739896"/>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paise</a:t>
            </a:r>
          </a:p>
        </p:txBody>
      </p:sp>
      <p:cxnSp>
        <p:nvCxnSpPr>
          <p:cNvPr id="142" name="Connector 141"/>
          <p:cNvCxnSpPr/>
          <p:nvPr/>
        </p:nvCxnSpPr>
        <p:spPr>
          <a:xfrm>
            <a:off x="548640" y="4187952"/>
            <a:ext cx="3063240" cy="0"/>
          </a:xfrm>
          <a:prstGeom prst="line">
            <a:avLst/>
          </a:prstGeom>
          <a:ln w="9525">
            <a:solidFill>
              <a:srgbClr val="111111"/>
            </a:solidFill>
          </a:ln>
        </p:spPr>
        <p:style>
          <a:lnRef idx="2">
            <a:schemeClr val="accent1"/>
          </a:lnRef>
          <a:fillRef idx="0">
            <a:schemeClr val="accent1"/>
          </a:fillRef>
          <a:effectRef idx="1">
            <a:schemeClr val="accent1"/>
          </a:effectRef>
          <a:fontRef idx="minor">
            <a:schemeClr val="tx1"/>
          </a:fontRef>
        </p:style>
      </p:cxnSp>
      <p:sp>
        <p:nvSpPr>
          <p:cNvPr id="143" name="TextBox 142"/>
          <p:cNvSpPr txBox="1"/>
          <p:nvPr/>
        </p:nvSpPr>
        <p:spPr>
          <a:xfrm>
            <a:off x="548640" y="4251960"/>
            <a:ext cx="2194560" cy="411480"/>
          </a:xfrm>
          <a:prstGeom prst="rect">
            <a:avLst/>
          </a:prstGeom>
          <a:noFill/>
        </p:spPr>
        <p:txBody>
          <a:bodyPr wrap="square" lIns="0" rIns="0" tIns="0" bIns="0" anchor="t">
            <a:noAutofit/>
          </a:bodyPr>
          <a:lstStyle/>
          <a:p>
            <a:pPr algn="l">
              <a:lnSpc>
                <a:spcPct val="100000"/>
              </a:lnSpc>
              <a:spcAft>
                <a:spcPts val="0"/>
              </a:spcAft>
            </a:pPr>
            <a:r>
              <a:rPr sz="950" b="1">
                <a:solidFill>
                  <a:srgbClr val="111111"/>
                </a:solidFill>
                <a:latin typeface="Google Sans Flex"/>
              </a:rPr>
              <a:t>Replays ("Scan it")</a:t>
            </a:r>
          </a:p>
          <a:p>
            <a:pPr algn="l">
              <a:lnSpc>
                <a:spcPct val="100000"/>
              </a:lnSpc>
              <a:spcAft>
                <a:spcPts val="0"/>
              </a:spcAft>
            </a:pPr>
            <a:r>
              <a:rPr sz="800" b="0">
                <a:solidFill>
                  <a:srgbClr val="3C4043"/>
                </a:solidFill>
                <a:latin typeface="Google Sans Flex"/>
              </a:rPr>
              <a:t>recorded runs, no model</a:t>
            </a:r>
          </a:p>
        </p:txBody>
      </p:sp>
      <p:sp>
        <p:nvSpPr>
          <p:cNvPr id="144" name="TextBox 143"/>
          <p:cNvSpPr txBox="1"/>
          <p:nvPr/>
        </p:nvSpPr>
        <p:spPr>
          <a:xfrm>
            <a:off x="2697480" y="4251960"/>
            <a:ext cx="914400" cy="365760"/>
          </a:xfrm>
          <a:prstGeom prst="rect">
            <a:avLst/>
          </a:prstGeom>
          <a:noFill/>
        </p:spPr>
        <p:txBody>
          <a:bodyPr wrap="square" lIns="0" rIns="0" tIns="0" bIns="0" anchor="ctr">
            <a:noAutofit/>
          </a:bodyPr>
          <a:lstStyle/>
          <a:p>
            <a:pPr algn="r">
              <a:lnSpc>
                <a:spcPct val="100000"/>
              </a:lnSpc>
              <a:spcAft>
                <a:spcPts val="0"/>
              </a:spcAft>
            </a:pPr>
            <a:r>
              <a:rPr sz="1200" b="1">
                <a:solidFill>
                  <a:srgbClr val="111111"/>
                </a:solidFill>
                <a:latin typeface="Google Sans Flex"/>
              </a:rPr>
              <a:t>₹0</a:t>
            </a:r>
          </a:p>
        </p:txBody>
      </p:sp>
      <p:sp>
        <p:nvSpPr>
          <p:cNvPr id="145" name="TextBox 144"/>
          <p:cNvSpPr txBox="1"/>
          <p:nvPr/>
        </p:nvSpPr>
        <p:spPr>
          <a:xfrm>
            <a:off x="4069079" y="1243584"/>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MONTHLY ESTIMATE  </a:t>
            </a:r>
            <a:r>
              <a:rPr sz="900" b="0">
                <a:solidFill>
                  <a:srgbClr val="5F6368"/>
                </a:solidFill>
                <a:latin typeface="Google Sans Flex"/>
              </a:rPr>
              <a:t>live audits only; idle costs ≈ ₹0 (Cloud Run scales to zero)</a:t>
            </a:r>
          </a:p>
        </p:txBody>
      </p:sp>
      <p:sp>
        <p:nvSpPr>
          <p:cNvPr id="146" name="Rounded Rectangle 145"/>
          <p:cNvSpPr/>
          <p:nvPr/>
        </p:nvSpPr>
        <p:spPr>
          <a:xfrm>
            <a:off x="4105655"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Rounded Rectangle 146"/>
          <p:cNvSpPr/>
          <p:nvPr/>
        </p:nvSpPr>
        <p:spPr>
          <a:xfrm>
            <a:off x="4069079" y="1536192"/>
            <a:ext cx="1499616" cy="1417320"/>
          </a:xfrm>
          <a:prstGeom prst="roundRect">
            <a:avLst>
              <a:gd name="adj" fmla="val 6451"/>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8" name="TextBox 147"/>
          <p:cNvSpPr txBox="1"/>
          <p:nvPr/>
        </p:nvSpPr>
        <p:spPr>
          <a:xfrm>
            <a:off x="4197095"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a:t>
            </a:r>
          </a:p>
          <a:p>
            <a:pPr algn="l">
              <a:lnSpc>
                <a:spcPct val="100000"/>
              </a:lnSpc>
              <a:spcAft>
                <a:spcPts val="0"/>
              </a:spcAft>
            </a:pPr>
            <a:r>
              <a:rPr sz="850" b="0">
                <a:solidFill>
                  <a:srgbClr val="3C4043"/>
                </a:solidFill>
                <a:latin typeface="Google Sans Flex"/>
              </a:rPr>
              <a:t>audits / month</a:t>
            </a:r>
          </a:p>
        </p:txBody>
      </p:sp>
      <p:sp>
        <p:nvSpPr>
          <p:cNvPr id="149" name="TextBox 148"/>
          <p:cNvSpPr txBox="1"/>
          <p:nvPr/>
        </p:nvSpPr>
        <p:spPr>
          <a:xfrm>
            <a:off x="4197095"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a:t>
            </a:r>
          </a:p>
        </p:txBody>
      </p:sp>
      <p:sp>
        <p:nvSpPr>
          <p:cNvPr id="150" name="TextBox 149"/>
          <p:cNvSpPr txBox="1"/>
          <p:nvPr/>
        </p:nvSpPr>
        <p:spPr>
          <a:xfrm>
            <a:off x="4197095"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pilot with one platform</a:t>
            </a:r>
          </a:p>
        </p:txBody>
      </p:sp>
      <p:sp>
        <p:nvSpPr>
          <p:cNvPr id="151" name="Rounded Rectangle 150"/>
          <p:cNvSpPr/>
          <p:nvPr/>
        </p:nvSpPr>
        <p:spPr>
          <a:xfrm>
            <a:off x="5733287"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Rounded Rectangle 151"/>
          <p:cNvSpPr/>
          <p:nvPr/>
        </p:nvSpPr>
        <p:spPr>
          <a:xfrm>
            <a:off x="5696711" y="1536192"/>
            <a:ext cx="1499616" cy="1417320"/>
          </a:xfrm>
          <a:prstGeom prst="roundRect">
            <a:avLst>
              <a:gd name="adj" fmla="val 6451"/>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Box 152"/>
          <p:cNvSpPr txBox="1"/>
          <p:nvPr/>
        </p:nvSpPr>
        <p:spPr>
          <a:xfrm>
            <a:off x="5824727"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10,000</a:t>
            </a:r>
          </a:p>
          <a:p>
            <a:pPr algn="l">
              <a:lnSpc>
                <a:spcPct val="100000"/>
              </a:lnSpc>
              <a:spcAft>
                <a:spcPts val="0"/>
              </a:spcAft>
            </a:pPr>
            <a:r>
              <a:rPr sz="850" b="0">
                <a:solidFill>
                  <a:srgbClr val="3C4043"/>
                </a:solidFill>
                <a:latin typeface="Google Sans Flex"/>
              </a:rPr>
              <a:t>audits / month</a:t>
            </a:r>
          </a:p>
        </p:txBody>
      </p:sp>
      <p:sp>
        <p:nvSpPr>
          <p:cNvPr id="154" name="TextBox 153"/>
          <p:cNvSpPr txBox="1"/>
          <p:nvPr/>
        </p:nvSpPr>
        <p:spPr>
          <a:xfrm>
            <a:off x="5824727"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₹20,000</a:t>
            </a:r>
          </a:p>
        </p:txBody>
      </p:sp>
      <p:sp>
        <p:nvSpPr>
          <p:cNvPr id="155" name="TextBox 154"/>
          <p:cNvSpPr txBox="1"/>
          <p:nvPr/>
        </p:nvSpPr>
        <p:spPr>
          <a:xfrm>
            <a:off x="5824727"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daily checks on 300+ products</a:t>
            </a:r>
          </a:p>
        </p:txBody>
      </p:sp>
      <p:sp>
        <p:nvSpPr>
          <p:cNvPr id="156" name="Rounded Rectangle 155"/>
          <p:cNvSpPr/>
          <p:nvPr/>
        </p:nvSpPr>
        <p:spPr>
          <a:xfrm>
            <a:off x="7360919" y="1572768"/>
            <a:ext cx="1499616" cy="1417320"/>
          </a:xfrm>
          <a:prstGeom prst="roundRect">
            <a:avLst>
              <a:gd name="adj" fmla="val 6451"/>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Rounded Rectangle 156"/>
          <p:cNvSpPr/>
          <p:nvPr/>
        </p:nvSpPr>
        <p:spPr>
          <a:xfrm>
            <a:off x="7324343" y="1536192"/>
            <a:ext cx="1499616" cy="1417320"/>
          </a:xfrm>
          <a:prstGeom prst="roundRect">
            <a:avLst>
              <a:gd name="adj" fmla="val 6451"/>
            </a:avLst>
          </a:prstGeom>
          <a:solidFill>
            <a:srgbClr val="FF5CA8"/>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Box 157"/>
          <p:cNvSpPr txBox="1"/>
          <p:nvPr/>
        </p:nvSpPr>
        <p:spPr>
          <a:xfrm>
            <a:off x="7452359" y="1627632"/>
            <a:ext cx="1271016" cy="45720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1 lakh</a:t>
            </a:r>
          </a:p>
          <a:p>
            <a:pPr algn="l">
              <a:lnSpc>
                <a:spcPct val="100000"/>
              </a:lnSpc>
              <a:spcAft>
                <a:spcPts val="0"/>
              </a:spcAft>
            </a:pPr>
            <a:r>
              <a:rPr sz="850" b="0">
                <a:solidFill>
                  <a:srgbClr val="3C4043"/>
                </a:solidFill>
                <a:latin typeface="Google Sans Flex"/>
              </a:rPr>
              <a:t>audits / month</a:t>
            </a:r>
          </a:p>
        </p:txBody>
      </p:sp>
      <p:sp>
        <p:nvSpPr>
          <p:cNvPr id="159" name="TextBox 158"/>
          <p:cNvSpPr txBox="1"/>
          <p:nvPr/>
        </p:nvSpPr>
        <p:spPr>
          <a:xfrm>
            <a:off x="7452359" y="2212848"/>
            <a:ext cx="1271016" cy="384048"/>
          </a:xfrm>
          <a:prstGeom prst="rect">
            <a:avLst/>
          </a:prstGeom>
          <a:noFill/>
        </p:spPr>
        <p:txBody>
          <a:bodyPr wrap="square" lIns="0" rIns="0" tIns="0" bIns="0" anchor="t">
            <a:noAutofit/>
          </a:bodyPr>
          <a:lstStyle/>
          <a:p>
            <a:pPr algn="l">
              <a:lnSpc>
                <a:spcPct val="100000"/>
              </a:lnSpc>
              <a:spcAft>
                <a:spcPts val="0"/>
              </a:spcAft>
            </a:pPr>
            <a:r>
              <a:rPr sz="1900" b="1">
                <a:solidFill>
                  <a:srgbClr val="111111"/>
                </a:solidFill>
                <a:latin typeface="Google Sans Flex"/>
              </a:rPr>
              <a:t>₹2 lakh</a:t>
            </a:r>
          </a:p>
        </p:txBody>
      </p:sp>
      <p:sp>
        <p:nvSpPr>
          <p:cNvPr id="160" name="TextBox 159"/>
          <p:cNvSpPr txBox="1"/>
          <p:nvPr/>
        </p:nvSpPr>
        <p:spPr>
          <a:xfrm>
            <a:off x="7452359" y="2615184"/>
            <a:ext cx="1271016" cy="274320"/>
          </a:xfrm>
          <a:prstGeom prst="rect">
            <a:avLst/>
          </a:prstGeom>
          <a:noFill/>
        </p:spPr>
        <p:txBody>
          <a:bodyPr wrap="square" lIns="0" rIns="0" tIns="0" bIns="0" anchor="t">
            <a:noAutofit/>
          </a:bodyPr>
          <a:lstStyle/>
          <a:p>
            <a:pPr algn="l">
              <a:lnSpc>
                <a:spcPct val="100000"/>
              </a:lnSpc>
              <a:spcAft>
                <a:spcPts val="0"/>
              </a:spcAft>
            </a:pPr>
            <a:r>
              <a:rPr sz="800" b="0">
                <a:solidFill>
                  <a:srgbClr val="3C4043"/>
                </a:solidFill>
                <a:latin typeface="Google Sans Flex Medium"/>
              </a:rPr>
              <a:t>a regulator's sweep</a:t>
            </a:r>
          </a:p>
        </p:txBody>
      </p:sp>
      <p:sp>
        <p:nvSpPr>
          <p:cNvPr id="161" name="TextBox 160"/>
          <p:cNvSpPr txBox="1"/>
          <p:nvPr/>
        </p:nvSpPr>
        <p:spPr>
          <a:xfrm>
            <a:off x="4069079" y="3136392"/>
            <a:ext cx="475488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GUARDRAILS  </a:t>
            </a:r>
            <a:r>
              <a:rPr sz="900" b="0">
                <a:solidFill>
                  <a:srgbClr val="5F6368"/>
                </a:solidFill>
                <a:latin typeface="Google Sans Flex"/>
              </a:rPr>
              <a:t>so a bill can't surprise anyone</a:t>
            </a:r>
          </a:p>
        </p:txBody>
      </p:sp>
      <p:sp>
        <p:nvSpPr>
          <p:cNvPr id="162" name="Rounded Rectangle 161"/>
          <p:cNvSpPr/>
          <p:nvPr/>
        </p:nvSpPr>
        <p:spPr>
          <a:xfrm>
            <a:off x="4096511"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4069079"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ban-ink.png"/>
          <p:cNvPicPr>
            <a:picLocks noChangeAspect="1"/>
          </p:cNvPicPr>
          <p:nvPr/>
        </p:nvPicPr>
        <p:blipFill>
          <a:blip r:embed="rId5"/>
          <a:stretch>
            <a:fillRect/>
          </a:stretch>
        </p:blipFill>
        <p:spPr>
          <a:xfrm>
            <a:off x="4160519" y="3502152"/>
            <a:ext cx="219456" cy="219456"/>
          </a:xfrm>
          <a:prstGeom prst="rect">
            <a:avLst/>
          </a:prstGeom>
        </p:spPr>
      </p:pic>
      <p:sp>
        <p:nvSpPr>
          <p:cNvPr id="165" name="TextBox 164"/>
          <p:cNvSpPr txBox="1"/>
          <p:nvPr/>
        </p:nvSpPr>
        <p:spPr>
          <a:xfrm>
            <a:off x="4471416"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100 live runs a day, site-wide</a:t>
            </a:r>
          </a:p>
        </p:txBody>
      </p:sp>
      <p:sp>
        <p:nvSpPr>
          <p:cNvPr id="166" name="Rounded Rectangle 165"/>
          <p:cNvSpPr/>
          <p:nvPr/>
        </p:nvSpPr>
        <p:spPr>
          <a:xfrm>
            <a:off x="6528816" y="34564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7" name="Rounded Rectangle 166"/>
          <p:cNvSpPr/>
          <p:nvPr/>
        </p:nvSpPr>
        <p:spPr>
          <a:xfrm>
            <a:off x="6501383" y="34290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8" name="Picture 167" descr="l-coins-ink.png"/>
          <p:cNvPicPr>
            <a:picLocks noChangeAspect="1"/>
          </p:cNvPicPr>
          <p:nvPr/>
        </p:nvPicPr>
        <p:blipFill>
          <a:blip r:embed="rId6"/>
          <a:stretch>
            <a:fillRect/>
          </a:stretch>
        </p:blipFill>
        <p:spPr>
          <a:xfrm>
            <a:off x="6592823" y="3502152"/>
            <a:ext cx="219456" cy="219456"/>
          </a:xfrm>
          <a:prstGeom prst="rect">
            <a:avLst/>
          </a:prstGeom>
        </p:spPr>
      </p:pic>
      <p:sp>
        <p:nvSpPr>
          <p:cNvPr id="169" name="TextBox 168"/>
          <p:cNvSpPr txBox="1"/>
          <p:nvPr/>
        </p:nvSpPr>
        <p:spPr>
          <a:xfrm>
            <a:off x="6903720" y="34290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 400k tokens, 40 calls per audit</a:t>
            </a:r>
          </a:p>
        </p:txBody>
      </p:sp>
      <p:sp>
        <p:nvSpPr>
          <p:cNvPr id="170" name="Rounded Rectangle 169"/>
          <p:cNvSpPr/>
          <p:nvPr/>
        </p:nvSpPr>
        <p:spPr>
          <a:xfrm>
            <a:off x="4096511"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4069079"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timer-ink.png"/>
          <p:cNvPicPr>
            <a:picLocks noChangeAspect="1"/>
          </p:cNvPicPr>
          <p:nvPr/>
        </p:nvPicPr>
        <p:blipFill>
          <a:blip r:embed="rId7"/>
          <a:stretch>
            <a:fillRect/>
          </a:stretch>
        </p:blipFill>
        <p:spPr>
          <a:xfrm>
            <a:off x="4160519" y="3959352"/>
            <a:ext cx="219456" cy="219456"/>
          </a:xfrm>
          <a:prstGeom prst="rect">
            <a:avLst/>
          </a:prstGeom>
        </p:spPr>
      </p:pic>
      <p:sp>
        <p:nvSpPr>
          <p:cNvPr id="173" name="TextBox 172"/>
          <p:cNvSpPr txBox="1"/>
          <p:nvPr/>
        </p:nvSpPr>
        <p:spPr>
          <a:xfrm>
            <a:off x="4471416"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6-minute limit per audit</a:t>
            </a:r>
          </a:p>
        </p:txBody>
      </p:sp>
      <p:sp>
        <p:nvSpPr>
          <p:cNvPr id="174" name="Rounded Rectangle 173"/>
          <p:cNvSpPr/>
          <p:nvPr/>
        </p:nvSpPr>
        <p:spPr>
          <a:xfrm>
            <a:off x="6528816" y="39136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5" name="Rounded Rectangle 174"/>
          <p:cNvSpPr/>
          <p:nvPr/>
        </p:nvSpPr>
        <p:spPr>
          <a:xfrm>
            <a:off x="6501383" y="38862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6" name="Picture 175" descr="l-flag-ink.png"/>
          <p:cNvPicPr>
            <a:picLocks noChangeAspect="1"/>
          </p:cNvPicPr>
          <p:nvPr/>
        </p:nvPicPr>
        <p:blipFill>
          <a:blip r:embed="rId8"/>
          <a:stretch>
            <a:fillRect/>
          </a:stretch>
        </p:blipFill>
        <p:spPr>
          <a:xfrm>
            <a:off x="6592823" y="3959352"/>
            <a:ext cx="219456" cy="219456"/>
          </a:xfrm>
          <a:prstGeom prst="rect">
            <a:avLst/>
          </a:prstGeom>
        </p:spPr>
      </p:pic>
      <p:sp>
        <p:nvSpPr>
          <p:cNvPr id="177" name="TextBox 176"/>
          <p:cNvSpPr txBox="1"/>
          <p:nvPr/>
        </p:nvSpPr>
        <p:spPr>
          <a:xfrm>
            <a:off x="6903720" y="38862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Budget alerts at ₹2,000 / month</a:t>
            </a:r>
          </a:p>
        </p:txBody>
      </p:sp>
      <p:sp>
        <p:nvSpPr>
          <p:cNvPr id="178" name="Rounded Rectangle 177"/>
          <p:cNvSpPr/>
          <p:nvPr/>
        </p:nvSpPr>
        <p:spPr>
          <a:xfrm>
            <a:off x="4096511"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069079"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layers-ink.png"/>
          <p:cNvPicPr>
            <a:picLocks noChangeAspect="1"/>
          </p:cNvPicPr>
          <p:nvPr/>
        </p:nvPicPr>
        <p:blipFill>
          <a:blip r:embed="rId9"/>
          <a:stretch>
            <a:fillRect/>
          </a:stretch>
        </p:blipFill>
        <p:spPr>
          <a:xfrm>
            <a:off x="4160519" y="4416552"/>
            <a:ext cx="219456" cy="219456"/>
          </a:xfrm>
          <a:prstGeom prst="rect">
            <a:avLst/>
          </a:prstGeom>
        </p:spPr>
      </p:pic>
      <p:sp>
        <p:nvSpPr>
          <p:cNvPr id="181" name="TextBox 180"/>
          <p:cNvSpPr txBox="1"/>
          <p:nvPr/>
        </p:nvSpPr>
        <p:spPr>
          <a:xfrm>
            <a:off x="4471416"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Keeps only the 3 newest images</a:t>
            </a:r>
          </a:p>
        </p:txBody>
      </p:sp>
      <p:sp>
        <p:nvSpPr>
          <p:cNvPr id="182" name="Rounded Rectangle 181"/>
          <p:cNvSpPr/>
          <p:nvPr/>
        </p:nvSpPr>
        <p:spPr>
          <a:xfrm>
            <a:off x="6528816" y="4370832"/>
            <a:ext cx="2322576" cy="36576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501383" y="4343400"/>
            <a:ext cx="2322576" cy="365760"/>
          </a:xfrm>
          <a:prstGeom prst="roundRect">
            <a:avLst>
              <a:gd name="adj" fmla="val 2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4" name="Picture 183" descr="l-zap-ink.png"/>
          <p:cNvPicPr>
            <a:picLocks noChangeAspect="1"/>
          </p:cNvPicPr>
          <p:nvPr/>
        </p:nvPicPr>
        <p:blipFill>
          <a:blip r:embed="rId10"/>
          <a:stretch>
            <a:fillRect/>
          </a:stretch>
        </p:blipFill>
        <p:spPr>
          <a:xfrm>
            <a:off x="6592823" y="4416552"/>
            <a:ext cx="219456" cy="219456"/>
          </a:xfrm>
          <a:prstGeom prst="rect">
            <a:avLst/>
          </a:prstGeom>
        </p:spPr>
      </p:pic>
      <p:sp>
        <p:nvSpPr>
          <p:cNvPr id="185" name="TextBox 184"/>
          <p:cNvSpPr txBox="1"/>
          <p:nvPr/>
        </p:nvSpPr>
        <p:spPr>
          <a:xfrm>
            <a:off x="6903720" y="4343400"/>
            <a:ext cx="1865376" cy="365760"/>
          </a:xfrm>
          <a:prstGeom prst="rect">
            <a:avLst/>
          </a:prstGeom>
          <a:noFill/>
        </p:spPr>
        <p:txBody>
          <a:bodyPr wrap="square" lIns="0" rIns="0" tIns="0" bIns="0" anchor="ctr">
            <a:noAutofit/>
          </a:bodyPr>
          <a:lstStyle/>
          <a:p>
            <a:pPr algn="l">
              <a:lnSpc>
                <a:spcPct val="100000"/>
              </a:lnSpc>
              <a:spcAft>
                <a:spcPts val="0"/>
              </a:spcAft>
            </a:pPr>
            <a:r>
              <a:rPr sz="900" b="0">
                <a:solidFill>
                  <a:srgbClr val="111111"/>
                </a:solidFill>
                <a:latin typeface="Google Sans Flex Medium"/>
              </a:rPr>
              <a:t>Scales to zero when idle</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3984074"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Verdict: trust score, overcharge, fine risk"/>
          <p:cNvPicPr>
            <a:picLocks noChangeAspect="1"/>
          </p:cNvPicPr>
          <p:nvPr/>
        </p:nvPicPr>
        <p:blipFill>
          <a:blip r:embed="rId5"/>
          <a:stretch>
            <a:fillRect/>
          </a:stretch>
        </p:blipFill>
        <p:spPr>
          <a:xfrm>
            <a:off x="385402" y="1243584"/>
            <a:ext cx="3984074" cy="1581912"/>
          </a:xfrm>
          <a:prstGeom prst="rect">
            <a:avLst/>
          </a:prstGeom>
          <a:ln w="19050">
            <a:solidFill>
              <a:srgbClr val="111111"/>
            </a:solidFill>
          </a:ln>
        </p:spPr>
      </p:pic>
      <p:sp>
        <p:nvSpPr>
          <p:cNvPr id="138" name="Rounded Rectangle 137"/>
          <p:cNvSpPr/>
          <p:nvPr/>
        </p:nvSpPr>
        <p:spPr>
          <a:xfrm>
            <a:off x="312250" y="2642615"/>
            <a:ext cx="2887675"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Verdict: trust score, overcharge, fine risk, Fix it</a:t>
            </a:r>
          </a:p>
        </p:txBody>
      </p:sp>
      <p:sp>
        <p:nvSpPr>
          <p:cNvPr id="139" name="Rectangle 138"/>
          <p:cNvSpPr/>
          <p:nvPr/>
        </p:nvSpPr>
        <p:spPr>
          <a:xfrm>
            <a:off x="5225181" y="1289304"/>
            <a:ext cx="3174197"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The bill: ₹1,499 shown, ₹1,894 charged"/>
          <p:cNvPicPr>
            <a:picLocks noChangeAspect="1"/>
          </p:cNvPicPr>
          <p:nvPr/>
        </p:nvPicPr>
        <p:blipFill>
          <a:blip r:embed="rId6"/>
          <a:stretch>
            <a:fillRect/>
          </a:stretch>
        </p:blipFill>
        <p:spPr>
          <a:xfrm>
            <a:off x="5179461" y="1243584"/>
            <a:ext cx="3174197" cy="1581912"/>
          </a:xfrm>
          <a:prstGeom prst="rect">
            <a:avLst/>
          </a:prstGeom>
          <a:ln w="19050">
            <a:solidFill>
              <a:srgbClr val="111111"/>
            </a:solidFill>
          </a:ln>
        </p:spPr>
      </p:pic>
      <p:sp>
        <p:nvSpPr>
          <p:cNvPr id="141" name="Rounded Rectangle 140"/>
          <p:cNvSpPr/>
          <p:nvPr/>
        </p:nvSpPr>
        <p:spPr>
          <a:xfrm>
            <a:off x="5106309" y="2642615"/>
            <a:ext cx="2585923"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The bill: ₹1,499 shown, ₹1,894 charged</a:t>
            </a:r>
          </a:p>
        </p:txBody>
      </p:sp>
      <p:sp>
        <p:nvSpPr>
          <p:cNvPr id="142" name="Rectangle 141"/>
          <p:cNvSpPr/>
          <p:nvPr/>
        </p:nvSpPr>
        <p:spPr>
          <a:xfrm>
            <a:off x="988893" y="3099815"/>
            <a:ext cx="2868533"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3" name="Picture 142" descr="Evidence: the countdown restarts on reload"/>
          <p:cNvPicPr>
            <a:picLocks noChangeAspect="1"/>
          </p:cNvPicPr>
          <p:nvPr/>
        </p:nvPicPr>
        <p:blipFill>
          <a:blip r:embed="rId7"/>
          <a:stretch>
            <a:fillRect/>
          </a:stretch>
        </p:blipFill>
        <p:spPr>
          <a:xfrm>
            <a:off x="943173" y="3054096"/>
            <a:ext cx="2868533" cy="1581912"/>
          </a:xfrm>
          <a:prstGeom prst="rect">
            <a:avLst/>
          </a:prstGeom>
          <a:ln w="19050">
            <a:solidFill>
              <a:srgbClr val="111111"/>
            </a:solidFill>
          </a:ln>
        </p:spPr>
      </p:pic>
      <p:sp>
        <p:nvSpPr>
          <p:cNvPr id="144" name="Rounded Rectangle 143"/>
          <p:cNvSpPr/>
          <p:nvPr/>
        </p:nvSpPr>
        <p:spPr>
          <a:xfrm>
            <a:off x="870021" y="4453128"/>
            <a:ext cx="2827324" cy="274320"/>
          </a:xfrm>
          <a:prstGeom prst="roundRect">
            <a:avLst>
              <a:gd name="adj" fmla="val 50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Evidence: the countdown restarts on reload</a:t>
            </a:r>
          </a:p>
        </p:txBody>
      </p:sp>
      <p:sp>
        <p:nvSpPr>
          <p:cNvPr id="145" name="Rectangle 144"/>
          <p:cNvSpPr/>
          <p:nvPr/>
        </p:nvSpPr>
        <p:spPr>
          <a:xfrm>
            <a:off x="5024867" y="3099815"/>
            <a:ext cx="3574825" cy="1581912"/>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6" name="Picture 145" descr="A real pharmacy, logged out: 2 claims for review"/>
          <p:cNvPicPr>
            <a:picLocks noChangeAspect="1"/>
          </p:cNvPicPr>
          <p:nvPr/>
        </p:nvPicPr>
        <p:blipFill>
          <a:blip r:embed="rId8"/>
          <a:stretch>
            <a:fillRect/>
          </a:stretch>
        </p:blipFill>
        <p:spPr>
          <a:xfrm>
            <a:off x="4979147" y="3054096"/>
            <a:ext cx="3574825" cy="1581912"/>
          </a:xfrm>
          <a:prstGeom prst="rect">
            <a:avLst/>
          </a:prstGeom>
          <a:ln w="19050">
            <a:solidFill>
              <a:srgbClr val="111111"/>
            </a:solidFill>
          </a:ln>
        </p:spPr>
      </p:pic>
      <p:sp>
        <p:nvSpPr>
          <p:cNvPr id="147" name="Rounded Rectangle 146"/>
          <p:cNvSpPr/>
          <p:nvPr/>
        </p:nvSpPr>
        <p:spPr>
          <a:xfrm>
            <a:off x="4905995" y="4453128"/>
            <a:ext cx="2827324" cy="274320"/>
          </a:xfrm>
          <a:prstGeom prst="roundRect">
            <a:avLst>
              <a:gd name="adj" fmla="val 50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A real pharmacy: 2 claims for review</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200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PLANTED TRICKS  </a:t>
            </a:r>
            <a:r>
              <a:rPr sz="900" b="0">
                <a:solidFill>
                  <a:srgbClr val="5F6368"/>
                </a:solidFill>
                <a:latin typeface="Google Sans Flex"/>
              </a:rPr>
              <a:t>live runs, 2 per store</a:t>
            </a:r>
          </a:p>
        </p:txBody>
      </p:sp>
      <p:sp>
        <p:nvSpPr>
          <p:cNvPr id="145" name="Rounded Rectangle 144"/>
          <p:cNvSpPr/>
          <p:nvPr/>
        </p:nvSpPr>
        <p:spPr>
          <a:xfrm>
            <a:off x="356615" y="151790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Rounded Rectangle 145"/>
          <p:cNvSpPr/>
          <p:nvPr/>
        </p:nvSpPr>
        <p:spPr>
          <a:xfrm>
            <a:off x="320040" y="1481328"/>
            <a:ext cx="2712720" cy="877824"/>
          </a:xfrm>
          <a:prstGeom prst="roundRect">
            <a:avLst>
              <a:gd name="adj" fmla="val 1041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Box 146"/>
          <p:cNvSpPr txBox="1"/>
          <p:nvPr/>
        </p:nvSpPr>
        <p:spPr>
          <a:xfrm>
            <a:off x="457200" y="148132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9/9</a:t>
            </a:r>
          </a:p>
        </p:txBody>
      </p:sp>
      <p:sp>
        <p:nvSpPr>
          <p:cNvPr id="148" name="TextBox 147"/>
          <p:cNvSpPr txBox="1"/>
          <p:nvPr/>
        </p:nvSpPr>
        <p:spPr>
          <a:xfrm>
            <a:off x="1417319" y="160934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tricks caught · Store A</a:t>
            </a:r>
          </a:p>
          <a:p>
            <a:pPr algn="l">
              <a:lnSpc>
                <a:spcPct val="100000"/>
              </a:lnSpc>
              <a:spcAft>
                <a:spcPts val="0"/>
              </a:spcAft>
            </a:pPr>
            <a:r>
              <a:rPr sz="850" b="0">
                <a:solidFill>
                  <a:srgbClr val="3C4043"/>
                </a:solidFill>
                <a:latin typeface="Google Sans Flex"/>
              </a:rPr>
              <a:t>the borderline claim went to human review</a:t>
            </a:r>
          </a:p>
        </p:txBody>
      </p:sp>
      <p:sp>
        <p:nvSpPr>
          <p:cNvPr id="149" name="Rounded Rectangle 148"/>
          <p:cNvSpPr/>
          <p:nvPr/>
        </p:nvSpPr>
        <p:spPr>
          <a:xfrm>
            <a:off x="356615" y="252374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Rounded Rectangle 149"/>
          <p:cNvSpPr/>
          <p:nvPr/>
        </p:nvSpPr>
        <p:spPr>
          <a:xfrm>
            <a:off x="320040" y="2487168"/>
            <a:ext cx="2712720" cy="877824"/>
          </a:xfrm>
          <a:prstGeom prst="roundRect">
            <a:avLst>
              <a:gd name="adj" fmla="val 10416"/>
            </a:avLst>
          </a:prstGeom>
          <a:solidFill>
            <a:srgbClr val="4ADE9A"/>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Box 150"/>
          <p:cNvSpPr txBox="1"/>
          <p:nvPr/>
        </p:nvSpPr>
        <p:spPr>
          <a:xfrm>
            <a:off x="457200" y="248716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0</a:t>
            </a:r>
          </a:p>
        </p:txBody>
      </p:sp>
      <p:sp>
        <p:nvSpPr>
          <p:cNvPr id="152" name="TextBox 151"/>
          <p:cNvSpPr txBox="1"/>
          <p:nvPr/>
        </p:nvSpPr>
        <p:spPr>
          <a:xfrm>
            <a:off x="1417319" y="261518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false alarms · Store B</a:t>
            </a:r>
          </a:p>
          <a:p>
            <a:pPr algn="l">
              <a:lnSpc>
                <a:spcPct val="100000"/>
              </a:lnSpc>
              <a:spcAft>
                <a:spcPts val="0"/>
              </a:spcAft>
            </a:pPr>
            <a:r>
              <a:rPr sz="850" b="0">
                <a:solidFill>
                  <a:srgbClr val="3C4043"/>
                </a:solidFill>
                <a:latin typeface="Google Sans Flex"/>
              </a:rPr>
              <a:t>the honest control store</a:t>
            </a:r>
          </a:p>
        </p:txBody>
      </p:sp>
      <p:sp>
        <p:nvSpPr>
          <p:cNvPr id="153" name="Rounded Rectangle 152"/>
          <p:cNvSpPr/>
          <p:nvPr/>
        </p:nvSpPr>
        <p:spPr>
          <a:xfrm>
            <a:off x="356615" y="3529584"/>
            <a:ext cx="2712720" cy="877824"/>
          </a:xfrm>
          <a:prstGeom prst="roundRect">
            <a:avLst>
              <a:gd name="adj" fmla="val 10416"/>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320040" y="3493008"/>
            <a:ext cx="2712720" cy="877824"/>
          </a:xfrm>
          <a:prstGeom prst="roundRect">
            <a:avLst>
              <a:gd name="adj" fmla="val 1041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TextBox 154"/>
          <p:cNvSpPr txBox="1"/>
          <p:nvPr/>
        </p:nvSpPr>
        <p:spPr>
          <a:xfrm>
            <a:off x="457200" y="3493008"/>
            <a:ext cx="960120" cy="877824"/>
          </a:xfrm>
          <a:prstGeom prst="rect">
            <a:avLst/>
          </a:prstGeom>
          <a:noFill/>
        </p:spPr>
        <p:txBody>
          <a:bodyPr wrap="square" lIns="0" rIns="0" tIns="0" bIns="0" anchor="ctr">
            <a:noAutofit/>
          </a:bodyPr>
          <a:lstStyle/>
          <a:p>
            <a:pPr algn="l">
              <a:lnSpc>
                <a:spcPct val="100000"/>
              </a:lnSpc>
              <a:spcAft>
                <a:spcPts val="0"/>
              </a:spcAft>
            </a:pPr>
            <a:r>
              <a:rPr sz="2600" b="1">
                <a:solidFill>
                  <a:srgbClr val="111111"/>
                </a:solidFill>
                <a:latin typeface="Google Sans Flex"/>
              </a:rPr>
              <a:t>6/6</a:t>
            </a:r>
          </a:p>
        </p:txBody>
      </p:sp>
      <p:sp>
        <p:nvSpPr>
          <p:cNvPr id="156" name="TextBox 155"/>
          <p:cNvSpPr txBox="1"/>
          <p:nvPr/>
        </p:nvSpPr>
        <p:spPr>
          <a:xfrm>
            <a:off x="1417319" y="3621024"/>
            <a:ext cx="1524000" cy="65836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caught before the wall · Store C</a:t>
            </a:r>
          </a:p>
          <a:p>
            <a:pPr algn="l">
              <a:lnSpc>
                <a:spcPct val="100000"/>
              </a:lnSpc>
              <a:spcAft>
                <a:spcPts val="0"/>
              </a:spcAft>
            </a:pPr>
            <a:r>
              <a:rPr sz="850" b="0">
                <a:solidFill>
                  <a:srgbClr val="3C4043"/>
                </a:solidFill>
                <a:latin typeface="Google Sans Flex"/>
              </a:rPr>
              <a:t>then stops honestly at sign-in</a:t>
            </a:r>
          </a:p>
        </p:txBody>
      </p:sp>
      <p:sp>
        <p:nvSpPr>
          <p:cNvPr id="157" name="TextBox 156"/>
          <p:cNvSpPr txBox="1"/>
          <p:nvPr/>
        </p:nvSpPr>
        <p:spPr>
          <a:xfrm>
            <a:off x="32156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PUBLIC DATASET  </a:t>
            </a:r>
            <a:r>
              <a:rPr sz="900" b="0">
                <a:solidFill>
                  <a:srgbClr val="5F6368"/>
                </a:solidFill>
                <a:latin typeface="Google Sans Flex"/>
              </a:rPr>
              <a:t>2,356 texts, F1</a:t>
            </a:r>
          </a:p>
        </p:txBody>
      </p:sp>
      <p:sp>
        <p:nvSpPr>
          <p:cNvPr id="158" name="Rounded Rectangle 157"/>
          <p:cNvSpPr/>
          <p:nvPr/>
        </p:nvSpPr>
        <p:spPr>
          <a:xfrm>
            <a:off x="32522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Rounded Rectangle 158"/>
          <p:cNvSpPr/>
          <p:nvPr/>
        </p:nvSpPr>
        <p:spPr>
          <a:xfrm>
            <a:off x="32156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0" name="Chart 159"/>
          <p:cNvGraphicFramePr>
            <a:graphicFrameLocks noGrp="1"/>
          </p:cNvGraphicFramePr>
          <p:nvPr/>
        </p:nvGraphicFramePr>
        <p:xfrm>
          <a:off x="3261360" y="1554480"/>
          <a:ext cx="2602992" cy="1508760"/>
        </p:xfrm>
        <a:graphic>
          <a:graphicData uri="http://schemas.openxmlformats.org/drawingml/2006/chart">
            <c:chart r:id="rId5"/>
          </a:graphicData>
        </a:graphic>
      </p:graphicFrame>
      <p:sp>
        <p:nvSpPr>
          <p:cNvPr id="161" name="TextBox 160"/>
          <p:cNvSpPr txBox="1"/>
          <p:nvPr/>
        </p:nvSpPr>
        <p:spPr>
          <a:xfrm>
            <a:off x="33528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FF5CA8"/>
                </a:solidFill>
                <a:latin typeface="Google Sans Flex"/>
              </a:rPr>
              <a:t>0.997</a:t>
            </a:r>
            <a:r>
              <a:rPr sz="1000" b="0">
                <a:solidFill>
                  <a:srgbClr val="111111"/>
                </a:solidFill>
                <a:latin typeface="Google Sans Flex SemiBold"/>
              </a:rPr>
              <a:t>  precision</a:t>
            </a:r>
          </a:p>
          <a:p>
            <a:pPr algn="l">
              <a:lnSpc>
                <a:spcPct val="100000"/>
              </a:lnSpc>
              <a:spcAft>
                <a:spcPts val="0"/>
              </a:spcAft>
            </a:pPr>
            <a:r>
              <a:rPr sz="850" b="0">
                <a:solidFill>
                  <a:srgbClr val="5F6368"/>
                </a:solidFill>
                <a:latin typeface="Google Sans Flex"/>
              </a:rPr>
              <a:t>3 false alarms in 2,356 texts. Our model never saw this dataset; the others were trained on it.</a:t>
            </a:r>
          </a:p>
        </p:txBody>
      </p:sp>
      <p:sp>
        <p:nvSpPr>
          <p:cNvPr id="162" name="TextBox 161"/>
          <p:cNvSpPr txBox="1"/>
          <p:nvPr/>
        </p:nvSpPr>
        <p:spPr>
          <a:xfrm>
            <a:off x="6111240" y="1216152"/>
            <a:ext cx="2712720" cy="228600"/>
          </a:xfrm>
          <a:prstGeom prst="rect">
            <a:avLst/>
          </a:prstGeom>
          <a:noFill/>
        </p:spPr>
        <p:txBody>
          <a:bodyPr wrap="square" lIns="0" rIns="0" tIns="0" bIns="0" anchor="t">
            <a:noAutofit/>
          </a:bodyPr>
          <a:lstStyle/>
          <a:p>
            <a:pPr algn="l">
              <a:lnSpc>
                <a:spcPct val="100000"/>
              </a:lnSpc>
              <a:spcAft>
                <a:spcPts val="0"/>
              </a:spcAft>
            </a:pPr>
            <a:r>
              <a:rPr sz="900" b="0">
                <a:solidFill>
                  <a:srgbClr val="111111"/>
                </a:solidFill>
                <a:latin typeface="Google Sans Flex SemiBold"/>
              </a:rPr>
              <a:t>EVERY LAYER COUNTS  </a:t>
            </a:r>
            <a:r>
              <a:rPr sz="900" b="0">
                <a:solidFill>
                  <a:srgbClr val="5F6368"/>
                </a:solidFill>
                <a:latin typeface="Google Sans Flex"/>
              </a:rPr>
              <a:t>Store A recall</a:t>
            </a:r>
          </a:p>
        </p:txBody>
      </p:sp>
      <p:sp>
        <p:nvSpPr>
          <p:cNvPr id="163" name="Rounded Rectangle 162"/>
          <p:cNvSpPr/>
          <p:nvPr/>
        </p:nvSpPr>
        <p:spPr>
          <a:xfrm>
            <a:off x="6147816" y="1517904"/>
            <a:ext cx="2712720" cy="2798064"/>
          </a:xfrm>
          <a:prstGeom prst="roundRect">
            <a:avLst>
              <a:gd name="adj" fmla="val 337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Rounded Rectangle 163"/>
          <p:cNvSpPr/>
          <p:nvPr/>
        </p:nvSpPr>
        <p:spPr>
          <a:xfrm>
            <a:off x="6111240" y="1481328"/>
            <a:ext cx="2712720" cy="2798064"/>
          </a:xfrm>
          <a:prstGeom prst="roundRect">
            <a:avLst>
              <a:gd name="adj" fmla="val 337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165" name="Chart 164"/>
          <p:cNvGraphicFramePr>
            <a:graphicFrameLocks noGrp="1"/>
          </p:cNvGraphicFramePr>
          <p:nvPr/>
        </p:nvGraphicFramePr>
        <p:xfrm>
          <a:off x="6156960" y="1554480"/>
          <a:ext cx="2602992" cy="1508760"/>
        </p:xfrm>
        <a:graphic>
          <a:graphicData uri="http://schemas.openxmlformats.org/drawingml/2006/chart">
            <c:chart r:id="rId6"/>
          </a:graphicData>
        </a:graphic>
      </p:graphicFrame>
      <p:sp>
        <p:nvSpPr>
          <p:cNvPr id="166" name="TextBox 165"/>
          <p:cNvSpPr txBox="1"/>
          <p:nvPr/>
        </p:nvSpPr>
        <p:spPr>
          <a:xfrm>
            <a:off x="6248400" y="3090672"/>
            <a:ext cx="2438400" cy="1143000"/>
          </a:xfrm>
          <a:prstGeom prst="rect">
            <a:avLst/>
          </a:prstGeom>
          <a:noFill/>
        </p:spPr>
        <p:txBody>
          <a:bodyPr wrap="square" lIns="0" rIns="0" tIns="0" bIns="0" anchor="t">
            <a:noAutofit/>
          </a:bodyPr>
          <a:lstStyle/>
          <a:p>
            <a:pPr algn="l">
              <a:lnSpc>
                <a:spcPct val="100000"/>
              </a:lnSpc>
              <a:spcAft>
                <a:spcPts val="0"/>
              </a:spcAft>
            </a:pPr>
            <a:r>
              <a:rPr sz="2000" b="1">
                <a:solidFill>
                  <a:srgbClr val="111111"/>
                </a:solidFill>
                <a:latin typeface="Google Sans Flex"/>
              </a:rPr>
              <a:t>~27 s</a:t>
            </a:r>
            <a:r>
              <a:rPr sz="1000" b="0">
                <a:solidFill>
                  <a:srgbClr val="111111"/>
                </a:solidFill>
                <a:latin typeface="Google Sans Flex SemiBold"/>
              </a:rPr>
              <a:t>  per audit</a:t>
            </a:r>
          </a:p>
          <a:p>
            <a:pPr algn="l">
              <a:lnSpc>
                <a:spcPct val="100000"/>
              </a:lnSpc>
              <a:spcAft>
                <a:spcPts val="0"/>
              </a:spcAft>
            </a:pPr>
            <a:r>
              <a:rPr sz="850" b="0">
                <a:solidFill>
                  <a:srgbClr val="5F6368"/>
                </a:solidFill>
                <a:latin typeface="Google Sans Flex"/>
              </a:rPr>
              <a:t>2.5 Pro, 3.1 Pro and 3.8 Flash also scored 9/9 but were slower, so 3.6 Flash runs both tiers.</a:t>
            </a:r>
          </a:p>
        </p:txBody>
      </p:sp>
      <p:sp>
        <p:nvSpPr>
          <p:cNvPr id="167" name="Rounded Rectangle 166"/>
          <p:cNvSpPr/>
          <p:nvPr/>
        </p:nvSpPr>
        <p:spPr>
          <a:xfrm>
            <a:off x="320040" y="4425696"/>
            <a:ext cx="8503920" cy="384048"/>
          </a:xfrm>
          <a:prstGeom prst="roundRect">
            <a:avLst>
              <a:gd name="adj" fmla="val 23809"/>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Box 167"/>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950" b="1">
                <a:solidFill>
                  <a:srgbClr val="C6F432"/>
                </a:solidFill>
                <a:latin typeface="Google Sans Flex"/>
              </a:rPr>
              <a:t>Also tested:  </a:t>
            </a:r>
            <a:r>
              <a:rPr sz="950" b="0">
                <a:solidFill>
                  <a:srgbClr val="FFFFFF"/>
                </a:solidFill>
                <a:latin typeface="Google Sans Flex"/>
              </a:rPr>
              <a:t>213 backend + 44 web tests · Fix it: 9/9 fixes verified on a copy · every event checked against the API contract · pre-flight 6/6</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a:blip r:embed="rId5"/>
          <a:stretch>
            <a:fillRect/>
          </a:stretch>
        </p:blipFill>
        <p:spPr>
          <a:xfrm>
            <a:off x="561441" y="1530705"/>
            <a:ext cx="285292" cy="285292"/>
          </a:xfrm>
          <a:prstGeom prst="rect">
            <a:avLst/>
          </a:prstGeom>
        </p:spPr>
      </p:pic>
      <p:sp>
        <p:nvSpPr>
          <p:cNvPr id="157" name="Rounded Rectangle 156"/>
          <p:cNvSpPr/>
          <p:nvPr/>
        </p:nvSpPr>
        <p:spPr>
          <a:xfrm>
            <a:off x="2331720"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58" name="TextBox 157"/>
          <p:cNvSpPr txBox="1"/>
          <p:nvPr/>
        </p:nvSpPr>
        <p:spPr>
          <a:xfrm>
            <a:off x="466344"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The 26, audited</a:t>
            </a:r>
          </a:p>
        </p:txBody>
      </p:sp>
      <p:sp>
        <p:nvSpPr>
          <p:cNvPr id="159" name="TextBox 158"/>
          <p:cNvSpPr txBox="1"/>
          <p:nvPr/>
        </p:nvSpPr>
        <p:spPr>
          <a:xfrm>
            <a:off x="466344"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All 26 self-declared platforms, logged out, each finding checked by a person.</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a:blip r:embed="rId6"/>
          <a:stretch>
            <a:fillRect/>
          </a:stretch>
        </p:blipFill>
        <p:spPr>
          <a:xfrm>
            <a:off x="3450945" y="1530705"/>
            <a:ext cx="285292" cy="285292"/>
          </a:xfrm>
          <a:prstGeom prst="rect">
            <a:avLst/>
          </a:prstGeom>
        </p:spPr>
      </p:pic>
      <p:sp>
        <p:nvSpPr>
          <p:cNvPr id="165" name="Rounded Rectangle 164"/>
          <p:cNvSpPr/>
          <p:nvPr/>
        </p:nvSpPr>
        <p:spPr>
          <a:xfrm>
            <a:off x="5221224"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66" name="TextBox 165"/>
          <p:cNvSpPr txBox="1"/>
          <p:nvPr/>
        </p:nvSpPr>
        <p:spPr>
          <a:xfrm>
            <a:off x="3355848"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Logged-in journeys</a:t>
            </a:r>
          </a:p>
        </p:txBody>
      </p:sp>
      <p:sp>
        <p:nvSpPr>
          <p:cNvPr id="167" name="TextBox 166"/>
          <p:cNvSpPr txBox="1"/>
          <p:nvPr/>
        </p:nvSpPr>
        <p:spPr>
          <a:xfrm>
            <a:off x="3355848"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Test accounts in Secret Manager, so checkout and payment on real stores get audited too.</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a:blip r:embed="rId7"/>
          <a:stretch>
            <a:fillRect/>
          </a:stretch>
        </p:blipFill>
        <p:spPr>
          <a:xfrm>
            <a:off x="6340449" y="1530705"/>
            <a:ext cx="285292" cy="285292"/>
          </a:xfrm>
          <a:prstGeom prst="rect">
            <a:avLst/>
          </a:prstGeom>
        </p:spPr>
      </p:pic>
      <p:sp>
        <p:nvSpPr>
          <p:cNvPr id="173" name="Rounded Rectangle 172"/>
          <p:cNvSpPr/>
          <p:nvPr/>
        </p:nvSpPr>
        <p:spPr>
          <a:xfrm>
            <a:off x="8110728" y="1463039"/>
            <a:ext cx="56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NEXT</a:t>
            </a:r>
          </a:p>
        </p:txBody>
      </p:sp>
      <p:sp>
        <p:nvSpPr>
          <p:cNvPr id="174" name="TextBox 173"/>
          <p:cNvSpPr txBox="1"/>
          <p:nvPr/>
        </p:nvSpPr>
        <p:spPr>
          <a:xfrm>
            <a:off x="6245352"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Scheduled monitoring</a:t>
            </a:r>
          </a:p>
        </p:txBody>
      </p:sp>
      <p:sp>
        <p:nvSpPr>
          <p:cNvPr id="175" name="TextBox 174"/>
          <p:cNvSpPr txBox="1"/>
          <p:nvPr/>
        </p:nvSpPr>
        <p:spPr>
          <a:xfrm>
            <a:off x="6245352"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Nightly re-audits with Cloud Scheduler, and a CI check that fails a deploy adding a trick.</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a:blip r:embed="rId8"/>
          <a:stretch>
            <a:fillRect/>
          </a:stretch>
        </p:blipFill>
        <p:spPr>
          <a:xfrm>
            <a:off x="561441" y="3341217"/>
            <a:ext cx="285292" cy="285292"/>
          </a:xfrm>
          <a:prstGeom prst="rect">
            <a:avLst/>
          </a:prstGeom>
        </p:spPr>
      </p:pic>
      <p:sp>
        <p:nvSpPr>
          <p:cNvPr id="181" name="Rounded Rectangle 180"/>
          <p:cNvSpPr/>
          <p:nvPr/>
        </p:nvSpPr>
        <p:spPr>
          <a:xfrm>
            <a:off x="2331720"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82" name="TextBox 181"/>
          <p:cNvSpPr txBox="1"/>
          <p:nvPr/>
        </p:nvSpPr>
        <p:spPr>
          <a:xfrm>
            <a:off x="466344"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Shopper extension</a:t>
            </a:r>
          </a:p>
        </p:txBody>
      </p:sp>
      <p:sp>
        <p:nvSpPr>
          <p:cNvPr id="183" name="TextBox 182"/>
          <p:cNvSpPr txBox="1"/>
          <p:nvPr/>
        </p:nvSpPr>
        <p:spPr>
          <a:xfrm>
            <a:off x="466344"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A browser extension that flags tricks while you shop, with the real price.</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a:blip r:embed="rId9"/>
          <a:stretch>
            <a:fillRect/>
          </a:stretch>
        </p:blipFill>
        <p:spPr>
          <a:xfrm>
            <a:off x="3450945" y="3341217"/>
            <a:ext cx="285292" cy="285292"/>
          </a:xfrm>
          <a:prstGeom prst="rect">
            <a:avLst/>
          </a:prstGeom>
        </p:spPr>
      </p:pic>
      <p:sp>
        <p:nvSpPr>
          <p:cNvPr id="189" name="Rounded Rectangle 188"/>
          <p:cNvSpPr/>
          <p:nvPr/>
        </p:nvSpPr>
        <p:spPr>
          <a:xfrm>
            <a:off x="5221224"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0" name="TextBox 189"/>
          <p:cNvSpPr txBox="1"/>
          <p:nvPr/>
        </p:nvSpPr>
        <p:spPr>
          <a:xfrm>
            <a:off x="3355848"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Regulator dashboard</a:t>
            </a:r>
          </a:p>
        </p:txBody>
      </p:sp>
      <p:sp>
        <p:nvSpPr>
          <p:cNvPr id="191" name="TextBox 190"/>
          <p:cNvSpPr txBox="1"/>
          <p:nvPr/>
        </p:nvSpPr>
        <p:spPr>
          <a:xfrm>
            <a:off x="3355848"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BigQuery + Looker Studio trends across platforms, ready for CCPA filings.</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a:blip r:embed="rId10"/>
          <a:stretch>
            <a:fillRect/>
          </a:stretch>
        </p:blipFill>
        <p:spPr>
          <a:xfrm>
            <a:off x="6340449" y="3341217"/>
            <a:ext cx="285292" cy="285292"/>
          </a:xfrm>
          <a:prstGeom prst="rect">
            <a:avLst/>
          </a:prstGeom>
        </p:spPr>
      </p:pic>
      <p:sp>
        <p:nvSpPr>
          <p:cNvPr id="197" name="Rounded Rectangle 196"/>
          <p:cNvSpPr/>
          <p:nvPr/>
        </p:nvSpPr>
        <p:spPr>
          <a:xfrm>
            <a:off x="8110728" y="3273552"/>
            <a:ext cx="56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LATER</a:t>
            </a:r>
          </a:p>
        </p:txBody>
      </p:sp>
      <p:sp>
        <p:nvSpPr>
          <p:cNvPr id="198" name="TextBox 197"/>
          <p:cNvSpPr txBox="1"/>
          <p:nvPr/>
        </p:nvSpPr>
        <p:spPr>
          <a:xfrm>
            <a:off x="6245352"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Apps &amp; Indian languages</a:t>
            </a:r>
          </a:p>
        </p:txBody>
      </p:sp>
      <p:sp>
        <p:nvSpPr>
          <p:cNvPr id="199" name="TextBox 198"/>
          <p:cNvSpPr txBox="1"/>
          <p:nvPr/>
        </p:nvSpPr>
        <p:spPr>
          <a:xfrm>
            <a:off x="6245352"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Mobile app journeys, and pages in Hindi and other Indian languages.</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Rounded Rectangle 159"/>
          <p:cNvSpPr/>
          <p:nvPr/>
        </p:nvSpPr>
        <p:spPr>
          <a:xfrm>
            <a:off x="365759"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04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20040" y="1298448"/>
            <a:ext cx="2682240" cy="685800"/>
          </a:xfrm>
          <a:prstGeom prst="roundRect">
            <a:avLst>
              <a:gd name="adj" fmla="val 18666"/>
            </a:avLst>
          </a:prstGeom>
          <a:solidFill>
            <a:srgbClr val="C4B5FD"/>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ectangle 162"/>
          <p:cNvSpPr/>
          <p:nvPr/>
        </p:nvSpPr>
        <p:spPr>
          <a:xfrm>
            <a:off x="329184" y="1737360"/>
            <a:ext cx="2663952" cy="246888"/>
          </a:xfrm>
          <a:prstGeom prst="rect">
            <a:avLst/>
          </a:prstGeom>
          <a:solidFill>
            <a:srgbClr val="C4B5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64" name="Connector 163"/>
          <p:cNvCxnSpPr/>
          <p:nvPr/>
        </p:nvCxnSpPr>
        <p:spPr>
          <a:xfrm>
            <a:off x="32004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65" name="Picture 164" descr="s-github.png"/>
          <p:cNvPicPr>
            <a:picLocks noChangeAspect="1"/>
          </p:cNvPicPr>
          <p:nvPr/>
        </p:nvPicPr>
        <p:blipFill>
          <a:blip r:embed="rId5"/>
          <a:stretch>
            <a:fillRect/>
          </a:stretch>
        </p:blipFill>
        <p:spPr>
          <a:xfrm>
            <a:off x="484632" y="1463040"/>
            <a:ext cx="365760" cy="365760"/>
          </a:xfrm>
          <a:prstGeom prst="rect">
            <a:avLst/>
          </a:prstGeom>
        </p:spPr>
      </p:pic>
      <p:sp>
        <p:nvSpPr>
          <p:cNvPr id="166" name="TextBox 165"/>
          <p:cNvSpPr txBox="1"/>
          <p:nvPr/>
        </p:nvSpPr>
        <p:spPr>
          <a:xfrm>
            <a:off x="960119"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GitHub Public Repository</a:t>
            </a:r>
          </a:p>
        </p:txBody>
      </p:sp>
      <p:pic>
        <p:nvPicPr>
          <p:cNvPr id="167" name="Picture 166" descr="QR code for https://github.com/saubhagyaashish/shop-honest"/>
          <p:cNvPicPr>
            <a:picLocks noChangeAspect="1"/>
          </p:cNvPicPr>
          <p:nvPr/>
        </p:nvPicPr>
        <p:blipFill>
          <a:blip r:embed="rId6"/>
          <a:stretch>
            <a:fillRect/>
          </a:stretch>
        </p:blipFill>
        <p:spPr>
          <a:xfrm>
            <a:off x="883920" y="2176272"/>
            <a:ext cx="1554480" cy="1554480"/>
          </a:xfrm>
          <a:prstGeom prst="rect">
            <a:avLst/>
          </a:prstGeom>
        </p:spPr>
      </p:pic>
      <p:sp>
        <p:nvSpPr>
          <p:cNvPr id="168" name="TextBox 167"/>
          <p:cNvSpPr txBox="1"/>
          <p:nvPr/>
        </p:nvSpPr>
        <p:spPr>
          <a:xfrm>
            <a:off x="42976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7"/>
              </a:rPr>
              <a:t>github.com/saubhagyaashish/</a:t>
            </a:r>
          </a:p>
          <a:p>
            <a:pPr algn="ctr">
              <a:lnSpc>
                <a:spcPct val="100000"/>
              </a:lnSpc>
              <a:spcAft>
                <a:spcPts val="0"/>
              </a:spcAft>
            </a:pPr>
            <a:r>
              <a:rPr sz="1000" b="0">
                <a:solidFill>
                  <a:srgbClr val="3B5BFF"/>
                </a:solidFill>
                <a:latin typeface="Google Sans Flex SemiBold"/>
                <a:hlinkClick r:id="rId7"/>
              </a:rPr>
              <a:t>shop-honest</a:t>
            </a:r>
          </a:p>
        </p:txBody>
      </p:sp>
      <p:sp>
        <p:nvSpPr>
          <p:cNvPr id="169" name="TextBox 168"/>
          <p:cNvSpPr txBox="1"/>
          <p:nvPr/>
        </p:nvSpPr>
        <p:spPr>
          <a:xfrm>
            <a:off x="42976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Code, docs, design decisions and evals</a:t>
            </a:r>
          </a:p>
        </p:txBody>
      </p:sp>
      <p:sp>
        <p:nvSpPr>
          <p:cNvPr id="170" name="Rounded Rectangle 169"/>
          <p:cNvSpPr/>
          <p:nvPr/>
        </p:nvSpPr>
        <p:spPr>
          <a:xfrm>
            <a:off x="327660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323088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2" name="Rounded Rectangle 171"/>
          <p:cNvSpPr/>
          <p:nvPr/>
        </p:nvSpPr>
        <p:spPr>
          <a:xfrm>
            <a:off x="3230880" y="1298448"/>
            <a:ext cx="2682240" cy="685800"/>
          </a:xfrm>
          <a:prstGeom prst="roundRect">
            <a:avLst>
              <a:gd name="adj" fmla="val 18666"/>
            </a:avLst>
          </a:prstGeom>
          <a:solidFill>
            <a:srgbClr val="FFD23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Rectangle 172"/>
          <p:cNvSpPr/>
          <p:nvPr/>
        </p:nvSpPr>
        <p:spPr>
          <a:xfrm>
            <a:off x="3240024" y="1737360"/>
            <a:ext cx="2663952" cy="246888"/>
          </a:xfrm>
          <a:prstGeom prst="rect">
            <a:avLst/>
          </a:prstGeom>
          <a:solidFill>
            <a:srgbClr val="FFD2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74" name="Connector 173"/>
          <p:cNvCxnSpPr/>
          <p:nvPr/>
        </p:nvCxnSpPr>
        <p:spPr>
          <a:xfrm>
            <a:off x="323088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75" name="Picture 174" descr="s-youtube.png"/>
          <p:cNvPicPr>
            <a:picLocks noChangeAspect="1"/>
          </p:cNvPicPr>
          <p:nvPr/>
        </p:nvPicPr>
        <p:blipFill>
          <a:blip r:embed="rId8"/>
          <a:stretch>
            <a:fillRect/>
          </a:stretch>
        </p:blipFill>
        <p:spPr>
          <a:xfrm>
            <a:off x="3395472" y="1463040"/>
            <a:ext cx="365760" cy="365760"/>
          </a:xfrm>
          <a:prstGeom prst="rect">
            <a:avLst/>
          </a:prstGeom>
        </p:spPr>
      </p:pic>
      <p:sp>
        <p:nvSpPr>
          <p:cNvPr id="176" name="TextBox 175"/>
          <p:cNvSpPr txBox="1"/>
          <p:nvPr/>
        </p:nvSpPr>
        <p:spPr>
          <a:xfrm>
            <a:off x="387096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Demo Video Link (3 Minutes)</a:t>
            </a:r>
          </a:p>
        </p:txBody>
      </p:sp>
      <p:sp>
        <p:nvSpPr>
          <p:cNvPr id="177" name="Rounded Rectangle 176"/>
          <p:cNvSpPr/>
          <p:nvPr/>
        </p:nvSpPr>
        <p:spPr>
          <a:xfrm>
            <a:off x="3794760" y="2176272"/>
            <a:ext cx="1554480" cy="1554480"/>
          </a:xfrm>
          <a:prstGeom prst="roundRect">
            <a:avLst>
              <a:gd name="adj" fmla="val 5882"/>
            </a:avLst>
          </a:prstGeom>
          <a:solidFill>
            <a:srgbClr val="FFF8EC"/>
          </a:solidFill>
          <a:ln w="15875">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8" name="Picture 177" descr="Play the Shop Honest demo video on YouTube">
            <a:hlinkClick r:id="rId13"/>
          </p:cNvPr>
          <p:cNvPicPr>
            <a:picLocks noChangeAspect="1"/>
          </p:cNvPicPr>
          <p:nvPr/>
        </p:nvPicPr>
        <p:blipFill>
          <a:blip r:embed="rId9"/>
          <a:stretch>
            <a:fillRect/>
          </a:stretch>
        </p:blipFill>
        <p:spPr>
          <a:xfrm>
            <a:off x="4297680" y="2679192"/>
            <a:ext cx="548640" cy="548640"/>
          </a:xfrm>
          <a:prstGeom prst="rect">
            <a:avLst/>
          </a:prstGeom>
        </p:spPr>
      </p:pic>
      <p:sp>
        <p:nvSpPr>
          <p:cNvPr id="179" name="TextBox 178"/>
          <p:cNvSpPr txBox="1"/>
          <p:nvPr/>
        </p:nvSpPr>
        <p:spPr>
          <a:xfrm>
            <a:off x="334060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u="sng">
                <a:solidFill>
                  <a:srgbClr val="0097A7"/>
                </a:solidFill>
                <a:latin typeface="Google Sans Flex SemiBold"/>
                <a:hlinkClick r:id="rId13" tooltip="Watch the Shop Honest product walkthrough on YouTube"/>
              </a:rPr>
              <a:t>youtu.be/_mG4SobZ9E0</a:t>
            </a:r>
          </a:p>
        </p:txBody>
      </p:sp>
      <p:sp>
        <p:nvSpPr>
          <p:cNvPr id="180" name="TextBox 179"/>
          <p:cNvSpPr txBox="1"/>
          <p:nvPr/>
        </p:nvSpPr>
        <p:spPr>
          <a:xfrm>
            <a:off x="334060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A 2:54 product walkthrough</a:t>
            </a:r>
          </a:p>
        </p:txBody>
      </p:sp>
      <p:sp>
        <p:nvSpPr>
          <p:cNvPr id="181" name="Rounded Rectangle 180"/>
          <p:cNvSpPr/>
          <p:nvPr/>
        </p:nvSpPr>
        <p:spPr>
          <a:xfrm>
            <a:off x="6187440" y="1344168"/>
            <a:ext cx="2682240" cy="3474720"/>
          </a:xfrm>
          <a:prstGeom prst="roundRect">
            <a:avLst>
              <a:gd name="adj" fmla="val 477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Rounded Rectangle 181"/>
          <p:cNvSpPr/>
          <p:nvPr/>
        </p:nvSpPr>
        <p:spPr>
          <a:xfrm>
            <a:off x="6141720" y="1298448"/>
            <a:ext cx="2682240" cy="3474720"/>
          </a:xfrm>
          <a:prstGeom prst="roundRect">
            <a:avLst>
              <a:gd name="adj" fmla="val 4772"/>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Rounded Rectangle 182"/>
          <p:cNvSpPr/>
          <p:nvPr/>
        </p:nvSpPr>
        <p:spPr>
          <a:xfrm>
            <a:off x="6141720" y="1298448"/>
            <a:ext cx="2682240" cy="685800"/>
          </a:xfrm>
          <a:prstGeom prst="roundRect">
            <a:avLst>
              <a:gd name="adj" fmla="val 18666"/>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4" name="Rectangle 183"/>
          <p:cNvSpPr/>
          <p:nvPr/>
        </p:nvSpPr>
        <p:spPr>
          <a:xfrm>
            <a:off x="6150864" y="1737360"/>
            <a:ext cx="2663952" cy="246888"/>
          </a:xfrm>
          <a:prstGeom prst="rect">
            <a:avLst/>
          </a:prstGeom>
          <a:solidFill>
            <a:srgbClr val="C6F4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cxnSp>
        <p:nvCxnSpPr>
          <p:cNvPr id="185" name="Connector 184"/>
          <p:cNvCxnSpPr/>
          <p:nvPr/>
        </p:nvCxnSpPr>
        <p:spPr>
          <a:xfrm>
            <a:off x="6141720" y="1984248"/>
            <a:ext cx="2682240" cy="0"/>
          </a:xfrm>
          <a:prstGeom prst="line">
            <a:avLst/>
          </a:prstGeom>
          <a:ln w="19050">
            <a:solidFill>
              <a:srgbClr val="111111"/>
            </a:solidFill>
          </a:ln>
        </p:spPr>
        <p:style>
          <a:lnRef idx="2">
            <a:schemeClr val="accent1"/>
          </a:lnRef>
          <a:fillRef idx="0">
            <a:schemeClr val="accent1"/>
          </a:fillRef>
          <a:effectRef idx="1">
            <a:schemeClr val="accent1"/>
          </a:effectRef>
          <a:fontRef idx="minor">
            <a:schemeClr val="tx1"/>
          </a:fontRef>
        </p:style>
      </p:cxnSp>
      <p:pic>
        <p:nvPicPr>
          <p:cNvPr id="186" name="Picture 185" descr="l-globe-ink.png"/>
          <p:cNvPicPr>
            <a:picLocks noChangeAspect="1"/>
          </p:cNvPicPr>
          <p:nvPr/>
        </p:nvPicPr>
        <p:blipFill>
          <a:blip r:embed="rId10"/>
          <a:stretch>
            <a:fillRect/>
          </a:stretch>
        </p:blipFill>
        <p:spPr>
          <a:xfrm>
            <a:off x="6306312" y="1463040"/>
            <a:ext cx="365760" cy="365760"/>
          </a:xfrm>
          <a:prstGeom prst="rect">
            <a:avLst/>
          </a:prstGeom>
        </p:spPr>
      </p:pic>
      <p:sp>
        <p:nvSpPr>
          <p:cNvPr id="187" name="TextBox 186"/>
          <p:cNvSpPr txBox="1"/>
          <p:nvPr/>
        </p:nvSpPr>
        <p:spPr>
          <a:xfrm>
            <a:off x="6781800" y="1298448"/>
            <a:ext cx="1950720" cy="685800"/>
          </a:xfrm>
          <a:prstGeom prst="rect">
            <a:avLst/>
          </a:prstGeom>
          <a:noFill/>
        </p:spPr>
        <p:txBody>
          <a:bodyPr wrap="square" lIns="0" rIns="0" tIns="0" bIns="0" anchor="ctr">
            <a:noAutofit/>
          </a:bodyPr>
          <a:lstStyle/>
          <a:p>
            <a:pPr algn="l">
              <a:lnSpc>
                <a:spcPct val="100000"/>
              </a:lnSpc>
              <a:spcAft>
                <a:spcPts val="0"/>
              </a:spcAft>
            </a:pPr>
            <a:r>
              <a:rPr sz="1100" b="1">
                <a:solidFill>
                  <a:srgbClr val="111111"/>
                </a:solidFill>
                <a:latin typeface="Google Sans Flex"/>
              </a:rPr>
              <a:t>Final Product Link</a:t>
            </a:r>
          </a:p>
        </p:txBody>
      </p:sp>
      <p:pic>
        <p:nvPicPr>
          <p:cNvPr id="188" name="Picture 187" descr="QR code for https://shop-honest-ai.web.app"/>
          <p:cNvPicPr>
            <a:picLocks noChangeAspect="1"/>
          </p:cNvPicPr>
          <p:nvPr/>
        </p:nvPicPr>
        <p:blipFill>
          <a:blip r:embed="rId11"/>
          <a:stretch>
            <a:fillRect/>
          </a:stretch>
        </p:blipFill>
        <p:spPr>
          <a:xfrm>
            <a:off x="6705600" y="2176272"/>
            <a:ext cx="1554480" cy="1554480"/>
          </a:xfrm>
          <a:prstGeom prst="rect">
            <a:avLst/>
          </a:prstGeom>
        </p:spPr>
      </p:pic>
      <p:sp>
        <p:nvSpPr>
          <p:cNvPr id="189" name="TextBox 188"/>
          <p:cNvSpPr txBox="1"/>
          <p:nvPr/>
        </p:nvSpPr>
        <p:spPr>
          <a:xfrm>
            <a:off x="6251448" y="3840480"/>
            <a:ext cx="2462784" cy="411480"/>
          </a:xfrm>
          <a:prstGeom prst="rect">
            <a:avLst/>
          </a:prstGeom>
          <a:noFill/>
        </p:spPr>
        <p:txBody>
          <a:bodyPr wrap="square" lIns="0" rIns="0" tIns="0" bIns="0" anchor="ctr">
            <a:noAutofit/>
          </a:bodyPr>
          <a:lstStyle/>
          <a:p>
            <a:pPr algn="ctr">
              <a:lnSpc>
                <a:spcPct val="100000"/>
              </a:lnSpc>
              <a:spcAft>
                <a:spcPts val="0"/>
              </a:spcAft>
            </a:pPr>
            <a:r>
              <a:rPr sz="1000" b="0">
                <a:solidFill>
                  <a:srgbClr val="3B5BFF"/>
                </a:solidFill>
                <a:latin typeface="Google Sans Flex SemiBold"/>
                <a:hlinkClick r:id="rId12"/>
              </a:rPr>
              <a:t>shop-honest-ai.web.app</a:t>
            </a:r>
          </a:p>
        </p:txBody>
      </p:sp>
      <p:sp>
        <p:nvSpPr>
          <p:cNvPr id="190" name="TextBox 189"/>
          <p:cNvSpPr txBox="1"/>
          <p:nvPr/>
        </p:nvSpPr>
        <p:spPr>
          <a:xfrm>
            <a:off x="6251448" y="4297680"/>
            <a:ext cx="2462784" cy="274320"/>
          </a:xfrm>
          <a:prstGeom prst="rect">
            <a:avLst/>
          </a:prstGeom>
          <a:noFill/>
        </p:spPr>
        <p:txBody>
          <a:bodyPr wrap="square" lIns="0" rIns="0" tIns="0" bIns="0" anchor="t">
            <a:noAutofit/>
          </a:bodyPr>
          <a:lstStyle/>
          <a:p>
            <a:pPr algn="ctr">
              <a:lnSpc>
                <a:spcPct val="100000"/>
              </a:lnSpc>
              <a:spcAft>
                <a:spcPts val="0"/>
              </a:spcAft>
            </a:pPr>
            <a:r>
              <a:rPr sz="900" b="0">
                <a:solidFill>
                  <a:srgbClr val="5F6368"/>
                </a:solidFill>
                <a:latin typeface="Google Sans Flex Medium"/>
              </a:rPr>
              <a:t>Sample stores, live runs and real stores</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pic>
        <p:nvPicPr>
          <p:cNvPr id="164" name="Google Shape;164;p2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5" name="Google Shape;165;p2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6" name="Google Shape;166;p2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7" name="Google Shape;71;p1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Responsible by design</a:t>
            </a:r>
            <a:endParaRPr sz="1600">
              <a:latin typeface="Google Sans Flex Medium"/>
              <a:ea typeface="Google Sans Flex Medium"/>
              <a:cs typeface="Google Sans Flex Medium"/>
              <a:sym typeface="Google Sans Flex Medium"/>
            </a:endParaRPr>
          </a:p>
        </p:txBody>
      </p:sp>
      <p:sp>
        <p:nvSpPr>
          <p:cNvPr id="168" name="Rounded Rectangle 167"/>
          <p:cNvSpPr/>
          <p:nvPr/>
        </p:nvSpPr>
        <p:spPr>
          <a:xfrm>
            <a:off x="320040" y="1261872"/>
            <a:ext cx="4160520" cy="3017520"/>
          </a:xfrm>
          <a:prstGeom prst="roundRect">
            <a:avLst>
              <a:gd name="adj" fmla="val 4242"/>
            </a:avLst>
          </a:prstGeom>
          <a:solidFill>
            <a:srgbClr val="111111"/>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Box 168"/>
          <p:cNvSpPr txBox="1"/>
          <p:nvPr/>
        </p:nvSpPr>
        <p:spPr>
          <a:xfrm>
            <a:off x="5486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FFFFFF"/>
                </a:solidFill>
                <a:latin typeface="Google Sans Flex"/>
              </a:rPr>
              <a:t>The agent will </a:t>
            </a:r>
            <a:r>
              <a:rPr sz="1500" b="1">
                <a:solidFill>
                  <a:srgbClr val="FF5CA8"/>
                </a:solidFill>
                <a:latin typeface="Google Sans Flex"/>
              </a:rPr>
              <a:t>never</a:t>
            </a:r>
          </a:p>
        </p:txBody>
      </p:sp>
      <p:pic>
        <p:nvPicPr>
          <p:cNvPr id="170" name="Picture 169" descr="l-ban-white.png"/>
          <p:cNvPicPr>
            <a:picLocks noChangeAspect="1"/>
          </p:cNvPicPr>
          <p:nvPr/>
        </p:nvPicPr>
        <p:blipFill>
          <a:blip r:embed="rId5"/>
          <a:stretch>
            <a:fillRect/>
          </a:stretch>
        </p:blipFill>
        <p:spPr>
          <a:xfrm>
            <a:off x="576072" y="1865376"/>
            <a:ext cx="274320" cy="274320"/>
          </a:xfrm>
          <a:prstGeom prst="rect">
            <a:avLst/>
          </a:prstGeom>
        </p:spPr>
      </p:pic>
      <p:sp>
        <p:nvSpPr>
          <p:cNvPr id="171" name="TextBox 170"/>
          <p:cNvSpPr txBox="1"/>
          <p:nvPr/>
        </p:nvSpPr>
        <p:spPr>
          <a:xfrm>
            <a:off x="978407" y="18288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Pay, buy now or place an order</a:t>
            </a:r>
          </a:p>
        </p:txBody>
      </p:sp>
      <p:pic>
        <p:nvPicPr>
          <p:cNvPr id="172" name="Picture 171" descr="l-ban-white.png"/>
          <p:cNvPicPr>
            <a:picLocks noChangeAspect="1"/>
          </p:cNvPicPr>
          <p:nvPr/>
        </p:nvPicPr>
        <p:blipFill>
          <a:blip r:embed="rId5"/>
          <a:stretch>
            <a:fillRect/>
          </a:stretch>
        </p:blipFill>
        <p:spPr>
          <a:xfrm>
            <a:off x="576072" y="2322576"/>
            <a:ext cx="274320" cy="274320"/>
          </a:xfrm>
          <a:prstGeom prst="rect">
            <a:avLst/>
          </a:prstGeom>
        </p:spPr>
      </p:pic>
      <p:sp>
        <p:nvSpPr>
          <p:cNvPr id="173" name="TextBox 172"/>
          <p:cNvSpPr txBox="1"/>
          <p:nvPr/>
        </p:nvSpPr>
        <p:spPr>
          <a:xfrm>
            <a:off x="978407" y="22860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Sign in, register or subscribe</a:t>
            </a:r>
          </a:p>
        </p:txBody>
      </p:sp>
      <p:pic>
        <p:nvPicPr>
          <p:cNvPr id="174" name="Picture 173" descr="l-ban-white.png"/>
          <p:cNvPicPr>
            <a:picLocks noChangeAspect="1"/>
          </p:cNvPicPr>
          <p:nvPr/>
        </p:nvPicPr>
        <p:blipFill>
          <a:blip r:embed="rId5"/>
          <a:stretch>
            <a:fillRect/>
          </a:stretch>
        </p:blipFill>
        <p:spPr>
          <a:xfrm>
            <a:off x="576072" y="2779776"/>
            <a:ext cx="274320" cy="274320"/>
          </a:xfrm>
          <a:prstGeom prst="rect">
            <a:avLst/>
          </a:prstGeom>
        </p:spPr>
      </p:pic>
      <p:sp>
        <p:nvSpPr>
          <p:cNvPr id="175" name="TextBox 174"/>
          <p:cNvSpPr txBox="1"/>
          <p:nvPr/>
        </p:nvSpPr>
        <p:spPr>
          <a:xfrm>
            <a:off x="978407" y="27432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Type into any field</a:t>
            </a:r>
          </a:p>
        </p:txBody>
      </p:sp>
      <p:pic>
        <p:nvPicPr>
          <p:cNvPr id="176" name="Picture 175" descr="l-ban-white.png"/>
          <p:cNvPicPr>
            <a:picLocks noChangeAspect="1"/>
          </p:cNvPicPr>
          <p:nvPr/>
        </p:nvPicPr>
        <p:blipFill>
          <a:blip r:embed="rId5"/>
          <a:stretch>
            <a:fillRect/>
          </a:stretch>
        </p:blipFill>
        <p:spPr>
          <a:xfrm>
            <a:off x="576072" y="3236976"/>
            <a:ext cx="274320" cy="274320"/>
          </a:xfrm>
          <a:prstGeom prst="rect">
            <a:avLst/>
          </a:prstGeom>
        </p:spPr>
      </p:pic>
      <p:sp>
        <p:nvSpPr>
          <p:cNvPr id="177" name="TextBox 176"/>
          <p:cNvSpPr txBox="1"/>
          <p:nvPr/>
        </p:nvSpPr>
        <p:spPr>
          <a:xfrm>
            <a:off x="978407" y="32004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Accept cookies or terms (it declines or closes)</a:t>
            </a:r>
          </a:p>
        </p:txBody>
      </p:sp>
      <p:pic>
        <p:nvPicPr>
          <p:cNvPr id="178" name="Picture 177" descr="l-ban-white.png"/>
          <p:cNvPicPr>
            <a:picLocks noChangeAspect="1"/>
          </p:cNvPicPr>
          <p:nvPr/>
        </p:nvPicPr>
        <p:blipFill>
          <a:blip r:embed="rId5"/>
          <a:stretch>
            <a:fillRect/>
          </a:stretch>
        </p:blipFill>
        <p:spPr>
          <a:xfrm>
            <a:off x="576072" y="3694176"/>
            <a:ext cx="274320" cy="274320"/>
          </a:xfrm>
          <a:prstGeom prst="rect">
            <a:avLst/>
          </a:prstGeom>
        </p:spPr>
      </p:pic>
      <p:sp>
        <p:nvSpPr>
          <p:cNvPr id="179" name="TextBox 178"/>
          <p:cNvSpPr txBox="1"/>
          <p:nvPr/>
        </p:nvSpPr>
        <p:spPr>
          <a:xfrm>
            <a:off x="978407" y="3657600"/>
            <a:ext cx="3337560" cy="347472"/>
          </a:xfrm>
          <a:prstGeom prst="rect">
            <a:avLst/>
          </a:prstGeom>
          <a:noFill/>
        </p:spPr>
        <p:txBody>
          <a:bodyPr wrap="square" lIns="0" rIns="0" tIns="0" bIns="0" anchor="ctr">
            <a:noAutofit/>
          </a:bodyPr>
          <a:lstStyle/>
          <a:p>
            <a:pPr algn="l">
              <a:lnSpc>
                <a:spcPct val="100000"/>
              </a:lnSpc>
              <a:spcAft>
                <a:spcPts val="0"/>
              </a:spcAft>
            </a:pPr>
            <a:r>
              <a:rPr sz="1100" b="0">
                <a:solidFill>
                  <a:srgbClr val="FFFFFF"/>
                </a:solidFill>
                <a:latin typeface="Google Sans Flex Medium"/>
              </a:rPr>
              <a:t>Get around a CAPTCHA or bot protection</a:t>
            </a:r>
          </a:p>
        </p:txBody>
      </p:sp>
      <p:sp>
        <p:nvSpPr>
          <p:cNvPr id="180" name="Rounded Rectangle 179"/>
          <p:cNvSpPr/>
          <p:nvPr/>
        </p:nvSpPr>
        <p:spPr>
          <a:xfrm>
            <a:off x="4709160" y="1307592"/>
            <a:ext cx="4160520" cy="3017520"/>
          </a:xfrm>
          <a:prstGeom prst="roundRect">
            <a:avLst>
              <a:gd name="adj" fmla="val 4242"/>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1" name="Rounded Rectangle 180"/>
          <p:cNvSpPr/>
          <p:nvPr/>
        </p:nvSpPr>
        <p:spPr>
          <a:xfrm>
            <a:off x="4663440" y="1261872"/>
            <a:ext cx="4160520" cy="3017520"/>
          </a:xfrm>
          <a:prstGeom prst="roundRect">
            <a:avLst>
              <a:gd name="adj" fmla="val 4242"/>
            </a:avLst>
          </a:prstGeom>
          <a:solidFill>
            <a:srgbClr val="FFF8EC"/>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2" name="TextBox 181"/>
          <p:cNvSpPr txBox="1"/>
          <p:nvPr/>
        </p:nvSpPr>
        <p:spPr>
          <a:xfrm>
            <a:off x="4892040" y="1389888"/>
            <a:ext cx="3794760" cy="320040"/>
          </a:xfrm>
          <a:prstGeom prst="rect">
            <a:avLst/>
          </a:prstGeom>
          <a:noFill/>
        </p:spPr>
        <p:txBody>
          <a:bodyPr wrap="square" lIns="0" rIns="0" tIns="0" bIns="0" anchor="t">
            <a:noAutofit/>
          </a:bodyPr>
          <a:lstStyle/>
          <a:p>
            <a:pPr algn="l">
              <a:lnSpc>
                <a:spcPct val="100000"/>
              </a:lnSpc>
              <a:spcAft>
                <a:spcPts val="0"/>
              </a:spcAft>
            </a:pPr>
            <a:r>
              <a:rPr sz="1500" b="1">
                <a:solidFill>
                  <a:srgbClr val="111111"/>
                </a:solidFill>
                <a:latin typeface="Google Sans Flex"/>
              </a:rPr>
              <a:t>Findings stay honest</a:t>
            </a:r>
          </a:p>
        </p:txBody>
      </p:sp>
      <p:pic>
        <p:nvPicPr>
          <p:cNvPr id="183" name="Picture 182" descr="l-circle-check-ink.png"/>
          <p:cNvPicPr>
            <a:picLocks noChangeAspect="1"/>
          </p:cNvPicPr>
          <p:nvPr/>
        </p:nvPicPr>
        <p:blipFill>
          <a:blip r:embed="rId6"/>
          <a:stretch>
            <a:fillRect/>
          </a:stretch>
        </p:blipFill>
        <p:spPr>
          <a:xfrm>
            <a:off x="4919472" y="1865376"/>
            <a:ext cx="274320" cy="274320"/>
          </a:xfrm>
          <a:prstGeom prst="rect">
            <a:avLst/>
          </a:prstGeom>
        </p:spPr>
      </p:pic>
      <p:sp>
        <p:nvSpPr>
          <p:cNvPr id="184" name="TextBox 183"/>
          <p:cNvSpPr txBox="1"/>
          <p:nvPr/>
        </p:nvSpPr>
        <p:spPr>
          <a:xfrm>
            <a:off x="5321808" y="18288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Grounded: </a:t>
            </a:r>
            <a:r>
              <a:rPr sz="1000" b="0">
                <a:solidFill>
                  <a:srgbClr val="111111"/>
                </a:solidFill>
                <a:latin typeface="Google Sans Flex"/>
              </a:rPr>
              <a:t>every claim must cite an element measured on the page.</a:t>
            </a:r>
          </a:p>
        </p:txBody>
      </p:sp>
      <p:pic>
        <p:nvPicPr>
          <p:cNvPr id="185" name="Picture 184" descr="l-circle-check-ink.png"/>
          <p:cNvPicPr>
            <a:picLocks noChangeAspect="1"/>
          </p:cNvPicPr>
          <p:nvPr/>
        </p:nvPicPr>
        <p:blipFill>
          <a:blip r:embed="rId6"/>
          <a:stretch>
            <a:fillRect/>
          </a:stretch>
        </p:blipFill>
        <p:spPr>
          <a:xfrm>
            <a:off x="4919472" y="2322576"/>
            <a:ext cx="274320" cy="274320"/>
          </a:xfrm>
          <a:prstGeom prst="rect">
            <a:avLst/>
          </a:prstGeom>
        </p:spPr>
      </p:pic>
      <p:sp>
        <p:nvSpPr>
          <p:cNvPr id="186" name="TextBox 185"/>
          <p:cNvSpPr txBox="1"/>
          <p:nvPr/>
        </p:nvSpPr>
        <p:spPr>
          <a:xfrm>
            <a:off x="5321808" y="22860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Double-checked: </a:t>
            </a:r>
            <a:r>
              <a:rPr sz="1000" b="0">
                <a:solidFill>
                  <a:srgbClr val="111111"/>
                </a:solidFill>
                <a:latin typeface="Google Sans Flex"/>
              </a:rPr>
              <a:t>a second agent re-checks the evidence with tools.</a:t>
            </a:r>
          </a:p>
        </p:txBody>
      </p:sp>
      <p:pic>
        <p:nvPicPr>
          <p:cNvPr id="187" name="Picture 186" descr="l-circle-check-ink.png"/>
          <p:cNvPicPr>
            <a:picLocks noChangeAspect="1"/>
          </p:cNvPicPr>
          <p:nvPr/>
        </p:nvPicPr>
        <p:blipFill>
          <a:blip r:embed="rId6"/>
          <a:stretch>
            <a:fillRect/>
          </a:stretch>
        </p:blipFill>
        <p:spPr>
          <a:xfrm>
            <a:off x="4919472" y="2779776"/>
            <a:ext cx="274320" cy="274320"/>
          </a:xfrm>
          <a:prstGeom prst="rect">
            <a:avLst/>
          </a:prstGeom>
        </p:spPr>
      </p:pic>
      <p:sp>
        <p:nvSpPr>
          <p:cNvPr id="188" name="TextBox 187"/>
          <p:cNvSpPr txBox="1"/>
          <p:nvPr/>
        </p:nvSpPr>
        <p:spPr>
          <a:xfrm>
            <a:off x="5321808" y="27432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Unsure? Human review, </a:t>
            </a:r>
            <a:r>
              <a:rPr sz="1000" b="0">
                <a:solidFill>
                  <a:srgbClr val="111111"/>
                </a:solidFill>
                <a:latin typeface="Google Sans Flex"/>
              </a:rPr>
              <a:t>never asserted as fact.</a:t>
            </a:r>
          </a:p>
        </p:txBody>
      </p:sp>
      <p:pic>
        <p:nvPicPr>
          <p:cNvPr id="189" name="Picture 188" descr="l-circle-check-ink.png"/>
          <p:cNvPicPr>
            <a:picLocks noChangeAspect="1"/>
          </p:cNvPicPr>
          <p:nvPr/>
        </p:nvPicPr>
        <p:blipFill>
          <a:blip r:embed="rId6"/>
          <a:stretch>
            <a:fillRect/>
          </a:stretch>
        </p:blipFill>
        <p:spPr>
          <a:xfrm>
            <a:off x="4919472" y="3236976"/>
            <a:ext cx="274320" cy="274320"/>
          </a:xfrm>
          <a:prstGeom prst="rect">
            <a:avLst/>
          </a:prstGeom>
        </p:spPr>
      </p:pic>
      <p:sp>
        <p:nvSpPr>
          <p:cNvPr id="190" name="TextBox 189"/>
          <p:cNvSpPr txBox="1"/>
          <p:nvPr/>
        </p:nvSpPr>
        <p:spPr>
          <a:xfrm>
            <a:off x="5321808" y="32004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Real stores: </a:t>
            </a:r>
            <a:r>
              <a:rPr sz="1000" b="0">
                <a:solidFill>
                  <a:srgbClr val="111111"/>
                </a:solidFill>
                <a:latin typeface="Google Sans Flex"/>
              </a:rPr>
              <a:t>layout-based findings go to review; reports say "not a legal finding".</a:t>
            </a:r>
          </a:p>
        </p:txBody>
      </p:sp>
      <p:pic>
        <p:nvPicPr>
          <p:cNvPr id="191" name="Picture 190" descr="l-circle-check-ink.png"/>
          <p:cNvPicPr>
            <a:picLocks noChangeAspect="1"/>
          </p:cNvPicPr>
          <p:nvPr/>
        </p:nvPicPr>
        <p:blipFill>
          <a:blip r:embed="rId6"/>
          <a:stretch>
            <a:fillRect/>
          </a:stretch>
        </p:blipFill>
        <p:spPr>
          <a:xfrm>
            <a:off x="4919472" y="3694176"/>
            <a:ext cx="274320" cy="274320"/>
          </a:xfrm>
          <a:prstGeom prst="rect">
            <a:avLst/>
          </a:prstGeom>
        </p:spPr>
      </p:pic>
      <p:sp>
        <p:nvSpPr>
          <p:cNvPr id="192" name="TextBox 191"/>
          <p:cNvSpPr txBox="1"/>
          <p:nvPr/>
        </p:nvSpPr>
        <p:spPr>
          <a:xfrm>
            <a:off x="5321808" y="3657600"/>
            <a:ext cx="3337560" cy="384048"/>
          </a:xfrm>
          <a:prstGeom prst="rect">
            <a:avLst/>
          </a:prstGeom>
          <a:noFill/>
        </p:spPr>
        <p:txBody>
          <a:bodyPr wrap="square" lIns="0" rIns="0" tIns="0" bIns="0" anchor="ctr">
            <a:noAutofit/>
          </a:bodyPr>
          <a:lstStyle/>
          <a:p>
            <a:pPr algn="l">
              <a:lnSpc>
                <a:spcPct val="100000"/>
              </a:lnSpc>
              <a:spcAft>
                <a:spcPts val="0"/>
              </a:spcAft>
            </a:pPr>
            <a:r>
              <a:rPr sz="1000" b="1">
                <a:solidFill>
                  <a:srgbClr val="111111"/>
                </a:solidFill>
                <a:latin typeface="Google Sans Flex"/>
              </a:rPr>
              <a:t>Partial audits </a:t>
            </a:r>
            <a:r>
              <a:rPr sz="1000" b="0">
                <a:solidFill>
                  <a:srgbClr val="111111"/>
                </a:solidFill>
                <a:latin typeface="Google Sans Flex"/>
              </a:rPr>
              <a:t>say exactly which steps weren't seen.</a:t>
            </a:r>
          </a:p>
        </p:txBody>
      </p:sp>
      <p:sp>
        <p:nvSpPr>
          <p:cNvPr id="193" name="Rounded Rectangle 192"/>
          <p:cNvSpPr/>
          <p:nvPr/>
        </p:nvSpPr>
        <p:spPr>
          <a:xfrm>
            <a:off x="356615" y="4462272"/>
            <a:ext cx="8503920" cy="384048"/>
          </a:xfrm>
          <a:prstGeom prst="roundRect">
            <a:avLst>
              <a:gd name="adj" fmla="val 23809"/>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320040" y="4425696"/>
            <a:ext cx="8503920" cy="384048"/>
          </a:xfrm>
          <a:prstGeom prst="roundRect">
            <a:avLst>
              <a:gd name="adj" fmla="val 23809"/>
            </a:avLst>
          </a:prstGeom>
          <a:solidFill>
            <a:srgbClr val="C6F432"/>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TextBox 194"/>
          <p:cNvSpPr txBox="1"/>
          <p:nvPr/>
        </p:nvSpPr>
        <p:spPr>
          <a:xfrm>
            <a:off x="502920" y="4425696"/>
            <a:ext cx="8138160" cy="384048"/>
          </a:xfrm>
          <a:prstGeom prst="rect">
            <a:avLst/>
          </a:prstGeom>
          <a:noFill/>
        </p:spPr>
        <p:txBody>
          <a:bodyPr wrap="square" lIns="0" rIns="0" tIns="0" bIns="0" anchor="ctr">
            <a:noAutofit/>
          </a:bodyPr>
          <a:lstStyle/>
          <a:p>
            <a:pPr algn="ctr">
              <a:lnSpc>
                <a:spcPct val="100000"/>
              </a:lnSpc>
              <a:spcAft>
                <a:spcPts val="0"/>
              </a:spcAft>
            </a:pPr>
            <a:r>
              <a:rPr sz="1000" b="1">
                <a:solidFill>
                  <a:srgbClr val="111111"/>
                </a:solidFill>
                <a:latin typeface="Google Sans Flex"/>
              </a:rPr>
              <a:t>Guardrails:  </a:t>
            </a:r>
            <a:r>
              <a:rPr sz="1000" b="0">
                <a:solidFill>
                  <a:srgbClr val="111111"/>
                </a:solidFill>
                <a:latin typeface="Google Sans Flex"/>
              </a:rPr>
              <a:t>SSRF guard  ·  ad networks blocked  ·  per-audit budgets  ·  daily cap  ·  Fix it runs only on a copy, in our own browser</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
        <p:nvSpPr>
          <p:cNvPr id="300" name="Closing line"/>
          <p:cNvSpPr txBox="1"/>
          <p:nvPr/>
        </p:nvSpPr>
        <p:spPr>
          <a:xfrm>
            <a:off x="4754880" y="2148840"/>
            <a:ext cx="4114800" cy="777240"/>
          </a:xfrm>
          <a:prstGeom prst="rect">
            <a:avLst/>
          </a:prstGeom>
          <a:noFill/>
        </p:spPr>
        <p:txBody>
          <a:bodyPr wrap="square" lIns="0" tIns="0" rIns="0" bIns="0">
            <a:noAutofit/>
          </a:bodyPr>
          <a:lstStyle/>
          <a:p>
            <a:pPr algn="l">
              <a:spcAft>
                <a:spcPts val="600"/>
              </a:spcAft>
            </a:pPr>
            <a:r>
              <a:rPr sz="1300" b="1">
                <a:solidFill>
                  <a:srgbClr val="C6F432"/>
                </a:solidFill>
                <a:latin typeface="Google Sans Flex"/>
              </a:rPr>
              <a:t>Found, fixed and proven, before it costs you a CCPA fine.</a:t>
            </a:r>
          </a:p>
          <a:p>
            <a:pPr algn="l">
              <a:spcAft>
                <a:spcPts val="600"/>
              </a:spcAft>
            </a:pPr>
            <a:r>
              <a:rPr sz="1150" b="1">
                <a:solidFill>
                  <a:srgbClr val="FFFFFF"/>
                </a:solidFill>
                <a:latin typeface="Google Sans Flex"/>
              </a:rPr>
              <a:t>shop-honest-ai.web.app</a:t>
            </a:r>
          </a:p>
          <a:p>
            <a:pPr algn="l">
              <a:spcAft>
                <a:spcPts val="0"/>
              </a:spcAft>
            </a:pPr>
            <a:r>
              <a:rPr sz="1050" b="0">
                <a:solidFill>
                  <a:srgbClr val="D9D9D9"/>
                </a:solidFill>
                <a:latin typeface="Google Sans Flex"/>
              </a:rPr>
              <a:t>Team Zero Context · Saubhagya Ashish · Suvojit Konar</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 Fix it</a:t>
            </a:r>
            <a:endParaRPr sz="1600">
              <a:latin typeface="Google Sans Flex Medium"/>
              <a:ea typeface="Google Sans Flex Medium"/>
              <a:cs typeface="Google Sans Flex Medium"/>
              <a:sym typeface="Google Sans Flex Medium"/>
            </a:endParaRPr>
          </a:p>
        </p:txBody>
      </p:sp>
      <p:sp>
        <p:nvSpPr>
          <p:cNvPr id="136" name="Rectangle 135"/>
          <p:cNvSpPr/>
          <p:nvPr/>
        </p:nvSpPr>
        <p:spPr>
          <a:xfrm>
            <a:off x="431122" y="1289304"/>
            <a:ext cx="2249578" cy="3380000"/>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7" name="Picture 136" descr="Fix it: what each fix is worth, projected"/>
          <p:cNvPicPr>
            <a:picLocks noChangeAspect="1"/>
          </p:cNvPicPr>
          <p:nvPr/>
        </p:nvPicPr>
        <p:blipFill>
          <a:blip r:embed="rId5"/>
          <a:stretch>
            <a:fillRect/>
          </a:stretch>
        </p:blipFill>
        <p:spPr>
          <a:xfrm>
            <a:off x="385402" y="1243584"/>
            <a:ext cx="2249578" cy="3380000"/>
          </a:xfrm>
          <a:prstGeom prst="rect">
            <a:avLst/>
          </a:prstGeom>
          <a:ln w="19050">
            <a:solidFill>
              <a:srgbClr val="111111"/>
            </a:solidFill>
          </a:ln>
        </p:spPr>
      </p:pic>
      <p:sp>
        <p:nvSpPr>
          <p:cNvPr id="138" name="Rounded Rectangle 137"/>
          <p:cNvSpPr/>
          <p:nvPr/>
        </p:nvSpPr>
        <p:spPr>
          <a:xfrm>
            <a:off x="312250" y="4393584"/>
            <a:ext cx="2399578" cy="274320"/>
          </a:xfrm>
          <a:prstGeom prst="roundRect">
            <a:avLst>
              <a:gd name="adj" fmla="val 50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Fix it: what each fix is worth, projected</a:t>
            </a:r>
          </a:p>
        </p:txBody>
      </p:sp>
      <p:sp>
        <p:nvSpPr>
          <p:cNvPr id="139" name="Rectangle 138"/>
          <p:cNvSpPr/>
          <p:nvPr/>
        </p:nvSpPr>
        <p:spPr>
          <a:xfrm>
            <a:off x="3010700" y="1289304"/>
            <a:ext cx="5793020" cy="3223535"/>
          </a:xfrm>
          <a:prstGeom prst="rect">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0" name="Picture 139" descr="Verified on a copy: 9 of 9 fixes verified, ₹1,894 → ₹1,596"/>
          <p:cNvPicPr>
            <a:picLocks noChangeAspect="1"/>
          </p:cNvPicPr>
          <p:nvPr/>
        </p:nvPicPr>
        <p:blipFill>
          <a:blip r:embed="rId6"/>
          <a:stretch>
            <a:fillRect/>
          </a:stretch>
        </p:blipFill>
        <p:spPr>
          <a:xfrm>
            <a:off x="2964980" y="1243584"/>
            <a:ext cx="5793020" cy="3223535"/>
          </a:xfrm>
          <a:prstGeom prst="rect">
            <a:avLst/>
          </a:prstGeom>
          <a:ln w="19050">
            <a:solidFill>
              <a:srgbClr val="111111"/>
            </a:solidFill>
          </a:ln>
        </p:spPr>
      </p:pic>
      <p:sp>
        <p:nvSpPr>
          <p:cNvPr id="141" name="Rounded Rectangle 140"/>
          <p:cNvSpPr/>
          <p:nvPr/>
        </p:nvSpPr>
        <p:spPr>
          <a:xfrm>
            <a:off x="2891980" y="4327119"/>
            <a:ext cx="3300000" cy="274320"/>
          </a:xfrm>
          <a:prstGeom prst="roundRect">
            <a:avLst>
              <a:gd name="adj" fmla="val 50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950" b="1">
                <a:solidFill>
                  <a:srgbClr val="111111"/>
                </a:solidFill>
                <a:latin typeface="Google Sans Flex"/>
              </a:rPr>
              <a:t>Verified on a copy: 9 of 9 gone, ₹1,894 → ₹1,596</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Tested on the real platforms: 6 of the 26 self-declared</a:t>
            </a:r>
            <a:endParaRPr sz="1600">
              <a:latin typeface="Google Sans Flex Medium"/>
              <a:ea typeface="Google Sans Flex Medium"/>
              <a:cs typeface="Google Sans Flex Medium"/>
              <a:sym typeface="Google Sans Flex Medium"/>
            </a:endParaRPr>
          </a:p>
        </p:txBody>
      </p:sp>
      <p:sp>
        <p:nvSpPr>
          <p:cNvPr id="152" name="Rounded Rectangle 151"/>
          <p:cNvSpPr/>
          <p:nvPr/>
        </p:nvSpPr>
        <p:spPr>
          <a:xfrm>
            <a:off x="365759"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Rounded Rectangle 152"/>
          <p:cNvSpPr/>
          <p:nvPr/>
        </p:nvSpPr>
        <p:spPr>
          <a:xfrm>
            <a:off x="320040"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Rounded Rectangle 153"/>
          <p:cNvSpPr/>
          <p:nvPr/>
        </p:nvSpPr>
        <p:spPr>
          <a:xfrm>
            <a:off x="493776"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Rounded Rectangle 154"/>
          <p:cNvSpPr/>
          <p:nvPr/>
        </p:nvSpPr>
        <p:spPr>
          <a:xfrm>
            <a:off x="466344" y="1435607"/>
            <a:ext cx="475488" cy="475488"/>
          </a:xfrm>
          <a:prstGeom prst="roundRect">
            <a:avLst>
              <a:gd name="adj" fmla="val 24000"/>
            </a:avLst>
          </a:prstGeom>
          <a:solidFill>
            <a:srgbClr val="C6F432"/>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6" name="Picture 155" descr="l-list-checks-ink.png"/>
          <p:cNvPicPr>
            <a:picLocks noChangeAspect="1"/>
          </p:cNvPicPr>
          <p:nvPr/>
        </p:nvPicPr>
        <p:blipFill>
          <a:blip r:embed="rId5"/>
          <a:stretch>
            <a:fillRect/>
          </a:stretch>
        </p:blipFill>
        <p:spPr>
          <a:xfrm>
            <a:off x="561441" y="1530705"/>
            <a:ext cx="285292" cy="285292"/>
          </a:xfrm>
          <a:prstGeom prst="rect">
            <a:avLst/>
          </a:prstGeom>
        </p:spPr>
      </p:pic>
      <p:sp>
        <p:nvSpPr>
          <p:cNvPr id="157" name="Rounded Rectangle 156"/>
          <p:cNvSpPr/>
          <p:nvPr/>
        </p:nvSpPr>
        <p:spPr>
          <a:xfrm>
            <a:off x="2071720"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CART</a:t>
            </a:r>
          </a:p>
        </p:txBody>
      </p:sp>
      <p:sp>
        <p:nvSpPr>
          <p:cNvPr id="158" name="TextBox 157"/>
          <p:cNvSpPr txBox="1"/>
          <p:nvPr/>
        </p:nvSpPr>
        <p:spPr>
          <a:xfrm>
            <a:off x="466344"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Tata 1mg</a:t>
            </a:r>
          </a:p>
        </p:txBody>
      </p:sp>
      <p:sp>
        <p:nvSpPr>
          <p:cNvPr id="159" name="TextBox 158"/>
          <p:cNvSpPr txBox="1"/>
          <p:nvPr/>
        </p:nvSpPr>
        <p:spPr>
          <a:xfrm>
            <a:off x="466344"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Reached the cart, then its sign-in popup. A ₹12 handling charge first shown in the cart: sent for review.</a:t>
            </a:r>
          </a:p>
        </p:txBody>
      </p:sp>
      <p:sp>
        <p:nvSpPr>
          <p:cNvPr id="160" name="Rounded Rectangle 159"/>
          <p:cNvSpPr/>
          <p:nvPr/>
        </p:nvSpPr>
        <p:spPr>
          <a:xfrm>
            <a:off x="3255264"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Rounded Rectangle 160"/>
          <p:cNvSpPr/>
          <p:nvPr/>
        </p:nvSpPr>
        <p:spPr>
          <a:xfrm>
            <a:off x="3209544"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Rounded Rectangle 161"/>
          <p:cNvSpPr/>
          <p:nvPr/>
        </p:nvSpPr>
        <p:spPr>
          <a:xfrm>
            <a:off x="3383280"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Rounded Rectangle 162"/>
          <p:cNvSpPr/>
          <p:nvPr/>
        </p:nvSpPr>
        <p:spPr>
          <a:xfrm>
            <a:off x="3355848" y="1435607"/>
            <a:ext cx="475488" cy="475488"/>
          </a:xfrm>
          <a:prstGeom prst="roundRect">
            <a:avLst>
              <a:gd name="adj" fmla="val 24000"/>
            </a:avLst>
          </a:prstGeom>
          <a:solidFill>
            <a:srgbClr val="FFD23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4" name="Picture 163" descr="l-log-in-ink.png"/>
          <p:cNvPicPr>
            <a:picLocks noChangeAspect="1"/>
          </p:cNvPicPr>
          <p:nvPr/>
        </p:nvPicPr>
        <p:blipFill>
          <a:blip r:embed="rId6"/>
          <a:stretch>
            <a:fillRect/>
          </a:stretch>
        </p:blipFill>
        <p:spPr>
          <a:xfrm>
            <a:off x="3450945" y="1530705"/>
            <a:ext cx="285292" cy="285292"/>
          </a:xfrm>
          <a:prstGeom prst="rect">
            <a:avLst/>
          </a:prstGeom>
        </p:spPr>
      </p:pic>
      <p:sp>
        <p:nvSpPr>
          <p:cNvPr id="165" name="Rounded Rectangle 164"/>
          <p:cNvSpPr/>
          <p:nvPr/>
        </p:nvSpPr>
        <p:spPr>
          <a:xfrm>
            <a:off x="4961224"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CART</a:t>
            </a:r>
          </a:p>
        </p:txBody>
      </p:sp>
      <p:sp>
        <p:nvSpPr>
          <p:cNvPr id="166" name="TextBox 165"/>
          <p:cNvSpPr txBox="1"/>
          <p:nvPr/>
        </p:nvSpPr>
        <p:spPr>
          <a:xfrm>
            <a:off x="3355848"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Flipkart</a:t>
            </a:r>
          </a:p>
        </p:txBody>
      </p:sp>
      <p:sp>
        <p:nvSpPr>
          <p:cNvPr id="167" name="TextBox 166"/>
          <p:cNvSpPr txBox="1"/>
          <p:nvPr/>
        </p:nvSpPr>
        <p:spPr>
          <a:xfrm>
            <a:off x="3355848"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Reached the cart: a ₹10 platform fee the product page didn't show, sent for review. Later visits got an error page.</a:t>
            </a:r>
          </a:p>
        </p:txBody>
      </p:sp>
      <p:sp>
        <p:nvSpPr>
          <p:cNvPr id="168" name="Rounded Rectangle 167"/>
          <p:cNvSpPr/>
          <p:nvPr/>
        </p:nvSpPr>
        <p:spPr>
          <a:xfrm>
            <a:off x="6144768" y="1325880"/>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Rounded Rectangle 168"/>
          <p:cNvSpPr/>
          <p:nvPr/>
        </p:nvSpPr>
        <p:spPr>
          <a:xfrm>
            <a:off x="6099048" y="1280160"/>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Rounded Rectangle 169"/>
          <p:cNvSpPr/>
          <p:nvPr/>
        </p:nvSpPr>
        <p:spPr>
          <a:xfrm>
            <a:off x="6272784" y="1463039"/>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Rounded Rectangle 170"/>
          <p:cNvSpPr/>
          <p:nvPr/>
        </p:nvSpPr>
        <p:spPr>
          <a:xfrm>
            <a:off x="6245352" y="1435607"/>
            <a:ext cx="475488" cy="475488"/>
          </a:xfrm>
          <a:prstGeom prst="roundRect">
            <a:avLst>
              <a:gd name="adj" fmla="val 24000"/>
            </a:avLst>
          </a:prstGeom>
          <a:solidFill>
            <a:srgbClr val="C4B5FD"/>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2" name="Picture 171" descr="l-calendar-clock-ink.png"/>
          <p:cNvPicPr>
            <a:picLocks noChangeAspect="1"/>
          </p:cNvPicPr>
          <p:nvPr/>
        </p:nvPicPr>
        <p:blipFill>
          <a:blip r:embed="rId7"/>
          <a:stretch>
            <a:fillRect/>
          </a:stretch>
        </p:blipFill>
        <p:spPr>
          <a:xfrm>
            <a:off x="6340449" y="1530705"/>
            <a:ext cx="285292" cy="285292"/>
          </a:xfrm>
          <a:prstGeom prst="rect">
            <a:avLst/>
          </a:prstGeom>
        </p:spPr>
      </p:pic>
      <p:sp>
        <p:nvSpPr>
          <p:cNvPr id="173" name="Rounded Rectangle 172"/>
          <p:cNvSpPr/>
          <p:nvPr/>
        </p:nvSpPr>
        <p:spPr>
          <a:xfrm>
            <a:off x="7850728" y="1463039"/>
            <a:ext cx="826928" cy="219456"/>
          </a:xfrm>
          <a:prstGeom prst="roundRect">
            <a:avLst>
              <a:gd name="adj" fmla="val 50000"/>
            </a:avLst>
          </a:prstGeom>
          <a:solidFill>
            <a:srgbClr val="111111"/>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FFFFFF"/>
                </a:solidFill>
                <a:latin typeface="Google Sans Flex"/>
              </a:rPr>
              <a:t>SOLD OUT</a:t>
            </a:r>
          </a:p>
        </p:txBody>
      </p:sp>
      <p:sp>
        <p:nvSpPr>
          <p:cNvPr id="174" name="TextBox 173"/>
          <p:cNvSpPr txBox="1"/>
          <p:nvPr/>
        </p:nvSpPr>
        <p:spPr>
          <a:xfrm>
            <a:off x="6245352" y="2029967"/>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Blinkit</a:t>
            </a:r>
          </a:p>
        </p:txBody>
      </p:sp>
      <p:sp>
        <p:nvSpPr>
          <p:cNvPr id="175" name="TextBox 174"/>
          <p:cNvSpPr txBox="1"/>
          <p:nvPr/>
        </p:nvSpPr>
        <p:spPr>
          <a:xfrm>
            <a:off x="6245352" y="2322576"/>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The product was out of stock, so the agent stopped instead of adding a similar one.</a:t>
            </a:r>
          </a:p>
        </p:txBody>
      </p:sp>
      <p:sp>
        <p:nvSpPr>
          <p:cNvPr id="176" name="Rounded Rectangle 175"/>
          <p:cNvSpPr/>
          <p:nvPr/>
        </p:nvSpPr>
        <p:spPr>
          <a:xfrm>
            <a:off x="365759"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Rounded Rectangle 176"/>
          <p:cNvSpPr/>
          <p:nvPr/>
        </p:nvSpPr>
        <p:spPr>
          <a:xfrm>
            <a:off x="320040"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Rounded Rectangle 177"/>
          <p:cNvSpPr/>
          <p:nvPr/>
        </p:nvSpPr>
        <p:spPr>
          <a:xfrm>
            <a:off x="493776"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9" name="Rounded Rectangle 178"/>
          <p:cNvSpPr/>
          <p:nvPr/>
        </p:nvSpPr>
        <p:spPr>
          <a:xfrm>
            <a:off x="466344" y="3246120"/>
            <a:ext cx="475488" cy="475488"/>
          </a:xfrm>
          <a:prstGeom prst="roundRect">
            <a:avLst>
              <a:gd name="adj" fmla="val 24000"/>
            </a:avLst>
          </a:prstGeom>
          <a:solidFill>
            <a:srgbClr val="FF5CA8"/>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0" name="Picture 179" descr="l-puzzle-ink.png"/>
          <p:cNvPicPr>
            <a:picLocks noChangeAspect="1"/>
          </p:cNvPicPr>
          <p:nvPr/>
        </p:nvPicPr>
        <p:blipFill>
          <a:blip r:embed="rId8"/>
          <a:stretch>
            <a:fillRect/>
          </a:stretch>
        </p:blipFill>
        <p:spPr>
          <a:xfrm>
            <a:off x="561441" y="3341217"/>
            <a:ext cx="285292" cy="285292"/>
          </a:xfrm>
          <a:prstGeom prst="rect">
            <a:avLst/>
          </a:prstGeom>
        </p:spPr>
      </p:pic>
      <p:sp>
        <p:nvSpPr>
          <p:cNvPr id="181" name="Rounded Rectangle 180"/>
          <p:cNvSpPr/>
          <p:nvPr/>
        </p:nvSpPr>
        <p:spPr>
          <a:xfrm>
            <a:off x="2071720"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EMPTY</a:t>
            </a:r>
          </a:p>
        </p:txBody>
      </p:sp>
      <p:sp>
        <p:nvSpPr>
          <p:cNvPr id="182" name="TextBox 181"/>
          <p:cNvSpPr txBox="1"/>
          <p:nvPr/>
        </p:nvSpPr>
        <p:spPr>
          <a:xfrm>
            <a:off x="466344"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Zepto</a:t>
            </a:r>
          </a:p>
        </p:txBody>
      </p:sp>
      <p:sp>
        <p:nvSpPr>
          <p:cNvPr id="183" name="TextBox 182"/>
          <p:cNvSpPr txBox="1"/>
          <p:nvPr/>
        </p:nvSpPr>
        <p:spPr>
          <a:xfrm>
            <a:off x="466344"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Fined by the CCPA in Aug 2026. Served our browser an empty page: reported as not checked, never as clean.</a:t>
            </a:r>
          </a:p>
        </p:txBody>
      </p:sp>
      <p:sp>
        <p:nvSpPr>
          <p:cNvPr id="184" name="Rounded Rectangle 183"/>
          <p:cNvSpPr/>
          <p:nvPr/>
        </p:nvSpPr>
        <p:spPr>
          <a:xfrm>
            <a:off x="3255264"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5" name="Rounded Rectangle 184"/>
          <p:cNvSpPr/>
          <p:nvPr/>
        </p:nvSpPr>
        <p:spPr>
          <a:xfrm>
            <a:off x="3209544"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Rounded Rectangle 185"/>
          <p:cNvSpPr/>
          <p:nvPr/>
        </p:nvSpPr>
        <p:spPr>
          <a:xfrm>
            <a:off x="3383280"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7" name="Rounded Rectangle 186"/>
          <p:cNvSpPr/>
          <p:nvPr/>
        </p:nvSpPr>
        <p:spPr>
          <a:xfrm>
            <a:off x="3355848" y="3246120"/>
            <a:ext cx="475488" cy="475488"/>
          </a:xfrm>
          <a:prstGeom prst="roundRect">
            <a:avLst>
              <a:gd name="adj" fmla="val 24000"/>
            </a:avLst>
          </a:prstGeom>
          <a:solidFill>
            <a:srgbClr val="4ADE9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8" name="Picture 187" descr="l-layout-dashboard-ink.png"/>
          <p:cNvPicPr>
            <a:picLocks noChangeAspect="1"/>
          </p:cNvPicPr>
          <p:nvPr/>
        </p:nvPicPr>
        <p:blipFill>
          <a:blip r:embed="rId9"/>
          <a:stretch>
            <a:fillRect/>
          </a:stretch>
        </p:blipFill>
        <p:spPr>
          <a:xfrm>
            <a:off x="3450945" y="3341217"/>
            <a:ext cx="285292" cy="285292"/>
          </a:xfrm>
          <a:prstGeom prst="rect">
            <a:avLst/>
          </a:prstGeom>
        </p:spPr>
      </p:pic>
      <p:sp>
        <p:nvSpPr>
          <p:cNvPr id="189" name="Rounded Rectangle 188"/>
          <p:cNvSpPr/>
          <p:nvPr/>
        </p:nvSpPr>
        <p:spPr>
          <a:xfrm>
            <a:off x="4961224"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REFUSED</a:t>
            </a:r>
          </a:p>
        </p:txBody>
      </p:sp>
      <p:sp>
        <p:nvSpPr>
          <p:cNvPr id="190" name="TextBox 189"/>
          <p:cNvSpPr txBox="1"/>
          <p:nvPr/>
        </p:nvSpPr>
        <p:spPr>
          <a:xfrm>
            <a:off x="3355848"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Myntra</a:t>
            </a:r>
          </a:p>
        </p:txBody>
      </p:sp>
      <p:sp>
        <p:nvSpPr>
          <p:cNvPr id="191" name="TextBox 190"/>
          <p:cNvSpPr txBox="1"/>
          <p:nvPr/>
        </p:nvSpPr>
        <p:spPr>
          <a:xfrm>
            <a:off x="3355848"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Refused the connection from an automated browser. Reported as such; the agent never gets around it.</a:t>
            </a:r>
          </a:p>
        </p:txBody>
      </p:sp>
      <p:sp>
        <p:nvSpPr>
          <p:cNvPr id="192" name="Rounded Rectangle 191"/>
          <p:cNvSpPr/>
          <p:nvPr/>
        </p:nvSpPr>
        <p:spPr>
          <a:xfrm>
            <a:off x="6144768" y="3136391"/>
            <a:ext cx="2724912" cy="1664208"/>
          </a:xfrm>
          <a:prstGeom prst="roundRect">
            <a:avLst>
              <a:gd name="adj" fmla="val 6593"/>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3" name="Rounded Rectangle 192"/>
          <p:cNvSpPr/>
          <p:nvPr/>
        </p:nvSpPr>
        <p:spPr>
          <a:xfrm>
            <a:off x="6099048" y="3090672"/>
            <a:ext cx="2724912" cy="1664208"/>
          </a:xfrm>
          <a:prstGeom prst="roundRect">
            <a:avLst>
              <a:gd name="adj" fmla="val 6593"/>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Rounded Rectangle 193"/>
          <p:cNvSpPr/>
          <p:nvPr/>
        </p:nvSpPr>
        <p:spPr>
          <a:xfrm>
            <a:off x="6272784" y="3273551"/>
            <a:ext cx="475488" cy="475488"/>
          </a:xfrm>
          <a:prstGeom prst="roundRect">
            <a:avLst>
              <a:gd name="adj" fmla="val 24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5" name="Rounded Rectangle 194"/>
          <p:cNvSpPr/>
          <p:nvPr/>
        </p:nvSpPr>
        <p:spPr>
          <a:xfrm>
            <a:off x="6245352" y="3246120"/>
            <a:ext cx="475488" cy="475488"/>
          </a:xfrm>
          <a:prstGeom prst="roundRect">
            <a:avLst>
              <a:gd name="adj" fmla="val 24000"/>
            </a:avLst>
          </a:prstGeom>
          <a:solidFill>
            <a:srgbClr val="FFB38A"/>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6" name="Picture 195" descr="l-languages-ink.png"/>
          <p:cNvPicPr>
            <a:picLocks noChangeAspect="1"/>
          </p:cNvPicPr>
          <p:nvPr/>
        </p:nvPicPr>
        <p:blipFill>
          <a:blip r:embed="rId10"/>
          <a:stretch>
            <a:fillRect/>
          </a:stretch>
        </p:blipFill>
        <p:spPr>
          <a:xfrm>
            <a:off x="6340449" y="3341217"/>
            <a:ext cx="285292" cy="285292"/>
          </a:xfrm>
          <a:prstGeom prst="rect">
            <a:avLst/>
          </a:prstGeom>
        </p:spPr>
      </p:pic>
      <p:sp>
        <p:nvSpPr>
          <p:cNvPr id="197" name="Rounded Rectangle 196"/>
          <p:cNvSpPr/>
          <p:nvPr/>
        </p:nvSpPr>
        <p:spPr>
          <a:xfrm>
            <a:off x="7850728" y="3273552"/>
            <a:ext cx="826928" cy="219456"/>
          </a:xfrm>
          <a:prstGeom prst="roundRect">
            <a:avLst>
              <a:gd name="adj" fmla="val 50000"/>
            </a:avLst>
          </a:prstGeom>
          <a:solidFill>
            <a:srgbClr val="FFFFFF"/>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r>
              <a:rPr sz="800" b="1">
                <a:solidFill>
                  <a:srgbClr val="111111"/>
                </a:solidFill>
                <a:latin typeface="Google Sans Flex"/>
              </a:rPr>
              <a:t>BOT WALL</a:t>
            </a:r>
          </a:p>
        </p:txBody>
      </p:sp>
      <p:sp>
        <p:nvSpPr>
          <p:cNvPr id="198" name="TextBox 197"/>
          <p:cNvSpPr txBox="1"/>
          <p:nvPr/>
        </p:nvSpPr>
        <p:spPr>
          <a:xfrm>
            <a:off x="6245352" y="3840480"/>
            <a:ext cx="2450592" cy="274320"/>
          </a:xfrm>
          <a:prstGeom prst="rect">
            <a:avLst/>
          </a:prstGeom>
          <a:noFill/>
        </p:spPr>
        <p:txBody>
          <a:bodyPr wrap="square" lIns="0" rIns="0" tIns="0" bIns="0" anchor="t">
            <a:noAutofit/>
          </a:bodyPr>
          <a:lstStyle/>
          <a:p>
            <a:pPr algn="l">
              <a:lnSpc>
                <a:spcPct val="100000"/>
              </a:lnSpc>
              <a:spcAft>
                <a:spcPts val="0"/>
              </a:spcAft>
            </a:pPr>
            <a:r>
              <a:rPr sz="1200" b="1">
                <a:solidFill>
                  <a:srgbClr val="111111"/>
                </a:solidFill>
                <a:latin typeface="Google Sans Flex"/>
              </a:rPr>
              <a:t>Meesho</a:t>
            </a:r>
          </a:p>
        </p:txBody>
      </p:sp>
      <p:sp>
        <p:nvSpPr>
          <p:cNvPr id="199" name="TextBox 198"/>
          <p:cNvSpPr txBox="1"/>
          <p:nvPr/>
        </p:nvSpPr>
        <p:spPr>
          <a:xfrm>
            <a:off x="6245352" y="4133087"/>
            <a:ext cx="2450592" cy="594360"/>
          </a:xfrm>
          <a:prstGeom prst="rect">
            <a:avLst/>
          </a:prstGeom>
          <a:noFill/>
        </p:spPr>
        <p:txBody>
          <a:bodyPr wrap="square" lIns="0" rIns="0" tIns="0" bIns="0" anchor="t">
            <a:noAutofit/>
          </a:bodyPr>
          <a:lstStyle/>
          <a:p>
            <a:pPr algn="l">
              <a:lnSpc>
                <a:spcPct val="105000"/>
              </a:lnSpc>
              <a:spcAft>
                <a:spcPts val="0"/>
              </a:spcAft>
            </a:pPr>
            <a:r>
              <a:rPr sz="950" b="0">
                <a:solidFill>
                  <a:srgbClr val="3C4043"/>
                </a:solidFill>
                <a:latin typeface="Google Sans Flex"/>
              </a:rPr>
              <a:t>Bot protection stopped the agent on the first page. Reported as such, never as clean.</a:t>
            </a:r>
          </a:p>
        </p:txBody>
      </p:sp>
      <p:sp>
        <p:nvSpPr>
          <p:cNvPr id="250" name="Takeaway"/>
          <p:cNvSpPr txBox="1"/>
          <p:nvPr/>
        </p:nvSpPr>
        <p:spPr>
          <a:xfrm>
            <a:off x="320040" y="4815840"/>
            <a:ext cx="8549640" cy="247650"/>
          </a:xfrm>
          <a:prstGeom prst="rect">
            <a:avLst/>
          </a:prstGeom>
          <a:noFill/>
        </p:spPr>
        <p:txBody>
          <a:bodyPr wrap="square" lIns="0" rIns="0" tIns="0" bIns="0" anchor="t">
            <a:noAutofit/>
          </a:bodyPr>
          <a:lstStyle/>
          <a:p>
            <a:pPr algn="l">
              <a:lnSpc>
                <a:spcPct val="105000"/>
              </a:lnSpc>
              <a:spcAft>
                <a:spcPts val="0"/>
              </a:spcAft>
            </a:pPr>
            <a:r>
              <a:rPr sz="950" b="1">
                <a:solidFill>
                  <a:srgbClr val="111111"/>
                </a:solidFill>
                <a:latin typeface="Google Sans Flex"/>
              </a:rPr>
              <a:t>Never once wrongly called clean. Outside audits get blocked, so the audit belongs on the platform's side, before release.</a:t>
            </a: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